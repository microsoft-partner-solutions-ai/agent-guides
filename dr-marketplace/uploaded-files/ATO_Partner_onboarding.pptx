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7_B2A7F5DC.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7FFFF7BB_972C68E4.xml" ContentType="application/vnd.ms-powerpoint.comments+xml"/>
  <Override PartName="/ppt/tags/tag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57" r:id="rId5"/>
    <p:sldId id="260" r:id="rId6"/>
    <p:sldId id="261" r:id="rId7"/>
    <p:sldId id="270" r:id="rId8"/>
    <p:sldId id="277" r:id="rId9"/>
    <p:sldId id="258" r:id="rId10"/>
    <p:sldId id="279" r:id="rId11"/>
    <p:sldId id="271" r:id="rId12"/>
    <p:sldId id="272" r:id="rId13"/>
    <p:sldId id="273" r:id="rId14"/>
    <p:sldId id="274" r:id="rId15"/>
    <p:sldId id="2147481531" r:id="rId16"/>
    <p:sldId id="2147483579" r:id="rId17"/>
    <p:sldId id="25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17A1E9-DEA2-4A29-BA0F-931E5D71C6F1}">
          <p14:sldIdLst>
            <p14:sldId id="257"/>
          </p14:sldIdLst>
        </p14:section>
        <p14:section name="Program Overview" id="{41C0163B-2459-4FEA-B816-ACD936C93E50}">
          <p14:sldIdLst>
            <p14:sldId id="260"/>
            <p14:sldId id="261"/>
            <p14:sldId id="270"/>
            <p14:sldId id="277"/>
            <p14:sldId id="258"/>
          </p14:sldIdLst>
        </p14:section>
        <p14:section name="ATO Partner Pitch" id="{E1FA37E9-C9B4-4733-901D-0BDBBD4081E2}">
          <p14:sldIdLst>
            <p14:sldId id="279"/>
            <p14:sldId id="271"/>
            <p14:sldId id="272"/>
            <p14:sldId id="273"/>
            <p14:sldId id="274"/>
          </p14:sldIdLst>
        </p14:section>
        <p14:section name="ATO Delivery" id="{594AA383-5ACE-4BF9-A4DE-1628BEABE5FB}">
          <p14:sldIdLst>
            <p14:sldId id="2147481531"/>
            <p14:sldId id="2147483579"/>
          </p14:sldIdLst>
        </p14:section>
        <p14:section name="AI COE Tech Enablement" id="{CA15C83C-2E8A-4985-9909-C7D6F68FF167}">
          <p14:sldIdLst>
            <p14:sldId id="25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3CC00B-DEEC-C31D-676A-FE6DF716EC20}" name="Brian Moore (EPS)" initials="BM" userId="S::brimoore@microsoft.com::6b2400b3-5f2f-4950-bd7e-5cd063506691" providerId="AD"/>
  <p188:author id="{14525C0C-B59C-0EA9-8A73-F4DC8A754AE1}" name="Roman Russev" initials="RR" userId="S::romanr@microsoft.com::84c83325-bec4-4901-a03f-dd8f5e47bcee" providerId="AD"/>
  <p188:author id="{E04CBC23-D319-9A8F-B379-085CECF1B46B}" name="Edwin Huber" initials="EH" userId="S::edwinhub@microsoft.com::a857f27b-3b1a-4ae5-8e6c-ef12cc65d2cb" providerId="AD"/>
  <p188:author id="{8C60CA3D-F870-7AD2-578C-6D62A950B1B9}" name="Jason Virtue" initials="JV" userId="S::jvirtue@microsoft.com::263f7aa9-7553-4936-a78f-e2e88b93696c" providerId="AD"/>
  <p188:author id="{AE89E195-B6F7-532F-8415-53E78727BFBF}" name="Gunter Staes" initials="" userId="S::gstaes@microsoft.com::a7040519-77d3-4ebe-8fa7-572fe5f89362" providerId="AD"/>
  <p188:author id="{B7A5DA96-D8F9-87B3-16AC-1A693A51CAD9}" name="Melody Yin" initials="MY" userId="S::yinmelody@microsoft.com::7f8e141f-0974-47a4-bd88-defe874fd44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4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omments/modernComment_7FFFF7BB_972C68E4.xml><?xml version="1.0" encoding="utf-8"?>
<p188:cmLst xmlns:a="http://schemas.openxmlformats.org/drawingml/2006/main" xmlns:r="http://schemas.openxmlformats.org/officeDocument/2006/relationships" xmlns:p188="http://schemas.microsoft.com/office/powerpoint/2018/8/main">
  <p188:cm id="{FB294F38-F4B5-449A-90CA-381904084901}" authorId="{133CC00B-DEEC-C31D-676A-FE6DF716EC20}" created="2025-12-09T16:20:16.792">
    <ac:txMkLst xmlns:ac="http://schemas.microsoft.com/office/drawing/2013/main/command">
      <pc:docMk xmlns:pc="http://schemas.microsoft.com/office/powerpoint/2013/main/command"/>
      <pc:sldMk xmlns:pc="http://schemas.microsoft.com/office/powerpoint/2013/main/command" cId="2536270052" sldId="2147481531"/>
      <ac:spMk id="4" creationId="{189CB1FD-EB7C-2662-0144-D410DDC0A59D}"/>
      <ac:txMk cp="30" len="7">
        <ac:context len="38" hash="2882278911"/>
      </ac:txMk>
    </ac:txMkLst>
    <p188:pos x="9766699" y="296562"/>
    <p188:replyLst>
      <p188:reply id="{69B17E8C-BA1A-4804-8DC1-2663B1A34870}" authorId="{8C60CA3D-F870-7AD2-578C-6D62A950B1B9}" created="2025-12-09T16:25:57.579">
        <p188:txBody>
          <a:bodyPr/>
          <a:lstStyle/>
          <a:p>
            <a:r>
              <a:rPr lang="en-US"/>
              <a:t>The top level is the starting point before any of the modules in slide 5.  </a:t>
            </a:r>
          </a:p>
        </p188:txBody>
        <p188:extLst>
          <p:ext xmlns:p="http://schemas.openxmlformats.org/presentationml/2006/main" uri="{57CB4572-C831-44C2-8A1C-0ADB6CCDFE69}">
            <p223:reactions xmlns:p223="http://schemas.microsoft.com/office/powerpoint/2022/03/main">
              <p223:rxn type="👍">
                <p223:instance time="2025-12-09T18:33:05.087" authorId="{133CC00B-DEEC-C31D-676A-FE6DF716EC20}"/>
              </p223:rxn>
            </p223:reactions>
          </p:ext>
        </p188:extLst>
      </p188:reply>
      <p188:reply id="{B23E6995-330F-48FD-A1E4-D36CE1A5F776}" authorId="{8C60CA3D-F870-7AD2-578C-6D62A950B1B9}" created="2025-12-09T16:26:22.988">
        <p188:txBody>
          <a:bodyPr/>
          <a:lstStyle/>
          <a:p>
            <a:r>
              <a:rPr lang="en-US"/>
              <a:t>This is more a ATU discussion with partner once they select the best partner for the job.</a:t>
            </a:r>
          </a:p>
        </p188:txBody>
        <p188:extLst>
          <p:ext xmlns:p="http://schemas.openxmlformats.org/presentationml/2006/main" uri="{57CB4572-C831-44C2-8A1C-0ADB6CCDFE69}">
            <p223:reactions xmlns:p223="http://schemas.microsoft.com/office/powerpoint/2022/03/main">
              <p223:rxn type="👍">
                <p223:instance time="2025-12-09T18:33:08.905" authorId="{133CC00B-DEEC-C31D-676A-FE6DF716EC20}"/>
              </p223:rxn>
            </p223:reactions>
          </p:ext>
        </p188:extLst>
      </p188:reply>
      <p188:reply id="{D226963F-D150-4E06-959A-C2D7CD491992}" authorId="{8C60CA3D-F870-7AD2-578C-6D62A950B1B9}" created="2025-12-09T16:26:40.395">
        <p188:txBody>
          <a:bodyPr/>
          <a:lstStyle/>
          <a:p>
            <a:r>
              <a:rPr lang="en-US"/>
              <a:t>I'll fix the title</a:t>
            </a:r>
          </a:p>
        </p188:txBody>
        <p188:extLst>
          <p:ext xmlns:p="http://schemas.openxmlformats.org/presentationml/2006/main" uri="{57CB4572-C831-44C2-8A1C-0ADB6CCDFE69}">
            <p223:reactions xmlns:p223="http://schemas.microsoft.com/office/powerpoint/2022/03/main">
              <p223:rxn type="👍">
                <p223:instance time="2025-12-09T18:33:07.738" authorId="{133CC00B-DEEC-C31D-676A-FE6DF716EC20}"/>
              </p223:rxn>
            </p223:reactions>
          </p:ext>
        </p188:extLst>
      </p188:reply>
    </p188:replyLst>
    <p188:txBody>
      <a:bodyPr/>
      <a:lstStyle/>
      <a:p>
        <a:r>
          <a:rPr lang="en-US"/>
          <a:t>Is this after the AICOE (orange box on slide 5)?</a:t>
        </a:r>
      </a:p>
    </p188:txBody>
  </p188:cm>
</p188:cmLst>
</file>

<file path=ppt/comments/modernComment_117_B2A7F5DC.xml><?xml version="1.0" encoding="utf-8"?>
<p188:cmLst xmlns:a="http://schemas.openxmlformats.org/drawingml/2006/main" xmlns:r="http://schemas.openxmlformats.org/officeDocument/2006/relationships" xmlns:p188="http://schemas.microsoft.com/office/powerpoint/2018/8/main">
  <p188:cm id="{54D131F9-7FFF-4746-880C-9C6AB352B38B}" authorId="{14525C0C-B59C-0EA9-8A73-F4DC8A754AE1}" created="2025-10-31T08:37:05.432">
    <pc:sldMkLst xmlns:pc="http://schemas.microsoft.com/office/powerpoint/2013/main/command">
      <pc:docMk/>
      <pc:sldMk cId="703550219" sldId="259"/>
    </pc:sldMkLst>
    <p188:txBody>
      <a:bodyPr/>
      <a:lstStyle/>
      <a:p>
        <a:r>
          <a:rPr lang="en-US"/>
          <a:t>we can set production level AI as desired state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019492-EC6E-4D15-B105-60F116A91E2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276F278-A8EB-409F-A339-0569AF399506}">
      <dgm:prSet custT="1">
        <dgm:style>
          <a:lnRef idx="0">
            <a:scrgbClr r="0" g="0" b="0"/>
          </a:lnRef>
          <a:fillRef idx="0">
            <a:scrgbClr r="0" g="0" b="0"/>
          </a:fillRef>
          <a:effectRef idx="0">
            <a:scrgbClr r="0" g="0" b="0"/>
          </a:effectRef>
          <a:fontRef idx="minor">
            <a:schemeClr val="lt1"/>
          </a:fontRef>
        </dgm:style>
      </dgm:prSet>
      <dgm:spPr>
        <a:solidFill>
          <a:schemeClr val="accent1">
            <a:lumMod val="20000"/>
            <a:lumOff val="80000"/>
            <a:alpha val="50000"/>
          </a:schemeClr>
        </a:solidFill>
        <a:ln>
          <a:noFill/>
        </a:ln>
      </dgm:spPr>
      <dgm:t>
        <a:bodyPr rot="0" spcFirstLastPara="0" vertOverflow="overflow" horzOverflow="overflow" vert="horz" wrap="square" lIns="182880" tIns="146304" rIns="182880" bIns="146304" numCol="1" spcCol="0" rtlCol="0" fromWordArt="0" anchor="ctr" anchorCtr="0" forceAA="0" compatLnSpc="1">
          <a:prstTxWarp prst="textNoShape">
            <a:avLst/>
          </a:prstTxWarp>
        </a:bodyPr>
        <a:lstStyle/>
        <a:p>
          <a:r>
            <a:rPr kumimoji="0" lang="en-GB" sz="2000" b="0" i="0" u="none" strike="noStrike" kern="1200" cap="none" spc="0" normalizeH="0" baseline="0">
              <a:ln>
                <a:noFill/>
              </a:ln>
              <a:solidFill>
                <a:schemeClr val="tx1"/>
              </a:solidFill>
              <a:effectLst/>
              <a:uLnTx/>
              <a:uFillTx/>
              <a:latin typeface="+mj-lt"/>
              <a:ea typeface="Segoe UI" pitchFamily="34" charset="0"/>
              <a:cs typeface="Segoe UI"/>
            </a:rPr>
            <a:t>AI</a:t>
          </a:r>
          <a:r>
            <a:rPr lang="en-GB" sz="2300" kern="1200" baseline="0"/>
            <a:t> </a:t>
          </a:r>
          <a:r>
            <a:rPr lang="en-GB" sz="2300" kern="1200" baseline="0">
              <a:solidFill>
                <a:schemeClr val="tx1"/>
              </a:solidFill>
            </a:rPr>
            <a:t>adoption is accelerating :</a:t>
          </a:r>
          <a:endParaRPr lang="en-US" sz="2300" kern="1200">
            <a:solidFill>
              <a:schemeClr val="tx1"/>
            </a:solidFill>
          </a:endParaRPr>
        </a:p>
      </dgm:t>
    </dgm:pt>
    <dgm:pt modelId="{9DEA7535-662F-4228-8F43-55734F37F5D7}" type="parTrans" cxnId="{184AAFE7-2A49-436C-B720-3087FCAB571F}">
      <dgm:prSet/>
      <dgm:spPr/>
      <dgm:t>
        <a:bodyPr/>
        <a:lstStyle/>
        <a:p>
          <a:endParaRPr lang="en-US"/>
        </a:p>
      </dgm:t>
    </dgm:pt>
    <dgm:pt modelId="{052A83A3-199A-47D8-9753-F4BC0613D896}" type="sibTrans" cxnId="{184AAFE7-2A49-436C-B720-3087FCAB571F}">
      <dgm:prSet/>
      <dgm:spPr/>
      <dgm:t>
        <a:bodyPr/>
        <a:lstStyle/>
        <a:p>
          <a:endParaRPr lang="en-US"/>
        </a:p>
      </dgm:t>
    </dgm:pt>
    <dgm:pt modelId="{45D824B9-9514-406D-AC2F-B1E958B52A2C}">
      <dgm:prSet/>
      <dgm:spPr/>
      <dgm:t>
        <a:bodyPr/>
        <a:lstStyle/>
        <a:p>
          <a:pPr rtl="0"/>
          <a:r>
            <a:rPr lang="en-GB" baseline="0"/>
            <a:t>Enterprises need scalable, secure, and compliant solutions running in production.</a:t>
          </a:r>
          <a:r>
            <a:rPr lang="en-GB">
              <a:latin typeface="Segoe Sans Display Semibold"/>
            </a:rPr>
            <a:t>                                    </a:t>
          </a:r>
          <a:endParaRPr lang="en-US"/>
        </a:p>
      </dgm:t>
    </dgm:pt>
    <dgm:pt modelId="{22383DAE-E0AB-4269-BE12-5E8ADEB99859}" type="parTrans" cxnId="{8BBAE2A4-DEFE-4200-8B89-0DB038359601}">
      <dgm:prSet/>
      <dgm:spPr/>
      <dgm:t>
        <a:bodyPr/>
        <a:lstStyle/>
        <a:p>
          <a:endParaRPr lang="en-US"/>
        </a:p>
      </dgm:t>
    </dgm:pt>
    <dgm:pt modelId="{6B0A83BA-0855-4E9D-AD7E-2BABE662BD5F}" type="sibTrans" cxnId="{8BBAE2A4-DEFE-4200-8B89-0DB038359601}">
      <dgm:prSet/>
      <dgm:spPr/>
      <dgm:t>
        <a:bodyPr/>
        <a:lstStyle/>
        <a:p>
          <a:endParaRPr lang="en-US"/>
        </a:p>
      </dgm:t>
    </dgm:pt>
    <dgm:pt modelId="{2C626D49-44E9-4B64-BF3B-646117132E79}">
      <dgm:prSet custT="1">
        <dgm:style>
          <a:lnRef idx="0">
            <a:scrgbClr r="0" g="0" b="0"/>
          </a:lnRef>
          <a:fillRef idx="0">
            <a:scrgbClr r="0" g="0" b="0"/>
          </a:fillRef>
          <a:effectRef idx="0">
            <a:scrgbClr r="0" g="0" b="0"/>
          </a:effectRef>
          <a:fontRef idx="minor">
            <a:schemeClr val="lt1"/>
          </a:fontRef>
        </dgm:style>
      </dgm:prSet>
      <dgm:spPr>
        <a:solidFill>
          <a:schemeClr val="accent1">
            <a:lumMod val="20000"/>
            <a:lumOff val="80000"/>
            <a:alpha val="50000"/>
          </a:schemeClr>
        </a:solidFill>
        <a:ln>
          <a:noFill/>
        </a:ln>
      </dgm:spPr>
      <dgm:t>
        <a:bodyPr rot="0" spcFirstLastPara="0" vertOverflow="overflow" horzOverflow="overflow" vert="horz" wrap="square" lIns="182880" tIns="146304" rIns="182880" bIns="146304" numCol="1" spcCol="0" rtlCol="0" fromWordArt="0" anchor="ctr" anchorCtr="0" forceAA="0" compatLnSpc="1">
          <a:prstTxWarp prst="textNoShape">
            <a:avLst/>
          </a:prstTxWarp>
        </a:bodyPr>
        <a:lstStyle/>
        <a:p>
          <a:pPr marL="0" lvl="0" indent="0" algn="l" defTabSz="889000" rtl="0" eaLnBrk="1" fontAlgn="base" latinLnBrk="0" hangingPunct="1">
            <a:lnSpc>
              <a:spcPct val="90000"/>
            </a:lnSpc>
            <a:spcBef>
              <a:spcPct val="0"/>
            </a:spcBef>
            <a:spcAft>
              <a:spcPct val="35000"/>
            </a:spcAft>
            <a:buNone/>
            <a:defRPr/>
          </a:pPr>
          <a:r>
            <a:rPr kumimoji="0" lang="en-GB"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rPr>
            <a:t>Agentic systems are the next frontier:</a:t>
          </a:r>
          <a:endParaRPr kumimoji="0" lang="en-US"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endParaRPr>
        </a:p>
      </dgm:t>
    </dgm:pt>
    <dgm:pt modelId="{8FB80531-B732-4EB8-ACFF-1252A68CC97B}" type="parTrans" cxnId="{1FC84396-50E9-49F2-9C07-E633E8F994F0}">
      <dgm:prSet/>
      <dgm:spPr/>
      <dgm:t>
        <a:bodyPr/>
        <a:lstStyle/>
        <a:p>
          <a:endParaRPr lang="en-US"/>
        </a:p>
      </dgm:t>
    </dgm:pt>
    <dgm:pt modelId="{351BC15C-7877-4316-92F2-CF0B2198CFDE}" type="sibTrans" cxnId="{1FC84396-50E9-49F2-9C07-E633E8F994F0}">
      <dgm:prSet/>
      <dgm:spPr/>
      <dgm:t>
        <a:bodyPr/>
        <a:lstStyle/>
        <a:p>
          <a:endParaRPr lang="en-US"/>
        </a:p>
      </dgm:t>
    </dgm:pt>
    <dgm:pt modelId="{7FA9555D-60D7-4723-99D6-039E7A07E72D}">
      <dgm:prSet/>
      <dgm:spPr/>
      <dgm:t>
        <a:bodyPr/>
        <a:lstStyle/>
        <a:p>
          <a:pPr rtl="0"/>
          <a:r>
            <a:rPr lang="en-GB" baseline="0"/>
            <a:t>Moving beyond single models to orchestrated multi-agent workflows in production.</a:t>
          </a:r>
          <a:r>
            <a:rPr lang="en-GB">
              <a:latin typeface="Segoe Sans Display Semibold"/>
            </a:rPr>
            <a:t>          </a:t>
          </a:r>
          <a:endParaRPr lang="en-US"/>
        </a:p>
      </dgm:t>
    </dgm:pt>
    <dgm:pt modelId="{E6C5D60C-57AC-426F-9101-68E80FE1DBB1}" type="parTrans" cxnId="{CE720121-3AE8-40A7-B7D3-E890BD49547A}">
      <dgm:prSet/>
      <dgm:spPr/>
      <dgm:t>
        <a:bodyPr/>
        <a:lstStyle/>
        <a:p>
          <a:endParaRPr lang="en-US"/>
        </a:p>
      </dgm:t>
    </dgm:pt>
    <dgm:pt modelId="{DCC8CEA0-E4D4-4D88-8F8D-705327063CF3}" type="sibTrans" cxnId="{CE720121-3AE8-40A7-B7D3-E890BD49547A}">
      <dgm:prSet/>
      <dgm:spPr/>
      <dgm:t>
        <a:bodyPr/>
        <a:lstStyle/>
        <a:p>
          <a:endParaRPr lang="en-US"/>
        </a:p>
      </dgm:t>
    </dgm:pt>
    <dgm:pt modelId="{D03C0140-94C8-4A4C-9B24-56D7CA3B4D92}">
      <dgm:prSet custT="1">
        <dgm:style>
          <a:lnRef idx="0">
            <a:scrgbClr r="0" g="0" b="0"/>
          </a:lnRef>
          <a:fillRef idx="0">
            <a:scrgbClr r="0" g="0" b="0"/>
          </a:fillRef>
          <a:effectRef idx="0">
            <a:scrgbClr r="0" g="0" b="0"/>
          </a:effectRef>
          <a:fontRef idx="minor">
            <a:schemeClr val="lt1"/>
          </a:fontRef>
        </dgm:style>
      </dgm:prSet>
      <dgm:spPr>
        <a:solidFill>
          <a:schemeClr val="accent1">
            <a:lumMod val="20000"/>
            <a:lumOff val="80000"/>
            <a:alpha val="50000"/>
          </a:schemeClr>
        </a:solidFill>
        <a:ln>
          <a:noFill/>
        </a:ln>
      </dgm:spPr>
      <dgm:t>
        <a:bodyPr rot="0" spcFirstLastPara="0" vertOverflow="overflow" horzOverflow="overflow" vert="horz" wrap="square" lIns="182880" tIns="146304" rIns="182880" bIns="146304" numCol="1" spcCol="0" rtlCol="0" fromWordArt="0" anchor="ctr" anchorCtr="0" forceAA="0" compatLnSpc="1">
          <a:prstTxWarp prst="textNoShape">
            <a:avLst/>
          </a:prstTxWarp>
        </a:bodyPr>
        <a:lstStyle/>
        <a:p>
          <a:pPr marL="0" lvl="0" indent="0" algn="l" defTabSz="889000" rtl="0" eaLnBrk="1" fontAlgn="base" latinLnBrk="0" hangingPunct="1">
            <a:lnSpc>
              <a:spcPct val="90000"/>
            </a:lnSpc>
            <a:spcBef>
              <a:spcPct val="0"/>
            </a:spcBef>
            <a:spcAft>
              <a:spcPct val="35000"/>
            </a:spcAft>
            <a:buNone/>
            <a:defRPr/>
          </a:pPr>
          <a:r>
            <a:rPr kumimoji="0" lang="en-GB"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rPr>
            <a:t>Business impact:</a:t>
          </a:r>
          <a:endParaRPr kumimoji="0" lang="en-US"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endParaRPr>
        </a:p>
      </dgm:t>
    </dgm:pt>
    <dgm:pt modelId="{EC437B69-A89E-4B0C-9947-647709FD67E4}" type="parTrans" cxnId="{6D98F04F-4310-4F19-8F1A-2BBC43CFF514}">
      <dgm:prSet/>
      <dgm:spPr/>
      <dgm:t>
        <a:bodyPr/>
        <a:lstStyle/>
        <a:p>
          <a:endParaRPr lang="en-US"/>
        </a:p>
      </dgm:t>
    </dgm:pt>
    <dgm:pt modelId="{BE6D1B21-5667-464A-BA46-2C40F75676C3}" type="sibTrans" cxnId="{6D98F04F-4310-4F19-8F1A-2BBC43CFF514}">
      <dgm:prSet/>
      <dgm:spPr/>
      <dgm:t>
        <a:bodyPr/>
        <a:lstStyle/>
        <a:p>
          <a:endParaRPr lang="en-US"/>
        </a:p>
      </dgm:t>
    </dgm:pt>
    <dgm:pt modelId="{B2C116A5-F227-48FE-89DA-9AF95FE51EAD}">
      <dgm:prSet/>
      <dgm:spPr/>
      <dgm:t>
        <a:bodyPr/>
        <a:lstStyle/>
        <a:p>
          <a:r>
            <a:rPr lang="en-GB" baseline="0"/>
            <a:t>Faster time-to-value, improved efficiency, and measurable outcomes.</a:t>
          </a:r>
          <a:endParaRPr lang="en-US"/>
        </a:p>
      </dgm:t>
    </dgm:pt>
    <dgm:pt modelId="{73F0BBC9-03B3-441D-9698-A9977CAD0BC2}" type="parTrans" cxnId="{DE27DF40-94EF-44D6-93AA-C78CB8EDC87C}">
      <dgm:prSet/>
      <dgm:spPr/>
      <dgm:t>
        <a:bodyPr/>
        <a:lstStyle/>
        <a:p>
          <a:endParaRPr lang="en-US"/>
        </a:p>
      </dgm:t>
    </dgm:pt>
    <dgm:pt modelId="{20B02315-D8E1-4052-B2BA-C1FB75977168}" type="sibTrans" cxnId="{DE27DF40-94EF-44D6-93AA-C78CB8EDC87C}">
      <dgm:prSet/>
      <dgm:spPr/>
      <dgm:t>
        <a:bodyPr/>
        <a:lstStyle/>
        <a:p>
          <a:endParaRPr lang="en-US"/>
        </a:p>
      </dgm:t>
    </dgm:pt>
    <dgm:pt modelId="{D6708047-DBCE-4784-897B-4E64EC456353}" type="pres">
      <dgm:prSet presAssocID="{33019492-EC6E-4D15-B105-60F116A91E2C}" presName="linear" presStyleCnt="0">
        <dgm:presLayoutVars>
          <dgm:animLvl val="lvl"/>
          <dgm:resizeHandles val="exact"/>
        </dgm:presLayoutVars>
      </dgm:prSet>
      <dgm:spPr/>
    </dgm:pt>
    <dgm:pt modelId="{68AEC41B-BF24-486D-A163-BBC1C54A875E}" type="pres">
      <dgm:prSet presAssocID="{B276F278-A8EB-409F-A339-0569AF399506}" presName="parentText" presStyleLbl="node1" presStyleIdx="0" presStyleCnt="3">
        <dgm:presLayoutVars>
          <dgm:chMax val="0"/>
          <dgm:bulletEnabled val="1"/>
        </dgm:presLayoutVars>
      </dgm:prSet>
      <dgm:spPr>
        <a:xfrm>
          <a:off x="0" y="618397"/>
          <a:ext cx="5219700" cy="592020"/>
        </a:xfrm>
        <a:prstGeom prst="roundRect">
          <a:avLst/>
        </a:prstGeom>
      </dgm:spPr>
    </dgm:pt>
    <dgm:pt modelId="{F4069C79-5A74-42EF-A13D-271F2E29A785}" type="pres">
      <dgm:prSet presAssocID="{B276F278-A8EB-409F-A339-0569AF399506}" presName="childText" presStyleLbl="revTx" presStyleIdx="0" presStyleCnt="3">
        <dgm:presLayoutVars>
          <dgm:bulletEnabled val="1"/>
        </dgm:presLayoutVars>
      </dgm:prSet>
      <dgm:spPr/>
    </dgm:pt>
    <dgm:pt modelId="{0F238897-9D89-43F5-8061-93152076CB6C}" type="pres">
      <dgm:prSet presAssocID="{2C626D49-44E9-4B64-BF3B-646117132E79}" presName="parentText" presStyleLbl="node1" presStyleIdx="1" presStyleCnt="3">
        <dgm:presLayoutVars>
          <dgm:chMax val="0"/>
          <dgm:bulletEnabled val="1"/>
        </dgm:presLayoutVars>
      </dgm:prSet>
      <dgm:spPr>
        <a:xfrm>
          <a:off x="0" y="1756897"/>
          <a:ext cx="5219700" cy="713114"/>
        </a:xfrm>
        <a:prstGeom prst="roundRect">
          <a:avLst/>
        </a:prstGeom>
      </dgm:spPr>
    </dgm:pt>
    <dgm:pt modelId="{2AAC8101-901A-48AF-A78A-8E12B4A1409F}" type="pres">
      <dgm:prSet presAssocID="{2C626D49-44E9-4B64-BF3B-646117132E79}" presName="childText" presStyleLbl="revTx" presStyleIdx="1" presStyleCnt="3">
        <dgm:presLayoutVars>
          <dgm:bulletEnabled val="1"/>
        </dgm:presLayoutVars>
      </dgm:prSet>
      <dgm:spPr/>
    </dgm:pt>
    <dgm:pt modelId="{090C0C64-9E42-45CB-8837-371C8BC97EFE}" type="pres">
      <dgm:prSet presAssocID="{D03C0140-94C8-4A4C-9B24-56D7CA3B4D92}" presName="parentText" presStyleLbl="node1" presStyleIdx="2" presStyleCnt="3">
        <dgm:presLayoutVars>
          <dgm:chMax val="0"/>
          <dgm:bulletEnabled val="1"/>
        </dgm:presLayoutVars>
      </dgm:prSet>
      <dgm:spPr>
        <a:xfrm>
          <a:off x="0" y="3327949"/>
          <a:ext cx="5219700" cy="720720"/>
        </a:xfrm>
        <a:prstGeom prst="roundRect">
          <a:avLst/>
        </a:prstGeom>
      </dgm:spPr>
    </dgm:pt>
    <dgm:pt modelId="{3206E2BC-EF02-43D9-AA05-69CE4C79838D}" type="pres">
      <dgm:prSet presAssocID="{D03C0140-94C8-4A4C-9B24-56D7CA3B4D92}" presName="childText" presStyleLbl="revTx" presStyleIdx="2" presStyleCnt="3">
        <dgm:presLayoutVars>
          <dgm:bulletEnabled val="1"/>
        </dgm:presLayoutVars>
      </dgm:prSet>
      <dgm:spPr/>
    </dgm:pt>
  </dgm:ptLst>
  <dgm:cxnLst>
    <dgm:cxn modelId="{CE720121-3AE8-40A7-B7D3-E890BD49547A}" srcId="{2C626D49-44E9-4B64-BF3B-646117132E79}" destId="{7FA9555D-60D7-4723-99D6-039E7A07E72D}" srcOrd="0" destOrd="0" parTransId="{E6C5D60C-57AC-426F-9101-68E80FE1DBB1}" sibTransId="{DCC8CEA0-E4D4-4D88-8F8D-705327063CF3}"/>
    <dgm:cxn modelId="{DE27DF40-94EF-44D6-93AA-C78CB8EDC87C}" srcId="{D03C0140-94C8-4A4C-9B24-56D7CA3B4D92}" destId="{B2C116A5-F227-48FE-89DA-9AF95FE51EAD}" srcOrd="0" destOrd="0" parTransId="{73F0BBC9-03B3-441D-9698-A9977CAD0BC2}" sibTransId="{20B02315-D8E1-4052-B2BA-C1FB75977168}"/>
    <dgm:cxn modelId="{AD80C95B-906A-43ED-BEC1-A065CA1B0D5F}" type="presOf" srcId="{7FA9555D-60D7-4723-99D6-039E7A07E72D}" destId="{2AAC8101-901A-48AF-A78A-8E12B4A1409F}" srcOrd="0" destOrd="0" presId="urn:microsoft.com/office/officeart/2005/8/layout/vList2"/>
    <dgm:cxn modelId="{37B8E945-36A8-4627-9A39-70C69D4E404C}" type="presOf" srcId="{B276F278-A8EB-409F-A339-0569AF399506}" destId="{68AEC41B-BF24-486D-A163-BBC1C54A875E}" srcOrd="0" destOrd="0" presId="urn:microsoft.com/office/officeart/2005/8/layout/vList2"/>
    <dgm:cxn modelId="{038BD56D-B00A-4C0F-A0ED-71FF5E6835D5}" type="presOf" srcId="{B2C116A5-F227-48FE-89DA-9AF95FE51EAD}" destId="{3206E2BC-EF02-43D9-AA05-69CE4C79838D}" srcOrd="0" destOrd="0" presId="urn:microsoft.com/office/officeart/2005/8/layout/vList2"/>
    <dgm:cxn modelId="{6D98F04F-4310-4F19-8F1A-2BBC43CFF514}" srcId="{33019492-EC6E-4D15-B105-60F116A91E2C}" destId="{D03C0140-94C8-4A4C-9B24-56D7CA3B4D92}" srcOrd="2" destOrd="0" parTransId="{EC437B69-A89E-4B0C-9947-647709FD67E4}" sibTransId="{BE6D1B21-5667-464A-BA46-2C40F75676C3}"/>
    <dgm:cxn modelId="{ACC43C59-EAB1-4004-9D7E-733B317B971E}" type="presOf" srcId="{33019492-EC6E-4D15-B105-60F116A91E2C}" destId="{D6708047-DBCE-4784-897B-4E64EC456353}" srcOrd="0" destOrd="0" presId="urn:microsoft.com/office/officeart/2005/8/layout/vList2"/>
    <dgm:cxn modelId="{1FC84396-50E9-49F2-9C07-E633E8F994F0}" srcId="{33019492-EC6E-4D15-B105-60F116A91E2C}" destId="{2C626D49-44E9-4B64-BF3B-646117132E79}" srcOrd="1" destOrd="0" parTransId="{8FB80531-B732-4EB8-ACFF-1252A68CC97B}" sibTransId="{351BC15C-7877-4316-92F2-CF0B2198CFDE}"/>
    <dgm:cxn modelId="{8BBAE2A4-DEFE-4200-8B89-0DB038359601}" srcId="{B276F278-A8EB-409F-A339-0569AF399506}" destId="{45D824B9-9514-406D-AC2F-B1E958B52A2C}" srcOrd="0" destOrd="0" parTransId="{22383DAE-E0AB-4269-BE12-5E8ADEB99859}" sibTransId="{6B0A83BA-0855-4E9D-AD7E-2BABE662BD5F}"/>
    <dgm:cxn modelId="{CE80AACC-3CC0-4653-9E45-00B8B3FB0C85}" type="presOf" srcId="{2C626D49-44E9-4B64-BF3B-646117132E79}" destId="{0F238897-9D89-43F5-8061-93152076CB6C}" srcOrd="0" destOrd="0" presId="urn:microsoft.com/office/officeart/2005/8/layout/vList2"/>
    <dgm:cxn modelId="{06A440DE-8A8F-4660-BF8F-17F6526B3487}" type="presOf" srcId="{D03C0140-94C8-4A4C-9B24-56D7CA3B4D92}" destId="{090C0C64-9E42-45CB-8837-371C8BC97EFE}" srcOrd="0" destOrd="0" presId="urn:microsoft.com/office/officeart/2005/8/layout/vList2"/>
    <dgm:cxn modelId="{184AAFE7-2A49-436C-B720-3087FCAB571F}" srcId="{33019492-EC6E-4D15-B105-60F116A91E2C}" destId="{B276F278-A8EB-409F-A339-0569AF399506}" srcOrd="0" destOrd="0" parTransId="{9DEA7535-662F-4228-8F43-55734F37F5D7}" sibTransId="{052A83A3-199A-47D8-9753-F4BC0613D896}"/>
    <dgm:cxn modelId="{D08410F8-21EE-486D-ADED-A68BDD56394C}" type="presOf" srcId="{45D824B9-9514-406D-AC2F-B1E958B52A2C}" destId="{F4069C79-5A74-42EF-A13D-271F2E29A785}" srcOrd="0" destOrd="0" presId="urn:microsoft.com/office/officeart/2005/8/layout/vList2"/>
    <dgm:cxn modelId="{08EA5E08-E186-4DE7-9BBD-93BDFDFFE3D2}" type="presParOf" srcId="{D6708047-DBCE-4784-897B-4E64EC456353}" destId="{68AEC41B-BF24-486D-A163-BBC1C54A875E}" srcOrd="0" destOrd="0" presId="urn:microsoft.com/office/officeart/2005/8/layout/vList2"/>
    <dgm:cxn modelId="{153C7B12-BA29-46EA-9AE0-24F42125F007}" type="presParOf" srcId="{D6708047-DBCE-4784-897B-4E64EC456353}" destId="{F4069C79-5A74-42EF-A13D-271F2E29A785}" srcOrd="1" destOrd="0" presId="urn:microsoft.com/office/officeart/2005/8/layout/vList2"/>
    <dgm:cxn modelId="{EDC675AD-2511-42B1-9EE4-6129FBFB099E}" type="presParOf" srcId="{D6708047-DBCE-4784-897B-4E64EC456353}" destId="{0F238897-9D89-43F5-8061-93152076CB6C}" srcOrd="2" destOrd="0" presId="urn:microsoft.com/office/officeart/2005/8/layout/vList2"/>
    <dgm:cxn modelId="{30046FAF-708B-4AB4-A840-AF8DA6F40410}" type="presParOf" srcId="{D6708047-DBCE-4784-897B-4E64EC456353}" destId="{2AAC8101-901A-48AF-A78A-8E12B4A1409F}" srcOrd="3" destOrd="0" presId="urn:microsoft.com/office/officeart/2005/8/layout/vList2"/>
    <dgm:cxn modelId="{0A21F129-3084-4958-9F44-D9DA84D2F011}" type="presParOf" srcId="{D6708047-DBCE-4784-897B-4E64EC456353}" destId="{090C0C64-9E42-45CB-8837-371C8BC97EFE}" srcOrd="4" destOrd="0" presId="urn:microsoft.com/office/officeart/2005/8/layout/vList2"/>
    <dgm:cxn modelId="{8284AD7D-1885-4123-B6EB-27DFB046466C}" type="presParOf" srcId="{D6708047-DBCE-4784-897B-4E64EC456353}" destId="{3206E2BC-EF02-43D9-AA05-69CE4C79838D}" srcOrd="5"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EC41B-BF24-486D-A163-BBC1C54A875E}">
      <dsp:nvSpPr>
        <dsp:cNvPr id="0" name=""/>
        <dsp:cNvSpPr/>
      </dsp:nvSpPr>
      <dsp:spPr>
        <a:xfrm>
          <a:off x="0" y="127114"/>
          <a:ext cx="5510212" cy="737209"/>
        </a:xfrm>
        <a:prstGeom prst="roundRect">
          <a:avLst/>
        </a:prstGeom>
        <a:solidFill>
          <a:schemeClr val="accent1">
            <a:lumMod val="20000"/>
            <a:lumOff val="80000"/>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rot="0" spcFirstLastPara="0" vertOverflow="overflow" horzOverflow="overflow" vert="horz" wrap="square" lIns="182880" tIns="146304" rIns="182880" bIns="146304" numCol="1" spcCol="1270" rtlCol="0" fromWordArt="0" anchor="ctr" anchorCtr="0" forceAA="0" compatLnSpc="1">
          <a:prstTxWarp prst="textNoShape">
            <a:avLst/>
          </a:prstTxWarp>
          <a:noAutofit/>
        </a:bodyPr>
        <a:lstStyle/>
        <a:p>
          <a:pPr marL="0" lvl="0" indent="0" algn="l" defTabSz="889000">
            <a:lnSpc>
              <a:spcPct val="90000"/>
            </a:lnSpc>
            <a:spcBef>
              <a:spcPct val="0"/>
            </a:spcBef>
            <a:spcAft>
              <a:spcPct val="35000"/>
            </a:spcAft>
            <a:buNone/>
          </a:pPr>
          <a:r>
            <a:rPr kumimoji="0" lang="en-GB" sz="2000" b="0" i="0" u="none" strike="noStrike" kern="1200" cap="none" spc="0" normalizeH="0" baseline="0">
              <a:ln>
                <a:noFill/>
              </a:ln>
              <a:solidFill>
                <a:schemeClr val="tx1"/>
              </a:solidFill>
              <a:effectLst/>
              <a:uLnTx/>
              <a:uFillTx/>
              <a:latin typeface="+mj-lt"/>
              <a:ea typeface="Segoe UI" pitchFamily="34" charset="0"/>
              <a:cs typeface="Segoe UI"/>
            </a:rPr>
            <a:t>AI</a:t>
          </a:r>
          <a:r>
            <a:rPr lang="en-GB" sz="2300" kern="1200" baseline="0"/>
            <a:t> </a:t>
          </a:r>
          <a:r>
            <a:rPr lang="en-GB" sz="2300" kern="1200" baseline="0">
              <a:solidFill>
                <a:schemeClr val="tx1"/>
              </a:solidFill>
            </a:rPr>
            <a:t>adoption is accelerating :</a:t>
          </a:r>
          <a:endParaRPr lang="en-US" sz="2300" kern="1200">
            <a:solidFill>
              <a:schemeClr val="tx1"/>
            </a:solidFill>
          </a:endParaRPr>
        </a:p>
      </dsp:txBody>
      <dsp:txXfrm>
        <a:off x="35988" y="163102"/>
        <a:ext cx="5438236" cy="665233"/>
      </dsp:txXfrm>
    </dsp:sp>
    <dsp:sp modelId="{F4069C79-5A74-42EF-A13D-271F2E29A785}">
      <dsp:nvSpPr>
        <dsp:cNvPr id="0" name=""/>
        <dsp:cNvSpPr/>
      </dsp:nvSpPr>
      <dsp:spPr>
        <a:xfrm>
          <a:off x="0" y="864324"/>
          <a:ext cx="5510212" cy="686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49"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GB" sz="2000" kern="1200" baseline="0"/>
            <a:t>Enterprises need scalable, secure, and compliant solutions running in production.</a:t>
          </a:r>
          <a:r>
            <a:rPr lang="en-GB" sz="2000" kern="1200">
              <a:latin typeface="Segoe Sans Display Semibold"/>
            </a:rPr>
            <a:t>                                    </a:t>
          </a:r>
          <a:endParaRPr lang="en-US" sz="2000" kern="1200"/>
        </a:p>
      </dsp:txBody>
      <dsp:txXfrm>
        <a:off x="0" y="864324"/>
        <a:ext cx="5510212" cy="686205"/>
      </dsp:txXfrm>
    </dsp:sp>
    <dsp:sp modelId="{0F238897-9D89-43F5-8061-93152076CB6C}">
      <dsp:nvSpPr>
        <dsp:cNvPr id="0" name=""/>
        <dsp:cNvSpPr/>
      </dsp:nvSpPr>
      <dsp:spPr>
        <a:xfrm>
          <a:off x="0" y="1550529"/>
          <a:ext cx="5510212" cy="737209"/>
        </a:xfrm>
        <a:prstGeom prst="roundRect">
          <a:avLst/>
        </a:prstGeom>
        <a:solidFill>
          <a:schemeClr val="accent1">
            <a:lumMod val="20000"/>
            <a:lumOff val="80000"/>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rot="0" spcFirstLastPara="0" vertOverflow="overflow" horzOverflow="overflow" vert="horz" wrap="square" lIns="182880" tIns="146304" rIns="182880" bIns="146304" numCol="1" spcCol="1270" rtlCol="0" fromWordArt="0" anchor="ctr" anchorCtr="0" forceAA="0" compatLnSpc="1">
          <a:prstTxWarp prst="textNoShape">
            <a:avLst/>
          </a:prstTxWarp>
          <a:noAutofit/>
        </a:bodyPr>
        <a:lstStyle/>
        <a:p>
          <a:pPr marL="0" lvl="0" indent="0" algn="l" defTabSz="889000" rtl="0" eaLnBrk="1" fontAlgn="base" latinLnBrk="0" hangingPunct="1">
            <a:lnSpc>
              <a:spcPct val="90000"/>
            </a:lnSpc>
            <a:spcBef>
              <a:spcPct val="0"/>
            </a:spcBef>
            <a:spcAft>
              <a:spcPct val="35000"/>
            </a:spcAft>
            <a:buNone/>
            <a:defRPr/>
          </a:pPr>
          <a:r>
            <a:rPr kumimoji="0" lang="en-GB"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rPr>
            <a:t>Agentic systems are the next frontier:</a:t>
          </a:r>
          <a:endParaRPr kumimoji="0" lang="en-US"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endParaRPr>
        </a:p>
      </dsp:txBody>
      <dsp:txXfrm>
        <a:off x="35988" y="1586517"/>
        <a:ext cx="5438236" cy="665233"/>
      </dsp:txXfrm>
    </dsp:sp>
    <dsp:sp modelId="{2AAC8101-901A-48AF-A78A-8E12B4A1409F}">
      <dsp:nvSpPr>
        <dsp:cNvPr id="0" name=""/>
        <dsp:cNvSpPr/>
      </dsp:nvSpPr>
      <dsp:spPr>
        <a:xfrm>
          <a:off x="0" y="2287738"/>
          <a:ext cx="5510212"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49" tIns="33020" rIns="184912" bIns="33020" numCol="1" spcCol="1270" anchor="t" anchorCtr="0">
          <a:noAutofit/>
        </a:bodyPr>
        <a:lstStyle/>
        <a:p>
          <a:pPr marL="228600" lvl="1" indent="-228600" algn="l" defTabSz="889000" rtl="0">
            <a:lnSpc>
              <a:spcPct val="90000"/>
            </a:lnSpc>
            <a:spcBef>
              <a:spcPct val="0"/>
            </a:spcBef>
            <a:spcAft>
              <a:spcPct val="20000"/>
            </a:spcAft>
            <a:buChar char="•"/>
          </a:pPr>
          <a:r>
            <a:rPr lang="en-GB" sz="2000" kern="1200" baseline="0"/>
            <a:t>Moving beyond single models to orchestrated multi-agent workflows in production.</a:t>
          </a:r>
          <a:r>
            <a:rPr lang="en-GB" sz="2000" kern="1200">
              <a:latin typeface="Segoe Sans Display Semibold"/>
            </a:rPr>
            <a:t>          </a:t>
          </a:r>
          <a:endParaRPr lang="en-US" sz="2000" kern="1200"/>
        </a:p>
      </dsp:txBody>
      <dsp:txXfrm>
        <a:off x="0" y="2287738"/>
        <a:ext cx="5510212" cy="995670"/>
      </dsp:txXfrm>
    </dsp:sp>
    <dsp:sp modelId="{090C0C64-9E42-45CB-8837-371C8BC97EFE}">
      <dsp:nvSpPr>
        <dsp:cNvPr id="0" name=""/>
        <dsp:cNvSpPr/>
      </dsp:nvSpPr>
      <dsp:spPr>
        <a:xfrm>
          <a:off x="0" y="3283408"/>
          <a:ext cx="5510212" cy="737209"/>
        </a:xfrm>
        <a:prstGeom prst="roundRect">
          <a:avLst/>
        </a:prstGeom>
        <a:solidFill>
          <a:schemeClr val="accent1">
            <a:lumMod val="20000"/>
            <a:lumOff val="80000"/>
            <a:alpha val="50000"/>
          </a:schemeClr>
        </a:solidFill>
        <a:ln>
          <a:noFill/>
        </a:ln>
        <a:effectLst/>
      </dsp:spPr>
      <dsp:style>
        <a:lnRef idx="0">
          <a:scrgbClr r="0" g="0" b="0"/>
        </a:lnRef>
        <a:fillRef idx="0">
          <a:scrgbClr r="0" g="0" b="0"/>
        </a:fillRef>
        <a:effectRef idx="0">
          <a:scrgbClr r="0" g="0" b="0"/>
        </a:effectRef>
        <a:fontRef idx="minor">
          <a:schemeClr val="lt1"/>
        </a:fontRef>
      </dsp:style>
      <dsp:txBody>
        <a:bodyPr rot="0" spcFirstLastPara="0" vertOverflow="overflow" horzOverflow="overflow" vert="horz" wrap="square" lIns="182880" tIns="146304" rIns="182880" bIns="146304" numCol="1" spcCol="1270" rtlCol="0" fromWordArt="0" anchor="ctr" anchorCtr="0" forceAA="0" compatLnSpc="1">
          <a:prstTxWarp prst="textNoShape">
            <a:avLst/>
          </a:prstTxWarp>
          <a:noAutofit/>
        </a:bodyPr>
        <a:lstStyle/>
        <a:p>
          <a:pPr marL="0" lvl="0" indent="0" algn="l" defTabSz="889000" rtl="0" eaLnBrk="1" fontAlgn="base" latinLnBrk="0" hangingPunct="1">
            <a:lnSpc>
              <a:spcPct val="90000"/>
            </a:lnSpc>
            <a:spcBef>
              <a:spcPct val="0"/>
            </a:spcBef>
            <a:spcAft>
              <a:spcPct val="35000"/>
            </a:spcAft>
            <a:buNone/>
            <a:defRPr/>
          </a:pPr>
          <a:r>
            <a:rPr kumimoji="0" lang="en-GB"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rPr>
            <a:t>Business impact:</a:t>
          </a:r>
          <a:endParaRPr kumimoji="0" lang="en-US" sz="2400" b="0" i="0" u="none" strike="noStrike" kern="1200" cap="none" spc="0" normalizeH="0" baseline="0">
            <a:ln>
              <a:noFill/>
            </a:ln>
            <a:solidFill>
              <a:srgbClr val="091F2C"/>
            </a:solidFill>
            <a:effectLst/>
            <a:uLnTx/>
            <a:uFillTx/>
            <a:latin typeface="Segoe Sans Display" pitchFamily="2" charset="0"/>
            <a:ea typeface="Segoe UI" pitchFamily="34" charset="0"/>
            <a:cs typeface="Segoe Sans Display" pitchFamily="2" charset="0"/>
          </a:endParaRPr>
        </a:p>
      </dsp:txBody>
      <dsp:txXfrm>
        <a:off x="35988" y="3319396"/>
        <a:ext cx="5438236" cy="665233"/>
      </dsp:txXfrm>
    </dsp:sp>
    <dsp:sp modelId="{3206E2BC-EF02-43D9-AA05-69CE4C79838D}">
      <dsp:nvSpPr>
        <dsp:cNvPr id="0" name=""/>
        <dsp:cNvSpPr/>
      </dsp:nvSpPr>
      <dsp:spPr>
        <a:xfrm>
          <a:off x="0" y="4020618"/>
          <a:ext cx="5510212" cy="686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949"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kern="1200" baseline="0"/>
            <a:t>Faster time-to-value, improved efficiency, and measurable outcomes.</a:t>
          </a:r>
          <a:endParaRPr lang="en-US" sz="2000" kern="1200"/>
        </a:p>
      </dsp:txBody>
      <dsp:txXfrm>
        <a:off x="0" y="4020618"/>
        <a:ext cx="5510212" cy="68620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89D17B-AEA8-4320-8258-86811179FF8C}" type="datetimeFigureOut">
              <a:rPr lang="en-US" smtClean="0"/>
              <a:t>2/27/2026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DBB83-F612-4FF2-9609-A900BC881A2E}" type="slidenum">
              <a:rPr lang="en-US" smtClean="0"/>
              <a:t>‹#›</a:t>
            </a:fld>
            <a:endParaRPr lang="en-US"/>
          </a:p>
        </p:txBody>
      </p:sp>
    </p:spTree>
    <p:extLst>
      <p:ext uri="{BB962C8B-B14F-4D97-AF65-F5344CB8AC3E}">
        <p14:creationId xmlns:p14="http://schemas.microsoft.com/office/powerpoint/2010/main" val="356112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a:t>
            </a:r>
            <a:r>
              <a:rPr lang="en-US"/>
              <a:t> Set the stage for the presentation by introducing the initiative and its goal—driving AI success for customers.</a:t>
            </a:r>
            <a:br>
              <a:rPr lang="en-US"/>
            </a:br>
            <a:r>
              <a:rPr lang="en-US" b="1"/>
              <a:t>Time:</a:t>
            </a:r>
            <a:r>
              <a:rPr lang="en-US"/>
              <a:t> 1 minute</a:t>
            </a:r>
            <a:br>
              <a:rPr lang="en-US"/>
            </a:br>
            <a:r>
              <a:rPr lang="en-US" b="1"/>
              <a:t>Say:</a:t>
            </a:r>
            <a:br>
              <a:rPr lang="en-US"/>
            </a:br>
            <a:r>
              <a:rPr lang="en-US"/>
              <a:t>“Welcome, everyone. Today, we’re excited to share our AI Transformation Initiative, focused on driving AI success for our customers. This program is designed to help partners accelerate their journey and deliver impactful AI solutions.”</a:t>
            </a:r>
          </a:p>
        </p:txBody>
      </p:sp>
      <p:sp>
        <p:nvSpPr>
          <p:cNvPr id="4" name="Slide Number Placeholder 3"/>
          <p:cNvSpPr>
            <a:spLocks noGrp="1"/>
          </p:cNvSpPr>
          <p:nvPr>
            <p:ph type="sldNum" sz="quarter" idx="5"/>
          </p:nvPr>
        </p:nvSpPr>
        <p:spPr/>
        <p:txBody>
          <a:bodyPr/>
          <a:lstStyle/>
          <a:p>
            <a:fld id="{9D3DBB83-F612-4FF2-9609-A900BC881A2E}" type="slidenum">
              <a:rPr lang="en-US" smtClean="0"/>
              <a:t>1</a:t>
            </a:fld>
            <a:endParaRPr lang="en-US"/>
          </a:p>
        </p:txBody>
      </p:sp>
    </p:spTree>
    <p:extLst>
      <p:ext uri="{BB962C8B-B14F-4D97-AF65-F5344CB8AC3E}">
        <p14:creationId xmlns:p14="http://schemas.microsoft.com/office/powerpoint/2010/main" val="1712182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0CD74-6B7A-4027-87FD-564A51ACAA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0255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0CD74-6B7A-4027-87FD-564A51ACAA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12051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5897C-EB10-1133-3386-9AC655919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22088-4CCF-1416-57EA-2EB289865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E0E31-5BEB-B3A8-AF91-54922E71C64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3A9FAB-CD66-B918-16D1-0DDB1098EA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0CD74-6B7A-4027-87FD-564A51ACAA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6225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CBA2-9F10-0864-B968-54DB5E224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478FC-7C8B-D6EE-BA0F-602BE9DDD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D31E5-AF83-9507-D096-B4005CC2E8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95D98A-72AF-328C-E2A1-2F3C0C42EE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0CD74-6B7A-4027-87FD-564A51ACAA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4674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Do:</a:t>
            </a:r>
            <a:r>
              <a:rPr lang="en-US"/>
              <a:t> Present the market drivers for AI transformation, emphasizing urgency and business impact.</a:t>
            </a:r>
            <a:br>
              <a:rPr lang="en-US"/>
            </a:br>
            <a:r>
              <a:rPr lang="en-US" b="1"/>
              <a:t>Time:</a:t>
            </a:r>
            <a:r>
              <a:rPr lang="en-US"/>
              <a:t> 2 minutes</a:t>
            </a:r>
            <a:br>
              <a:rPr lang="en-US"/>
            </a:br>
            <a:r>
              <a:rPr lang="en-US" b="1"/>
              <a:t>Say:</a:t>
            </a:r>
            <a:br>
              <a:rPr lang="en-US"/>
            </a:br>
            <a:r>
              <a:rPr lang="en-US"/>
              <a:t>AI adoption is accelerating, and enterprises need scalable, secure, and compliant solutions.</a:t>
            </a:r>
          </a:p>
          <a:p>
            <a:r>
              <a:rPr lang="en-US"/>
              <a:t>The next frontier is agentic systems, moving beyond single models to orchestrated multi-agent workflows.</a:t>
            </a:r>
          </a:p>
          <a:p>
            <a:r>
              <a:rPr lang="en-US"/>
              <a:t>This shift delivers faster time-to-value, improved efficiency, and measurable outcomes.</a:t>
            </a:r>
          </a:p>
          <a:p>
            <a:r>
              <a:rPr lang="en-US"/>
              <a:t>That’s why we’re investing in this initiative.</a:t>
            </a:r>
            <a:endParaRPr lang="en-D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3DBB83-F612-4FF2-9609-A900BC881A2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1114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Most of the major world enterprises have made investments… significant investments…. In AI. And most will have a data science capability that will drive that investment and on-going use cases. Most of these data science organizations are heavily focused on scaling the technology to maximize value from the investment in AI.</a:t>
            </a: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C845C4-547A-4CE3-904B-EBF990D0A2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8471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a:t>Do</a:t>
            </a:r>
            <a:r>
              <a:rPr lang="en-US"/>
              <a:t>: Explain and show the value to business stakeholders in the partner organizations.</a:t>
            </a:r>
          </a:p>
          <a:p>
            <a:pPr>
              <a:buNone/>
            </a:pPr>
            <a:r>
              <a:rPr lang="en-US" b="1"/>
              <a:t>Time</a:t>
            </a:r>
            <a:r>
              <a:rPr lang="en-US"/>
              <a:t>:</a:t>
            </a:r>
          </a:p>
          <a:p>
            <a:pPr>
              <a:buNone/>
            </a:pPr>
            <a:r>
              <a:rPr lang="en-US" b="1"/>
              <a:t>Say</a:t>
            </a:r>
            <a:r>
              <a:rPr lang="en-US"/>
              <a:t>:</a:t>
            </a:r>
          </a:p>
          <a:p>
            <a:pPr>
              <a:buNone/>
            </a:pPr>
            <a:r>
              <a:rPr lang="en-US"/>
              <a:t>This slide captures valuable insights from various executive roles within our organization, reflecting the diverse perspectives on AI and its implementation. The CEO emphasizes the importance of AI investments as a strategic advantage that should permeate the entire company. The CIO points out the significant challenges in scaling AI solutions and the necessity to eliminate redundant tasks that hinder efficiency. Meanwhile, the Line of Business Manager advocates for immediate problem-solving, suggesting that teams should not wait for IT to address issues. Lastly, the Chief Innovation Officer highlights the critical need for a structured process that ensures ideas can be reliably transformed into production-ready solutions. These insights collectively underscore the urgency and complexity of integrating AI into our operations. </a:t>
            </a:r>
            <a:br>
              <a:rPr lang="en-US"/>
            </a:br>
            <a:r>
              <a:rPr lang="en-US"/>
              <a:t>______</a:t>
            </a:r>
          </a:p>
          <a:p>
            <a:pPr>
              <a:buNone/>
            </a:pPr>
            <a:endParaRPr lang="en-US"/>
          </a:p>
        </p:txBody>
      </p:sp>
      <p:sp>
        <p:nvSpPr>
          <p:cNvPr id="4" name="Slide Number Placeholder 3"/>
          <p:cNvSpPr>
            <a:spLocks noGrp="1"/>
          </p:cNvSpPr>
          <p:nvPr>
            <p:ph type="sldNum" sz="quarter" idx="5"/>
          </p:nvPr>
        </p:nvSpPr>
        <p:spPr/>
        <p:txBody>
          <a:bodyPr/>
          <a:lstStyle/>
          <a:p>
            <a:fld id="{2F06F99D-8296-4AB9-9DBD-1607F04B1DFD}" type="slidenum">
              <a:rPr lang="en-CH" smtClean="0"/>
              <a:t>9</a:t>
            </a:fld>
            <a:endParaRPr lang="en-CH"/>
          </a:p>
        </p:txBody>
      </p:sp>
    </p:spTree>
    <p:extLst>
      <p:ext uri="{BB962C8B-B14F-4D97-AF65-F5344CB8AC3E}">
        <p14:creationId xmlns:p14="http://schemas.microsoft.com/office/powerpoint/2010/main" val="260858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landscape reveals a stark contrast between organizations that are effectively leveraging AI and those that are not. AI leaders are reaping substantial rewards, including a remarkable 1.5 times increase in revenue and a 1.4 times higher return on invested capital. They are also significantly more likely to achieve notable EBIT gains and can reach high productivity levels in just 12 weeks. In contrast, the majority of enterprises are lagging, with only 28% having successfully deployed AI at scale. Alarmingly, 31% of AI initiatives remain stuck in the proof of concept phase, and a mere 10% are realizing meaningful EBITDA improvements. Additionally, many organizations face delays of over 12 months before they see any tangible value from their AI investments. These insights, drawn from reputable sources like McKinsey and Gartner, underscore the urgency for enterprises to accelerate their AI adoption strategies. </a:t>
            </a:r>
            <a:br>
              <a:rPr lang="en-US"/>
            </a:br>
            <a:endParaRPr lang="en-US"/>
          </a:p>
        </p:txBody>
      </p:sp>
      <p:sp>
        <p:nvSpPr>
          <p:cNvPr id="4" name="Slide Number Placeholder 3"/>
          <p:cNvSpPr>
            <a:spLocks noGrp="1"/>
          </p:cNvSpPr>
          <p:nvPr>
            <p:ph type="sldNum" sz="quarter" idx="5"/>
          </p:nvPr>
        </p:nvSpPr>
        <p:spPr/>
        <p:txBody>
          <a:bodyPr/>
          <a:lstStyle/>
          <a:p>
            <a:fld id="{2F06F99D-8296-4AB9-9DBD-1607F04B1DFD}" type="slidenum">
              <a:rPr lang="en-CH" smtClean="0"/>
              <a:t>10</a:t>
            </a:fld>
            <a:endParaRPr lang="en-CH"/>
          </a:p>
        </p:txBody>
      </p:sp>
    </p:spTree>
    <p:extLst>
      <p:ext uri="{BB962C8B-B14F-4D97-AF65-F5344CB8AC3E}">
        <p14:creationId xmlns:p14="http://schemas.microsoft.com/office/powerpoint/2010/main" val="3926131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E8A3-B35F-80E4-B22D-6DDBF41D8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D64544-30ED-C330-EF21-5FEB77738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1BA72-8AFF-242D-8F3D-0109CDB273C0}"/>
              </a:ext>
            </a:extLst>
          </p:cNvPr>
          <p:cNvSpPr>
            <a:spLocks noGrp="1"/>
          </p:cNvSpPr>
          <p:nvPr>
            <p:ph type="body" idx="1"/>
          </p:nvPr>
        </p:nvSpPr>
        <p:spPr/>
        <p:txBody>
          <a:bodyPr/>
          <a:lstStyle/>
          <a:p>
            <a:r>
              <a:rPr lang="en-US"/>
              <a:t>A significant opportunity exists for enterprises to bridge the AI value gap. The slide outlines essential strategies such as the rapid delivery of production-grade AI applications and the establishment of AI Application Factories. By embedding AI into business operations, organizations can ensure that their initiatives are aligned with key performance indicators and governance structures. The five areas for improvement are crucial: accelerating AI app delivery, unifying strategy and governance, creating scalable foundations, fostering workforce adoption, and aligning business KPIs with AI efforts. Each of these areas is supported by insights from reputable sources like McKinsey and Gartner, emphasizing the importance of a structured approach to AI integration. </a:t>
            </a:r>
          </a:p>
        </p:txBody>
      </p:sp>
      <p:sp>
        <p:nvSpPr>
          <p:cNvPr id="4" name="Slide Number Placeholder 3">
            <a:extLst>
              <a:ext uri="{FF2B5EF4-FFF2-40B4-BE49-F238E27FC236}">
                <a16:creationId xmlns:a16="http://schemas.microsoft.com/office/drawing/2014/main" id="{3F4325A3-4446-809E-3E91-4ADB9BBFE573}"/>
              </a:ext>
            </a:extLst>
          </p:cNvPr>
          <p:cNvSpPr>
            <a:spLocks noGrp="1"/>
          </p:cNvSpPr>
          <p:nvPr>
            <p:ph type="sldNum" sz="quarter" idx="5"/>
          </p:nvPr>
        </p:nvSpPr>
        <p:spPr/>
        <p:txBody>
          <a:bodyPr/>
          <a:lstStyle/>
          <a:p>
            <a:fld id="{2F06F99D-8296-4AB9-9DBD-1607F04B1DFD}" type="slidenum">
              <a:rPr lang="en-CH" smtClean="0"/>
              <a:t>11</a:t>
            </a:fld>
            <a:endParaRPr lang="en-CH"/>
          </a:p>
        </p:txBody>
      </p:sp>
    </p:spTree>
    <p:extLst>
      <p:ext uri="{BB962C8B-B14F-4D97-AF65-F5344CB8AC3E}">
        <p14:creationId xmlns:p14="http://schemas.microsoft.com/office/powerpoint/2010/main" val="1249203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A32F-C724-B569-D1BD-3E891E764E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C2EB2-E2EC-7DB5-C7DD-0DCB598BB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AE9EE-5DBC-C1BA-2A80-9B700C94FE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1ECDD8-3A95-D37E-1833-629FCCD8C0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80CD74-6B7A-4027-87FD-564A51ACAA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0895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2A47EB-BFC1-4354-BF05-AED29E9F662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930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AE0C-515C-DF0B-CFA4-96FAB47F1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D0518-5F1A-5D21-54F9-614FC1E15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EE066-A589-CCDB-1DD3-8FFD9C0F85DA}"/>
              </a:ext>
            </a:extLst>
          </p:cNvPr>
          <p:cNvSpPr>
            <a:spLocks noGrp="1"/>
          </p:cNvSpPr>
          <p:nvPr>
            <p:ph type="body" idx="1"/>
          </p:nvPr>
        </p:nvSpPr>
        <p:spPr/>
        <p:txBody>
          <a:bodyPr/>
          <a:lstStyle/>
          <a:p>
            <a:r>
              <a:rPr lang="en-US" b="1"/>
              <a:t>Do:</a:t>
            </a:r>
            <a:r>
              <a:rPr lang="en-US"/>
              <a:t> Reinforce the initiative’s principles, scalability, and collaborative approach.</a:t>
            </a:r>
            <a:br>
              <a:rPr lang="en-US"/>
            </a:br>
            <a:r>
              <a:rPr lang="en-US" b="1"/>
              <a:t>Time:</a:t>
            </a:r>
            <a:r>
              <a:rPr lang="en-US"/>
              <a:t> 1 minute</a:t>
            </a:r>
            <a:br>
              <a:rPr lang="en-US"/>
            </a:br>
            <a:r>
              <a:rPr lang="en-US" b="1"/>
              <a:t>Say:</a:t>
            </a:r>
            <a:br>
              <a:rPr lang="en-US"/>
            </a:br>
            <a:r>
              <a:rPr lang="en-US"/>
              <a:t>Let’s reinforce our approach: programmatic, scalable, and technically mature. </a:t>
            </a:r>
          </a:p>
          <a:p>
            <a:r>
              <a:rPr lang="en-US"/>
              <a:t>We’re aligned across solutions and organizations, providing quick-to-adopt materials and enabling rapid deployments.</a:t>
            </a:r>
          </a:p>
          <a:p>
            <a:r>
              <a:rPr lang="en-US"/>
              <a:t>Our aim is to secure our partner’s and Microsoft’s position as trusted advisors and identify hidden opportunities for production-level AI.</a:t>
            </a:r>
            <a:endParaRPr lang="fr-CA"/>
          </a:p>
        </p:txBody>
      </p:sp>
      <p:sp>
        <p:nvSpPr>
          <p:cNvPr id="4" name="Slide Number Placeholder 3">
            <a:extLst>
              <a:ext uri="{FF2B5EF4-FFF2-40B4-BE49-F238E27FC236}">
                <a16:creationId xmlns:a16="http://schemas.microsoft.com/office/drawing/2014/main" id="{2B9337B7-1572-5F59-8303-AF72409C24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E47087-FA8F-46CB-933C-AA01197DB29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57665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Master" Target="../slideMasters/slideMaster1.xml"/><Relationship Id="rId4" Type="http://schemas.microsoft.com/office/2007/relationships/hdphoto" Target="../media/hdphoto3.wdp"/></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Master" Target="../slideMasters/slideMaster1.xml"/><Relationship Id="rId4" Type="http://schemas.microsoft.com/office/2007/relationships/hdphoto" Target="../media/hdphoto3.wdp"/></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EF8F4"/>
        </a:solidFill>
        <a:effectLst/>
      </p:bgPr>
    </p:bg>
    <p:spTree>
      <p:nvGrpSpPr>
        <p:cNvPr id="1" name=""/>
        <p:cNvGrpSpPr/>
        <p:nvPr/>
      </p:nvGrpSpPr>
      <p:grpSpPr>
        <a:xfrm>
          <a:off x="0" y="0"/>
          <a:ext cx="0" cy="0"/>
          <a:chOff x="0" y="0"/>
          <a:chExt cx="0" cy="0"/>
        </a:xfrm>
      </p:grpSpPr>
      <p:pic>
        <p:nvPicPr>
          <p:cNvPr id="8" name="Picture 7" descr="A close up of a colorful swirl&#10;&#10;Description automatically generated">
            <a:extLst>
              <a:ext uri="{FF2B5EF4-FFF2-40B4-BE49-F238E27FC236}">
                <a16:creationId xmlns:a16="http://schemas.microsoft.com/office/drawing/2014/main" id="{D4CCECBA-0712-2C59-0038-30A36EF55916}"/>
              </a:ext>
            </a:extLst>
          </p:cNvPr>
          <p:cNvPicPr>
            <a:picLocks noChangeAspect="1"/>
          </p:cNvPicPr>
          <p:nvPr userDrawn="1"/>
        </p:nvPicPr>
        <p:blipFill>
          <a:blip r:embed="rId2" cstate="email">
            <a:extLst>
              <a:ext uri="{28A0092B-C50C-407E-A947-70E740481C1C}">
                <a14:useLocalDpi xmlns:a14="http://schemas.microsoft.com/office/drawing/2010/main"/>
              </a:ext>
            </a:extLst>
          </a:blip>
          <a:srcRect l="-7298"/>
          <a:stretch/>
        </p:blipFill>
        <p:spPr>
          <a:xfrm>
            <a:off x="0" y="-3432"/>
            <a:ext cx="12185903" cy="6861431"/>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8100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4025008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accent2">
                    <a:lumMod val="40000"/>
                    <a:lumOff val="60000"/>
                  </a:schemeClr>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bg1"/>
                </a:solidFill>
                <a:latin typeface="+mn-lt"/>
                <a:cs typeface="Segoe Sans Display" pitchFamily="2"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EAA4B210-A469-AC68-4C5E-6906D024EED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63612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1163008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20">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8820675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1675052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0895744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15218127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1546620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1705324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1225189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158585703"/>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81033718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9476802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33483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solidFill>
                  <a:schemeClr val="bg1"/>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744418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05358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F6F1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3" name="Picture 2" descr="A close up of a ribbon&#10;&#10;Description automatically generated">
            <a:extLst>
              <a:ext uri="{FF2B5EF4-FFF2-40B4-BE49-F238E27FC236}">
                <a16:creationId xmlns:a16="http://schemas.microsoft.com/office/drawing/2014/main" id="{067BABF0-93C8-0FB8-CA07-E59D8E35CFCF}"/>
              </a:ext>
            </a:extLst>
          </p:cNvPr>
          <p:cNvPicPr>
            <a:picLocks noChangeAspect="1"/>
          </p:cNvPicPr>
          <p:nvPr userDrawn="1"/>
        </p:nvPicPr>
        <p:blipFill>
          <a:blip r:embed="rId2" cstate="email">
            <a:alphaModFix amt="93000"/>
            <a:extLst>
              <a:ext uri="{28A0092B-C50C-407E-A947-70E740481C1C}">
                <a14:useLocalDpi xmlns:a14="http://schemas.microsoft.com/office/drawing/2010/main"/>
              </a:ext>
            </a:extLst>
          </a:blip>
          <a:srcRect/>
          <a:stretch/>
        </p:blipFill>
        <p:spPr>
          <a:xfrm>
            <a:off x="0" y="4105895"/>
            <a:ext cx="12192000" cy="2745290"/>
          </a:xfrm>
          <a:prstGeom prst="rect">
            <a:avLst/>
          </a:prstGeom>
        </p:spPr>
      </p:pic>
    </p:spTree>
    <p:extLst>
      <p:ext uri="{BB962C8B-B14F-4D97-AF65-F5344CB8AC3E}">
        <p14:creationId xmlns:p14="http://schemas.microsoft.com/office/powerpoint/2010/main" val="41425613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1">
    <p:bg>
      <p:bgPr>
        <a:solidFill>
          <a:srgbClr val="F6F1ED"/>
        </a:solidFill>
        <a:effectLst/>
      </p:bgPr>
    </p:bg>
    <p:spTree>
      <p:nvGrpSpPr>
        <p:cNvPr id="1" name=""/>
        <p:cNvGrpSpPr/>
        <p:nvPr/>
      </p:nvGrpSpPr>
      <p:grpSpPr>
        <a:xfrm>
          <a:off x="0" y="0"/>
          <a:ext cx="0" cy="0"/>
          <a:chOff x="0" y="0"/>
          <a:chExt cx="0" cy="0"/>
        </a:xfrm>
      </p:grpSpPr>
      <p:pic>
        <p:nvPicPr>
          <p:cNvPr id="3" name="Picture 2" descr="A close up of a ribbon&#10;&#10;Description automatically generated">
            <a:extLst>
              <a:ext uri="{FF2B5EF4-FFF2-40B4-BE49-F238E27FC236}">
                <a16:creationId xmlns:a16="http://schemas.microsoft.com/office/drawing/2014/main" id="{067BABF0-93C8-0FB8-CA07-E59D8E35CFCF}"/>
              </a:ext>
            </a:extLst>
          </p:cNvPr>
          <p:cNvPicPr>
            <a:picLocks noChangeAspect="1"/>
          </p:cNvPicPr>
          <p:nvPr userDrawn="1"/>
        </p:nvPicPr>
        <p:blipFill>
          <a:blip r:embed="rId2" cstate="email">
            <a:alphaModFix amt="93000"/>
            <a:extLst>
              <a:ext uri="{28A0092B-C50C-407E-A947-70E740481C1C}">
                <a14:useLocalDpi xmlns:a14="http://schemas.microsoft.com/office/drawing/2010/main"/>
              </a:ext>
            </a:extLst>
          </a:blip>
          <a:srcRect/>
          <a:stretch/>
        </p:blipFill>
        <p:spPr>
          <a:xfrm>
            <a:off x="0" y="4105895"/>
            <a:ext cx="12192000" cy="2745290"/>
          </a:xfrm>
          <a:prstGeom prst="rect">
            <a:avLst/>
          </a:prstGeom>
        </p:spPr>
      </p:pic>
    </p:spTree>
    <p:extLst>
      <p:ext uri="{BB962C8B-B14F-4D97-AF65-F5344CB8AC3E}">
        <p14:creationId xmlns:p14="http://schemas.microsoft.com/office/powerpoint/2010/main" val="1992432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6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36" name="Picture 35" descr="A close up of a glass&#10;&#10;Description automatically generated">
            <a:extLst>
              <a:ext uri="{FF2B5EF4-FFF2-40B4-BE49-F238E27FC236}">
                <a16:creationId xmlns:a16="http://schemas.microsoft.com/office/drawing/2014/main" id="{ECD91DE9-7B53-55CB-453E-D1BEFF929FC7}"/>
              </a:ext>
            </a:extLst>
          </p:cNvPr>
          <p:cNvPicPr>
            <a:picLocks noChangeAspect="1"/>
          </p:cNvPicPr>
          <p:nvPr userDrawn="1"/>
        </p:nvPicPr>
        <p:blipFill rotWithShape="1">
          <a:blip r:embed="rId2" cstate="email">
            <a:clrChange>
              <a:clrFrom>
                <a:srgbClr val="8B8B8B"/>
              </a:clrFrom>
              <a:clrTo>
                <a:srgbClr val="8B8B8B">
                  <a:alpha val="0"/>
                </a:srgbClr>
              </a:clrTo>
            </a:clrChange>
            <a:alphaModFix amt="50000"/>
            <a:extLst>
              <a:ext uri="{28A0092B-C50C-407E-A947-70E740481C1C}">
                <a14:useLocalDpi xmlns:a14="http://schemas.microsoft.com/office/drawing/2010/main"/>
              </a:ext>
            </a:extLst>
          </a:blip>
          <a:srcRect t="-1" b="-77"/>
          <a:stretch/>
        </p:blipFill>
        <p:spPr>
          <a:xfrm>
            <a:off x="0" y="0"/>
            <a:ext cx="12186432" cy="6858000"/>
          </a:xfrm>
          <a:prstGeom prst="rect">
            <a:avLst/>
          </a:prstGeom>
          <a:solidFill>
            <a:srgbClr val="F4F2EF"/>
          </a:solidFill>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24BEDD87-3AA7-3305-5FE5-BA97EE53FCC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84093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2805019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14144556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pic>
        <p:nvPicPr>
          <p:cNvPr id="8" name="Picture 7" descr="A close up of a colorful paper&#10;&#10;Description automatically generated">
            <a:extLst>
              <a:ext uri="{FF2B5EF4-FFF2-40B4-BE49-F238E27FC236}">
                <a16:creationId xmlns:a16="http://schemas.microsoft.com/office/drawing/2014/main" id="{4098A1A4-72D7-9974-7700-B4D128ACED4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28114" y="292100"/>
            <a:ext cx="4659086" cy="5976938"/>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0763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6895557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ice 2">
    <p:spTree>
      <p:nvGrpSpPr>
        <p:cNvPr id="1" name=""/>
        <p:cNvGrpSpPr/>
        <p:nvPr/>
      </p:nvGrpSpPr>
      <p:grpSpPr>
        <a:xfrm>
          <a:off x="0" y="0"/>
          <a:ext cx="0" cy="0"/>
          <a:chOff x="0" y="0"/>
          <a:chExt cx="0" cy="0"/>
        </a:xfrm>
      </p:grpSpPr>
      <p:pic>
        <p:nvPicPr>
          <p:cNvPr id="3" name="Picture 2" descr="A close-up of a spiral&#10;&#10;Description automatically generated">
            <a:extLst>
              <a:ext uri="{FF2B5EF4-FFF2-40B4-BE49-F238E27FC236}">
                <a16:creationId xmlns:a16="http://schemas.microsoft.com/office/drawing/2014/main" id="{3117FEF8-62E3-EC02-1329-2468770772B6}"/>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2192000" cy="6857999"/>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4924425" y="1542284"/>
            <a:ext cx="6696075" cy="377343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65186041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Floating Square Photo Graphic">
    <p:spTree>
      <p:nvGrpSpPr>
        <p:cNvPr id="1" name=""/>
        <p:cNvGrpSpPr/>
        <p:nvPr/>
      </p:nvGrpSpPr>
      <p:grpSpPr>
        <a:xfrm>
          <a:off x="0" y="0"/>
          <a:ext cx="0" cy="0"/>
          <a:chOff x="0" y="0"/>
          <a:chExt cx="0" cy="0"/>
        </a:xfrm>
      </p:grpSpPr>
      <p:pic>
        <p:nvPicPr>
          <p:cNvPr id="19" name="Picture 18" descr="A close up of a colorful paper&#10;&#10;Description automatically generated">
            <a:extLst>
              <a:ext uri="{FF2B5EF4-FFF2-40B4-BE49-F238E27FC236}">
                <a16:creationId xmlns:a16="http://schemas.microsoft.com/office/drawing/2014/main" id="{D5587F9B-0EDF-E50B-C4BC-0186F943071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6544300" y="585788"/>
            <a:ext cx="5076199" cy="5079046"/>
          </a:xfrm>
          <a:prstGeom prst="rect">
            <a:avLst/>
          </a:prstGeom>
        </p:spPr>
      </p:pic>
      <p:sp>
        <p:nvSpPr>
          <p:cNvPr id="13" name="Square">
            <a:extLst>
              <a:ext uri="{FF2B5EF4-FFF2-40B4-BE49-F238E27FC236}">
                <a16:creationId xmlns:a16="http://schemas.microsoft.com/office/drawing/2014/main" id="{CD4E65D4-0149-05A6-AC78-ED3627A5975E}"/>
              </a:ext>
            </a:extLst>
          </p:cNvPr>
          <p:cNvSpPr/>
          <p:nvPr userDrawn="1"/>
        </p:nvSpPr>
        <p:spPr>
          <a:xfrm>
            <a:off x="5940097" y="1148397"/>
            <a:ext cx="5120640" cy="5120640"/>
          </a:xfrm>
          <a:prstGeom prst="rect">
            <a:avLst/>
          </a:prstGeom>
          <a:gradFill>
            <a:gsLst>
              <a:gs pos="0">
                <a:srgbClr val="FFE399">
                  <a:alpha val="80000"/>
                </a:srgbClr>
              </a:gs>
              <a:gs pos="22465">
                <a:srgbClr val="F6A570">
                  <a:alpha val="40000"/>
                </a:srgbClr>
              </a:gs>
              <a:gs pos="41583">
                <a:srgbClr val="FF5C39">
                  <a:alpha val="0"/>
                </a:srgbClr>
              </a:gs>
              <a:gs pos="48805">
                <a:srgbClr val="FF5C39">
                  <a:alpha val="158"/>
                </a:srgbClr>
              </a:gs>
              <a:gs pos="55970">
                <a:srgbClr val="FF5C39">
                  <a:alpha val="317"/>
                </a:srgbClr>
              </a:gs>
              <a:gs pos="100000">
                <a:srgbClr val="FF5C39">
                  <a:alpha val="50000"/>
                </a:srgbClr>
              </a:gs>
            </a:gsLst>
            <a:lin ang="18900000"/>
          </a:gradFill>
          <a:ln w="12700">
            <a:miter lim="400000"/>
          </a:ln>
        </p:spPr>
        <p:txBody>
          <a:bodyPr lIns="146304" tIns="146304" rIns="146304" bIns="146304"/>
          <a:lstStyle/>
          <a:p>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749800"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544300" y="1752600"/>
            <a:ext cx="3912234" cy="3912234"/>
          </a:xfrm>
          <a:solidFill>
            <a:schemeClr val="tx1"/>
          </a:solidFill>
        </p:spPr>
        <p:txBody>
          <a:bodyPr lIns="0" tIns="914400" rIns="0" anchor="t" anchorCtr="0">
            <a:noAutofit/>
          </a:bodyPr>
          <a:lstStyle>
            <a:lvl1pPr marL="0" indent="0" algn="ctr">
              <a:lnSpc>
                <a:spcPct val="100000"/>
              </a:lnSpc>
              <a:buNone/>
              <a:defRPr sz="10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13542791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Floating Square Photo Graphic 2">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01305EF0-EAC4-FB22-9A8C-E2B9DEA52D00}"/>
              </a:ext>
            </a:extLst>
          </p:cNvPr>
          <p:cNvSpPr/>
          <p:nvPr userDrawn="1"/>
        </p:nvSpPr>
        <p:spPr>
          <a:xfrm>
            <a:off x="5919788" y="-16074"/>
            <a:ext cx="6278745" cy="6890148"/>
          </a:xfrm>
          <a:prstGeom prst="rect">
            <a:avLst/>
          </a:prstGeom>
          <a:solidFill>
            <a:srgbClr val="325A61"/>
          </a:solidFill>
          <a:ln w="12700">
            <a:miter lim="400000"/>
          </a:ln>
        </p:spPr>
        <p:txBody>
          <a:bodyPr lIns="146304" tIns="146304" rIns="146304" bIns="146304"/>
          <a:lstStyle/>
          <a:p>
            <a:endParaRPr/>
          </a:p>
        </p:txBody>
      </p:sp>
      <p:pic>
        <p:nvPicPr>
          <p:cNvPr id="13" name="Picture 12" descr="A close-up of a spiral&#10;&#10;Description automatically generated">
            <a:extLst>
              <a:ext uri="{FF2B5EF4-FFF2-40B4-BE49-F238E27FC236}">
                <a16:creationId xmlns:a16="http://schemas.microsoft.com/office/drawing/2014/main" id="{27B37B92-2B88-B680-79AF-C8FBEB372FF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919787" y="1"/>
            <a:ext cx="5683949" cy="5706352"/>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3068637"/>
            <a:ext cx="3200400" cy="3200400"/>
          </a:xfrm>
          <a:solidFill>
            <a:schemeClr val="tx1"/>
          </a:solidFill>
        </p:spPr>
        <p:txBody>
          <a:bodyPr lIns="0" tIns="914400" rIns="0" anchor="t" anchorCtr="0">
            <a:noAutofit/>
          </a:bodyPr>
          <a:lstStyle>
            <a:lvl1pPr marL="0" indent="0" algn="ctr">
              <a:lnSpc>
                <a:spcPct val="100000"/>
              </a:lnSpc>
              <a:buNone/>
              <a:defRPr sz="10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550120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quare Photo Graphic">
    <p:spTree>
      <p:nvGrpSpPr>
        <p:cNvPr id="1" name=""/>
        <p:cNvGrpSpPr/>
        <p:nvPr/>
      </p:nvGrpSpPr>
      <p:grpSpPr>
        <a:xfrm>
          <a:off x="0" y="0"/>
          <a:ext cx="0" cy="0"/>
          <a:chOff x="0" y="0"/>
          <a:chExt cx="0" cy="0"/>
        </a:xfrm>
      </p:grpSpPr>
      <p:pic>
        <p:nvPicPr>
          <p:cNvPr id="12" name="Picture 11" descr="A close up of a colorful paper&#10;&#10;Description automatically generated">
            <a:extLst>
              <a:ext uri="{FF2B5EF4-FFF2-40B4-BE49-F238E27FC236}">
                <a16:creationId xmlns:a16="http://schemas.microsoft.com/office/drawing/2014/main" id="{13F3D321-35EF-3FCA-D704-3DF8CCB7FA2C}"/>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7" name="Square">
            <a:extLst>
              <a:ext uri="{FF2B5EF4-FFF2-40B4-BE49-F238E27FC236}">
                <a16:creationId xmlns:a16="http://schemas.microsoft.com/office/drawing/2014/main" id="{59924524-2A9E-BD7E-8BA2-DB53D96DD871}"/>
              </a:ext>
            </a:extLst>
          </p:cNvPr>
          <p:cNvSpPr/>
          <p:nvPr userDrawn="1"/>
        </p:nvSpPr>
        <p:spPr>
          <a:xfrm>
            <a:off x="6202680" y="868680"/>
            <a:ext cx="5120640" cy="5120640"/>
          </a:xfrm>
          <a:prstGeom prst="rect">
            <a:avLst/>
          </a:prstGeom>
          <a:gradFill>
            <a:gsLst>
              <a:gs pos="0">
                <a:srgbClr val="FFE399">
                  <a:alpha val="80000"/>
                </a:srgbClr>
              </a:gs>
              <a:gs pos="22465">
                <a:srgbClr val="F6A570">
                  <a:alpha val="40000"/>
                </a:srgbClr>
              </a:gs>
              <a:gs pos="41583">
                <a:srgbClr val="FF5C39">
                  <a:alpha val="0"/>
                </a:srgbClr>
              </a:gs>
              <a:gs pos="48805">
                <a:srgbClr val="FF5C39">
                  <a:alpha val="158"/>
                </a:srgbClr>
              </a:gs>
              <a:gs pos="55970">
                <a:srgbClr val="FF5C39">
                  <a:alpha val="317"/>
                </a:srgbClr>
              </a:gs>
              <a:gs pos="100000">
                <a:srgbClr val="FF5C39">
                  <a:alpha val="50000"/>
                </a:srgbClr>
              </a:gs>
            </a:gsLst>
            <a:lin ang="18900000"/>
          </a:gradFill>
          <a:ln w="12700">
            <a:miter lim="400000"/>
          </a:ln>
        </p:spPr>
        <p:txBody>
          <a:bodyPr lIns="146304" tIns="146304" rIns="146304" bIns="146304"/>
          <a:lstStyle/>
          <a:p>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solidFill>
            <a:schemeClr val="tx1"/>
          </a:solidFill>
        </p:spPr>
        <p:txBody>
          <a:bodyPr lIns="0" tIns="1188720" rIns="0" anchor="t" anchorCtr="0">
            <a:noAutofit/>
          </a:bodyPr>
          <a:lstStyle>
            <a:lvl1pPr marL="0" indent="0" algn="ctr">
              <a:lnSpc>
                <a:spcPct val="100000"/>
              </a:lnSpc>
              <a:buNone/>
              <a:defRPr sz="12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75735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quare Photo Graphic 2">
    <p:spTree>
      <p:nvGrpSpPr>
        <p:cNvPr id="1" name=""/>
        <p:cNvGrpSpPr/>
        <p:nvPr/>
      </p:nvGrpSpPr>
      <p:grpSpPr>
        <a:xfrm>
          <a:off x="0" y="0"/>
          <a:ext cx="0" cy="0"/>
          <a:chOff x="0" y="0"/>
          <a:chExt cx="0" cy="0"/>
        </a:xfrm>
      </p:grpSpPr>
      <p:pic>
        <p:nvPicPr>
          <p:cNvPr id="11" name="Picture 10" descr="A close-up of a spiral&#10;&#10;Description automatically generated">
            <a:extLst>
              <a:ext uri="{FF2B5EF4-FFF2-40B4-BE49-F238E27FC236}">
                <a16:creationId xmlns:a16="http://schemas.microsoft.com/office/drawing/2014/main" id="{5B1B145A-44EF-E1DF-CB05-2BA9B2DB9F34}"/>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334000" y="1"/>
            <a:ext cx="6858000" cy="6885030"/>
          </a:xfrm>
          <a:prstGeom prst="rect">
            <a:avLst/>
          </a:prstGeom>
        </p:spPr>
      </p:pic>
      <p:sp>
        <p:nvSpPr>
          <p:cNvPr id="7" name="Square">
            <a:extLst>
              <a:ext uri="{FF2B5EF4-FFF2-40B4-BE49-F238E27FC236}">
                <a16:creationId xmlns:a16="http://schemas.microsoft.com/office/drawing/2014/main" id="{59924524-2A9E-BD7E-8BA2-DB53D96DD871}"/>
              </a:ext>
            </a:extLst>
          </p:cNvPr>
          <p:cNvSpPr/>
          <p:nvPr userDrawn="1"/>
        </p:nvSpPr>
        <p:spPr>
          <a:xfrm>
            <a:off x="6202680" y="868680"/>
            <a:ext cx="5120640" cy="5120640"/>
          </a:xfrm>
          <a:prstGeom prst="rect">
            <a:avLst/>
          </a:prstGeom>
          <a:gradFill>
            <a:gsLst>
              <a:gs pos="0">
                <a:srgbClr val="FFE399">
                  <a:alpha val="80000"/>
                </a:srgbClr>
              </a:gs>
              <a:gs pos="22465">
                <a:srgbClr val="F6A570">
                  <a:alpha val="40000"/>
                </a:srgbClr>
              </a:gs>
              <a:gs pos="41583">
                <a:srgbClr val="FF5C39">
                  <a:alpha val="0"/>
                </a:srgbClr>
              </a:gs>
              <a:gs pos="48805">
                <a:srgbClr val="FF5C39">
                  <a:alpha val="158"/>
                </a:srgbClr>
              </a:gs>
              <a:gs pos="55970">
                <a:srgbClr val="FF5C39">
                  <a:alpha val="317"/>
                </a:srgbClr>
              </a:gs>
              <a:gs pos="100000">
                <a:srgbClr val="FF5C39">
                  <a:alpha val="50000"/>
                </a:srgbClr>
              </a:gs>
            </a:gsLst>
            <a:lin ang="18900000"/>
          </a:gradFill>
          <a:ln w="12700">
            <a:miter lim="400000"/>
          </a:ln>
        </p:spPr>
        <p:txBody>
          <a:bodyPr lIns="146304" tIns="146304" rIns="146304" bIns="146304"/>
          <a:lstStyle/>
          <a:p>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solidFill>
            <a:schemeClr val="tx1"/>
          </a:solidFill>
        </p:spPr>
        <p:txBody>
          <a:bodyPr lIns="0" tIns="1188720" rIns="0" anchor="t" anchorCtr="0">
            <a:noAutofit/>
          </a:bodyPr>
          <a:lstStyle>
            <a:lvl1pPr marL="0" indent="0" algn="ctr">
              <a:lnSpc>
                <a:spcPct val="100000"/>
              </a:lnSpc>
              <a:buNone/>
              <a:defRPr sz="12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4474681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quare Photo Graphic 3">
    <p:spTree>
      <p:nvGrpSpPr>
        <p:cNvPr id="1" name=""/>
        <p:cNvGrpSpPr/>
        <p:nvPr/>
      </p:nvGrpSpPr>
      <p:grpSpPr>
        <a:xfrm>
          <a:off x="0" y="0"/>
          <a:ext cx="0" cy="0"/>
          <a:chOff x="0" y="0"/>
          <a:chExt cx="0" cy="0"/>
        </a:xfrm>
      </p:grpSpPr>
      <p:pic>
        <p:nvPicPr>
          <p:cNvPr id="12" name="Picture 11" descr="A close up of a balloon&#10;&#10;Description automatically generated">
            <a:extLst>
              <a:ext uri="{FF2B5EF4-FFF2-40B4-BE49-F238E27FC236}">
                <a16:creationId xmlns:a16="http://schemas.microsoft.com/office/drawing/2014/main" id="{9279B191-B390-A33E-43AA-4CC5DCB1EBD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334000" y="0"/>
            <a:ext cx="6853237" cy="6858000"/>
          </a:xfrm>
          <a:prstGeom prst="rect">
            <a:avLst/>
          </a:prstGeom>
        </p:spPr>
      </p:pic>
      <p:sp>
        <p:nvSpPr>
          <p:cNvPr id="7" name="Square">
            <a:extLst>
              <a:ext uri="{FF2B5EF4-FFF2-40B4-BE49-F238E27FC236}">
                <a16:creationId xmlns:a16="http://schemas.microsoft.com/office/drawing/2014/main" id="{59924524-2A9E-BD7E-8BA2-DB53D96DD871}"/>
              </a:ext>
            </a:extLst>
          </p:cNvPr>
          <p:cNvSpPr/>
          <p:nvPr userDrawn="1"/>
        </p:nvSpPr>
        <p:spPr>
          <a:xfrm>
            <a:off x="6202680" y="868680"/>
            <a:ext cx="5120640" cy="5120640"/>
          </a:xfrm>
          <a:prstGeom prst="rect">
            <a:avLst/>
          </a:prstGeom>
          <a:gradFill>
            <a:gsLst>
              <a:gs pos="0">
                <a:srgbClr val="FFE399">
                  <a:alpha val="80000"/>
                </a:srgbClr>
              </a:gs>
              <a:gs pos="22465">
                <a:srgbClr val="F6A570">
                  <a:alpha val="40000"/>
                </a:srgbClr>
              </a:gs>
              <a:gs pos="41583">
                <a:srgbClr val="FF5C39">
                  <a:alpha val="0"/>
                </a:srgbClr>
              </a:gs>
              <a:gs pos="48805">
                <a:srgbClr val="FF5C39">
                  <a:alpha val="158"/>
                </a:srgbClr>
              </a:gs>
              <a:gs pos="55970">
                <a:srgbClr val="FF5C39">
                  <a:alpha val="317"/>
                </a:srgbClr>
              </a:gs>
              <a:gs pos="100000">
                <a:srgbClr val="FF5C39">
                  <a:alpha val="50000"/>
                </a:srgbClr>
              </a:gs>
            </a:gsLst>
            <a:lin ang="18900000"/>
          </a:gradFill>
          <a:ln w="12700">
            <a:miter lim="400000"/>
          </a:ln>
        </p:spPr>
        <p:txBody>
          <a:bodyPr lIns="146304" tIns="146304" rIns="146304" bIns="146304"/>
          <a:lstStyle/>
          <a:p>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solidFill>
            <a:schemeClr val="tx1"/>
          </a:solidFill>
        </p:spPr>
        <p:txBody>
          <a:bodyPr lIns="0" tIns="1188720" rIns="0" anchor="t" anchorCtr="0">
            <a:noAutofit/>
          </a:bodyPr>
          <a:lstStyle>
            <a:lvl1pPr marL="0" indent="0" algn="ctr">
              <a:lnSpc>
                <a:spcPct val="100000"/>
              </a:lnSpc>
              <a:buNone/>
              <a:defRPr sz="12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031173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solidFill>
            <a:schemeClr val="tx1"/>
          </a:solid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5336880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solidFill>
            <a:schemeClr val="tx1"/>
          </a:solid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1630856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solidFill>
            <a:schemeClr val="tx1"/>
          </a:solid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0575812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solidFill>
            <a:schemeClr val="tx1"/>
          </a:solidFill>
        </p:spPr>
        <p:txBody>
          <a:bodyPr vert="horz" wrap="square" lIns="0" tIns="128016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1432969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solidFill>
            <a:schemeClr val="tx1"/>
          </a:soli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9117163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solidFill>
            <a:schemeClr val="tx1"/>
          </a:solid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solidFill>
            <a:schemeClr val="tx1"/>
          </a:solid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963300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solidFill>
            <a:schemeClr val="tx1"/>
          </a:solid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solidFill>
            <a:schemeClr val="tx1"/>
          </a:solid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solidFill>
            <a:schemeClr val="tx1"/>
          </a:solid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9041740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solidFill>
            <a:schemeClr val="tx1"/>
          </a:solid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solidFill>
            <a:schemeClr val="tx1"/>
          </a:solid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solidFill>
            <a:schemeClr val="tx1"/>
          </a:solid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solidFill>
            <a:schemeClr val="tx1"/>
          </a:solid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0192800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13976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088988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solidFill>
            <a:schemeClr val="tx1"/>
          </a:solid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538353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solidFill>
            <a:schemeClr val="tx1"/>
          </a:solid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solidFill>
            <a:schemeClr val="tx1"/>
          </a:solid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solidFill>
            <a:schemeClr val="tx1"/>
          </a:solid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solidFill>
            <a:schemeClr val="tx1"/>
          </a:solid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solidFill>
            <a:schemeClr val="tx1"/>
          </a:solidFill>
        </p:spPr>
        <p:txBody>
          <a:bodyPr lIns="0" tIns="0" rIns="0" bIns="73152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883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solidFill>
            <a:schemeClr val="tx1"/>
          </a:solid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solidFill>
            <a:schemeClr val="tx1"/>
          </a:solid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solidFill>
            <a:schemeClr val="tx1"/>
          </a:solid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891185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solidFill>
            <a:schemeClr val="tx1"/>
          </a:solid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solidFill>
            <a:schemeClr val="tx1"/>
          </a:solid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solidFill>
            <a:schemeClr val="tx1"/>
          </a:solid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solidFill>
            <a:schemeClr val="tx1"/>
          </a:solid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489357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solidFill>
            <a:schemeClr val="tx1"/>
          </a:solid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solidFill>
            <a:schemeClr val="tx1"/>
          </a:solid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solidFill>
            <a:schemeClr val="tx1"/>
          </a:solid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solidFill>
            <a:schemeClr val="tx1"/>
          </a:solid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solidFill>
            <a:schemeClr val="tx1"/>
          </a:solid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484353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61424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372898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1436121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5744957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466993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3494973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089667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solidFill>
            <a:schemeClr val="tx1"/>
          </a:solid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530646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8" name="Picture 7" descr="A close up of a colorful paper&#10;&#10;Description automatically generated">
            <a:extLst>
              <a:ext uri="{FF2B5EF4-FFF2-40B4-BE49-F238E27FC236}">
                <a16:creationId xmlns:a16="http://schemas.microsoft.com/office/drawing/2014/main" id="{687381A5-607B-B014-F398-77FE54061B6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7454049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 3">
    <p:bg>
      <p:bgPr>
        <a:solidFill>
          <a:schemeClr val="bg1"/>
        </a:solidFill>
        <a:effectLst/>
      </p:bgPr>
    </p:bg>
    <p:spTree>
      <p:nvGrpSpPr>
        <p:cNvPr id="1" name=""/>
        <p:cNvGrpSpPr/>
        <p:nvPr/>
      </p:nvGrpSpPr>
      <p:grpSpPr>
        <a:xfrm>
          <a:off x="0" y="0"/>
          <a:ext cx="0" cy="0"/>
          <a:chOff x="0" y="0"/>
          <a:chExt cx="0" cy="0"/>
        </a:xfrm>
      </p:grpSpPr>
      <p:pic>
        <p:nvPicPr>
          <p:cNvPr id="8" name="Picture 7" descr="A close-up of a spiral&#10;&#10;Description automatically generated">
            <a:extLst>
              <a:ext uri="{FF2B5EF4-FFF2-40B4-BE49-F238E27FC236}">
                <a16:creationId xmlns:a16="http://schemas.microsoft.com/office/drawing/2014/main" id="{F5C3DD92-2C82-EC44-A9FF-8F934C9194A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5334000" y="1"/>
            <a:ext cx="6858000" cy="6885030"/>
          </a:xfrm>
          <a:prstGeom prst="rect">
            <a:avLst/>
          </a:prstGeom>
        </p:spPr>
      </p:pic>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3101960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3" name="Picture 2">
            <a:extLst>
              <a:ext uri="{FF2B5EF4-FFF2-40B4-BE49-F238E27FC236}">
                <a16:creationId xmlns:a16="http://schemas.microsoft.com/office/drawing/2014/main" id="{9E3A6A0C-F9BA-41D5-6E21-5FEA6C858BF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41620" y="0"/>
            <a:ext cx="6850380" cy="6858000"/>
          </a:xfrm>
          <a:prstGeom prst="rect">
            <a:avLst/>
          </a:prstGeom>
        </p:spPr>
      </p:pic>
    </p:spTree>
    <p:extLst>
      <p:ext uri="{BB962C8B-B14F-4D97-AF65-F5344CB8AC3E}">
        <p14:creationId xmlns:p14="http://schemas.microsoft.com/office/powerpoint/2010/main" val="2190293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solidFill>
            <a:schemeClr val="tx1"/>
          </a:solid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079663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3" name="Picture 2">
            <a:extLst>
              <a:ext uri="{FF2B5EF4-FFF2-40B4-BE49-F238E27FC236}">
                <a16:creationId xmlns:a16="http://schemas.microsoft.com/office/drawing/2014/main" id="{8D577967-D611-8771-45E0-A5A0E8982F4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41612" y="0"/>
            <a:ext cx="6850388" cy="6858000"/>
          </a:xfrm>
          <a:prstGeom prst="rect">
            <a:avLst/>
          </a:prstGeom>
        </p:spPr>
      </p:pic>
    </p:spTree>
    <p:extLst>
      <p:ext uri="{BB962C8B-B14F-4D97-AF65-F5344CB8AC3E}">
        <p14:creationId xmlns:p14="http://schemas.microsoft.com/office/powerpoint/2010/main" val="15381484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3" name="Picture 2">
            <a:extLst>
              <a:ext uri="{FF2B5EF4-FFF2-40B4-BE49-F238E27FC236}">
                <a16:creationId xmlns:a16="http://schemas.microsoft.com/office/drawing/2014/main" id="{79C7FED5-D7A0-66DA-0268-E6738885464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64345" y="0"/>
            <a:ext cx="6827655" cy="6858000"/>
          </a:xfrm>
          <a:prstGeom prst="rect">
            <a:avLst/>
          </a:prstGeom>
        </p:spPr>
      </p:pic>
    </p:spTree>
    <p:extLst>
      <p:ext uri="{BB962C8B-B14F-4D97-AF65-F5344CB8AC3E}">
        <p14:creationId xmlns:p14="http://schemas.microsoft.com/office/powerpoint/2010/main" val="28820647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3" name="Picture 2">
            <a:extLst>
              <a:ext uri="{FF2B5EF4-FFF2-40B4-BE49-F238E27FC236}">
                <a16:creationId xmlns:a16="http://schemas.microsoft.com/office/drawing/2014/main" id="{199F0782-1624-492F-D658-EA55512D15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41620" y="0"/>
            <a:ext cx="6850380" cy="6858000"/>
          </a:xfrm>
          <a:prstGeom prst="rect">
            <a:avLst/>
          </a:prstGeom>
        </p:spPr>
      </p:pic>
    </p:spTree>
    <p:extLst>
      <p:ext uri="{BB962C8B-B14F-4D97-AF65-F5344CB8AC3E}">
        <p14:creationId xmlns:p14="http://schemas.microsoft.com/office/powerpoint/2010/main" val="4714676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pic>
        <p:nvPicPr>
          <p:cNvPr id="10" name="Picture 9" descr="A close up of a glass&#10;&#10;Description automatically generated">
            <a:extLst>
              <a:ext uri="{FF2B5EF4-FFF2-40B4-BE49-F238E27FC236}">
                <a16:creationId xmlns:a16="http://schemas.microsoft.com/office/drawing/2014/main" id="{FAC15132-739D-95CD-FEE9-F0C7A478EEE0}"/>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tretch>
            <a:fillRect/>
          </a:stretch>
        </p:blipFill>
        <p:spPr>
          <a:xfrm>
            <a:off x="5568" y="0"/>
            <a:ext cx="12180864" cy="6846401"/>
          </a:xfrm>
          <a:prstGeom prst="rect">
            <a:avLst/>
          </a:prstGeom>
        </p:spPr>
      </p:pic>
    </p:spTree>
    <p:extLst>
      <p:ext uri="{BB962C8B-B14F-4D97-AF65-F5344CB8AC3E}">
        <p14:creationId xmlns:p14="http://schemas.microsoft.com/office/powerpoint/2010/main" val="36000549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191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880617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4">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71240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8161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7F3A8B6-B05A-B07A-CABF-0269F1025029}"/>
              </a:ext>
              <a:ext uri="{C183D7F6-B498-43B3-948B-1728B52AA6E4}">
                <adec:decorative xmlns:adec="http://schemas.microsoft.com/office/drawing/2017/decorative" val="1"/>
              </a:ext>
            </a:extLst>
          </p:cNvPr>
          <p:cNvSpPr/>
          <p:nvPr userDrawn="1"/>
        </p:nvSpPr>
        <p:spPr>
          <a:xfrm>
            <a:off x="577850" y="588962"/>
            <a:ext cx="11036300" cy="5680076"/>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5236" t="-10428" r="-5236" b="-10428"/>
            </a:stretch>
          </a:blipFill>
          <a:ln w="12700">
            <a:miter lim="400000"/>
          </a:ln>
        </p:spPr>
        <p:txBody>
          <a:bodyPr lIns="146304" tIns="146304" rIns="146304" bIns="146304"/>
          <a:lstStyle/>
          <a:p>
            <a:pPr>
              <a:defRPr>
                <a:solidFill>
                  <a:srgbClr val="FFFFFF"/>
                </a:solidFill>
              </a:defRPr>
            </a:pPr>
            <a:endParaRPr/>
          </a:p>
        </p:txBody>
      </p:sp>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879114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B3C68CB-E8AC-6234-9427-2A6673D179E3}"/>
              </a:ext>
              <a:ext uri="{C183D7F6-B498-43B3-948B-1728B52AA6E4}">
                <adec:decorative xmlns:adec="http://schemas.microsoft.com/office/drawing/2017/decorative" val="1"/>
              </a:ext>
            </a:extLst>
          </p:cNvPr>
          <p:cNvSpPr/>
          <p:nvPr userDrawn="1"/>
        </p:nvSpPr>
        <p:spPr>
          <a:xfrm>
            <a:off x="577850" y="588962"/>
            <a:ext cx="11036300" cy="5680076"/>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5236" t="-10489" r="-5236" b="-10489"/>
            </a:stretch>
          </a:blipFill>
          <a:ln w="12700">
            <a:miter lim="400000"/>
          </a:ln>
        </p:spPr>
        <p:txBody>
          <a:bodyPr lIns="146304" tIns="146304" rIns="146304" bIns="146304"/>
          <a:lstStyle/>
          <a:p>
            <a:pPr>
              <a:defRPr>
                <a:solidFill>
                  <a:srgbClr val="FFFFFF"/>
                </a:solidFill>
              </a:defRPr>
            </a:pPr>
            <a:endParaRPr/>
          </a:p>
        </p:txBody>
      </p:sp>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4809733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01CB1A7-0196-21A7-109B-54CA161EB6A7}"/>
              </a:ext>
              <a:ext uri="{C183D7F6-B498-43B3-948B-1728B52AA6E4}">
                <adec:decorative xmlns:adec="http://schemas.microsoft.com/office/drawing/2017/decorative" val="1"/>
              </a:ext>
            </a:extLst>
          </p:cNvPr>
          <p:cNvSpPr/>
          <p:nvPr userDrawn="1"/>
        </p:nvSpPr>
        <p:spPr>
          <a:xfrm>
            <a:off x="577850" y="588962"/>
            <a:ext cx="11036300" cy="5680076"/>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5278" t="-10369" r="-5280" b="-10367"/>
            </a:stretch>
          </a:blipFill>
          <a:ln w="12700">
            <a:miter lim="400000"/>
          </a:ln>
        </p:spPr>
        <p:txBody>
          <a:bodyPr lIns="146304" tIns="146304" rIns="146304" bIns="146304"/>
          <a:lstStyle/>
          <a:p>
            <a:pPr>
              <a:defRPr>
                <a:solidFill>
                  <a:srgbClr val="FFFFFF"/>
                </a:solidFill>
              </a:defRPr>
            </a:pPr>
            <a:endParaRPr/>
          </a:p>
        </p:txBody>
      </p:sp>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436436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E7BF5F9-B624-30C1-5E2D-86E1159F887B}"/>
              </a:ext>
              <a:ext uri="{C183D7F6-B498-43B3-948B-1728B52AA6E4}">
                <adec:decorative xmlns:adec="http://schemas.microsoft.com/office/drawing/2017/decorative" val="1"/>
              </a:ext>
            </a:extLst>
          </p:cNvPr>
          <p:cNvSpPr/>
          <p:nvPr userDrawn="1"/>
        </p:nvSpPr>
        <p:spPr>
          <a:xfrm>
            <a:off x="1244600" y="1054100"/>
            <a:ext cx="9702800" cy="4749800"/>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12828" t="-22194" r="-12766" b="-22264"/>
            </a:stretch>
          </a:blipFill>
          <a:ln w="12700">
            <a:miter lim="400000"/>
          </a:ln>
        </p:spPr>
        <p:txBody>
          <a:bodyPr lIns="146304" tIns="146304" rIns="146304" bIns="146304"/>
          <a:lstStyle/>
          <a:p>
            <a:pPr lvl="0"/>
            <a:endParaRPr>
              <a:solidFill>
                <a:srgbClr val="FFFFFF"/>
              </a:solidFill>
            </a:endParaRPr>
          </a:p>
        </p:txBody>
      </p:sp>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9830687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39D28D6-D56F-E6D2-BC50-420DBCB4905A}"/>
              </a:ext>
              <a:ext uri="{C183D7F6-B498-43B3-948B-1728B52AA6E4}">
                <adec:decorative xmlns:adec="http://schemas.microsoft.com/office/drawing/2017/decorative" val="1"/>
              </a:ext>
            </a:extLst>
          </p:cNvPr>
          <p:cNvSpPr/>
          <p:nvPr userDrawn="1"/>
        </p:nvSpPr>
        <p:spPr>
          <a:xfrm>
            <a:off x="1244600" y="1054100"/>
            <a:ext cx="9702800" cy="4749800"/>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12828" t="-22192" r="-12701" b="-22338"/>
            </a:stretch>
          </a:blipFill>
          <a:ln w="12700">
            <a:miter lim="400000"/>
          </a:ln>
        </p:spPr>
        <p:txBody>
          <a:bodyPr lIns="146304" tIns="146304" rIns="146304" bIns="146304"/>
          <a:lstStyle/>
          <a:p>
            <a:pPr lvl="0"/>
            <a:endParaRPr>
              <a:solidFill>
                <a:srgbClr val="FFFFFF"/>
              </a:solidFill>
            </a:endParaRPr>
          </a:p>
        </p:txBody>
      </p:sp>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66584146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85BCF97B-C514-32AB-3E25-432060F90681}"/>
              </a:ext>
              <a:ext uri="{C183D7F6-B498-43B3-948B-1728B52AA6E4}">
                <adec:decorative xmlns:adec="http://schemas.microsoft.com/office/drawing/2017/decorative" val="1"/>
              </a:ext>
            </a:extLst>
          </p:cNvPr>
          <p:cNvSpPr/>
          <p:nvPr userDrawn="1"/>
        </p:nvSpPr>
        <p:spPr>
          <a:xfrm>
            <a:off x="1244600" y="1054100"/>
            <a:ext cx="9702800" cy="4749800"/>
          </a:xfrm>
          <a:prstGeom prst="roundRect">
            <a:avLst>
              <a:gd name="adj" fmla="val 0"/>
            </a:avLst>
          </a:prstGeom>
          <a:blipFill>
            <a:blip r:embed="rId3" cstate="email">
              <a:extLst>
                <a:ext uri="{BEBA8EAE-BF5A-486C-A8C5-ECC9F3942E4B}">
                  <a14:imgProps xmlns:a14="http://schemas.microsoft.com/office/drawing/2010/main">
                    <a14:imgLayer r:embed="rId4">
                      <a14:imgEffect>
                        <a14:artisticBlur radius="50"/>
                      </a14:imgEffect>
                      <a14:imgEffect>
                        <a14:brightnessContrast bright="5000"/>
                      </a14:imgEffect>
                    </a14:imgLayer>
                  </a14:imgProps>
                </a:ext>
                <a:ext uri="{28A0092B-C50C-407E-A947-70E740481C1C}">
                  <a14:useLocalDpi xmlns:a14="http://schemas.microsoft.com/office/drawing/2010/main"/>
                </a:ext>
              </a:extLst>
            </a:blip>
            <a:srcRect/>
            <a:stretch>
              <a:fillRect l="-12876" t="-22193" r="-12876" b="-22193"/>
            </a:stretch>
          </a:blipFill>
          <a:ln w="12700">
            <a:miter lim="400000"/>
          </a:ln>
        </p:spPr>
        <p:txBody>
          <a:bodyPr lIns="146304" tIns="146304" rIns="146304" bIns="146304"/>
          <a:lstStyle/>
          <a:p>
            <a:pPr lvl="0"/>
            <a:endParaRPr>
              <a:solidFill>
                <a:srgbClr val="FFFFFF"/>
              </a:solidFill>
            </a:endParaRPr>
          </a:p>
        </p:txBody>
      </p:sp>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4037340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3" name="Rectangle">
            <a:extLst>
              <a:ext uri="{FF2B5EF4-FFF2-40B4-BE49-F238E27FC236}">
                <a16:creationId xmlns:a16="http://schemas.microsoft.com/office/drawing/2014/main" id="{6A32330E-3D85-1BFF-842E-A87E2D3F3BC9}"/>
              </a:ext>
              <a:ext uri="{C183D7F6-B498-43B3-948B-1728B52AA6E4}">
                <adec:decorative xmlns:adec="http://schemas.microsoft.com/office/drawing/2017/decorative" val="1"/>
              </a:ext>
            </a:extLst>
          </p:cNvPr>
          <p:cNvSpPr/>
          <p:nvPr userDrawn="1"/>
        </p:nvSpPr>
        <p:spPr>
          <a:xfrm>
            <a:off x="-12700" y="0"/>
            <a:ext cx="5029200" cy="6867724"/>
          </a:xfrm>
          <a:prstGeom prst="rect">
            <a:avLst/>
          </a:prstGeom>
          <a:solidFill>
            <a:srgbClr val="E1D3C7"/>
          </a:solidFill>
          <a:ln w="12700">
            <a:miter lim="400000"/>
          </a:ln>
        </p:spPr>
        <p:txBody>
          <a:bodyPr lIns="146304" tIns="146304" rIns="146304" bIns="146304"/>
          <a:lstStyle/>
          <a:p>
            <a:pPr marR="0" lvl="0" indent="0" defTabSz="914366" fontAlgn="auto" hangingPunct="0">
              <a:lnSpc>
                <a:spcPct val="100000"/>
              </a:lnSpc>
              <a:spcBef>
                <a:spcPts val="0"/>
              </a:spcBef>
              <a:spcAft>
                <a:spcPts val="0"/>
              </a:spcAft>
              <a:buClrTx/>
              <a:buSzTx/>
              <a:buFontTx/>
              <a:buNone/>
              <a:tabLst/>
            </a:pPr>
            <a:endParaRPr kumimoji="0" sz="1700" b="0" i="0" u="none" strike="noStrike" cap="none" spc="0" normalizeH="0" baseline="0">
              <a:ln>
                <a:noFill/>
              </a:ln>
              <a:solidFill>
                <a:srgbClr val="000000"/>
              </a:solidFill>
              <a:effectLst/>
              <a:uFillTx/>
              <a:sym typeface="Segoe UI"/>
            </a:endParaRPr>
          </a:p>
        </p:txBody>
      </p:sp>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661943" y="3121223"/>
            <a:ext cx="5958557" cy="307777"/>
          </a:xfrm>
        </p:spPr>
        <p:txBody>
          <a:bodyPr/>
          <a:lstStyle>
            <a:lvl1pPr>
              <a:defRPr sz="2000">
                <a:latin typeface="+mn-lt"/>
              </a:defRPr>
            </a:lvl1pPr>
          </a:lstStyle>
          <a:p>
            <a:r>
              <a:rPr lang="en-US"/>
              <a:t>Click to edit quote style</a:t>
            </a:r>
          </a:p>
        </p:txBody>
      </p:sp>
      <p:sp>
        <p:nvSpPr>
          <p:cNvPr id="10" name="Text Placeholder 5">
            <a:extLst>
              <a:ext uri="{FF2B5EF4-FFF2-40B4-BE49-F238E27FC236}">
                <a16:creationId xmlns:a16="http://schemas.microsoft.com/office/drawing/2014/main" id="{9E6A7863-B7CC-B4F0-9AA8-18694E1E1B0E}"/>
              </a:ext>
            </a:extLst>
          </p:cNvPr>
          <p:cNvSpPr>
            <a:spLocks noGrp="1"/>
          </p:cNvSpPr>
          <p:nvPr>
            <p:ph type="body" sz="quarter" idx="12" hasCustomPrompt="1"/>
          </p:nvPr>
        </p:nvSpPr>
        <p:spPr>
          <a:xfrm>
            <a:off x="5662614" y="2324775"/>
            <a:ext cx="564016" cy="578416"/>
          </a:xfrm>
        </p:spPr>
        <p:txBody>
          <a:bodyPr>
            <a:noAutofit/>
          </a:bodyPr>
          <a:lstStyle>
            <a:lvl1pPr marL="0" indent="0">
              <a:buNone/>
              <a:defRPr sz="8000">
                <a:latin typeface="+mj-lt"/>
              </a:defRPr>
            </a:lvl1pPr>
          </a:lstStyle>
          <a:p>
            <a:pPr lvl="0"/>
            <a:r>
              <a:rPr lang="en-US"/>
              <a:t>“</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662613" y="3647032"/>
            <a:ext cx="5957887" cy="246221"/>
          </a:xfrm>
        </p:spPr>
        <p:txBody>
          <a:bodyPr/>
          <a:lstStyle>
            <a:lvl1pPr marL="0" indent="0" algn="r">
              <a:buNone/>
              <a:defRPr sz="1600"/>
            </a:lvl1pPr>
          </a:lstStyle>
          <a:p>
            <a:pPr lvl="0"/>
            <a:r>
              <a:rPr lang="en-US"/>
              <a:t>Quote author, Title, Organization</a:t>
            </a:r>
          </a:p>
        </p:txBody>
      </p:sp>
      <p:sp>
        <p:nvSpPr>
          <p:cNvPr id="16" name="Picture Placeholder 15" descr="This photo is a 'placeholder' only. Drag or drop your photo here, or click and tap the center to insert a photo.">
            <a:extLst>
              <a:ext uri="{FF2B5EF4-FFF2-40B4-BE49-F238E27FC236}">
                <a16:creationId xmlns:a16="http://schemas.microsoft.com/office/drawing/2014/main" id="{31264862-2FE4-290E-0B40-0D54CC25E531}"/>
              </a:ext>
            </a:extLst>
          </p:cNvPr>
          <p:cNvSpPr>
            <a:spLocks noGrp="1"/>
          </p:cNvSpPr>
          <p:nvPr>
            <p:ph type="pic" sz="quarter" idx="11" hasCustomPrompt="1"/>
          </p:nvPr>
        </p:nvSpPr>
        <p:spPr>
          <a:xfrm>
            <a:off x="571500" y="1371600"/>
            <a:ext cx="4445000" cy="5486400"/>
          </a:xfrm>
          <a:custGeom>
            <a:avLst/>
            <a:gdLst>
              <a:gd name="connsiteX0" fmla="*/ 3530600 w 4445000"/>
              <a:gd name="connsiteY0" fmla="*/ 0 h 5486400"/>
              <a:gd name="connsiteX1" fmla="*/ 4445000 w 4445000"/>
              <a:gd name="connsiteY1" fmla="*/ 0 h 5486400"/>
              <a:gd name="connsiteX2" fmla="*/ 4445000 w 4445000"/>
              <a:gd name="connsiteY2" fmla="*/ 5486400 h 5486400"/>
              <a:gd name="connsiteX3" fmla="*/ 0 w 4445000"/>
              <a:gd name="connsiteY3" fmla="*/ 5486400 h 5486400"/>
              <a:gd name="connsiteX4" fmla="*/ 0 w 4445000"/>
              <a:gd name="connsiteY4" fmla="*/ 1042988 h 5486400"/>
              <a:gd name="connsiteX5" fmla="*/ 3530600 w 4445000"/>
              <a:gd name="connsiteY5" fmla="*/ 1042988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5000" h="5486400">
                <a:moveTo>
                  <a:pt x="3530600" y="0"/>
                </a:moveTo>
                <a:lnTo>
                  <a:pt x="4445000" y="0"/>
                </a:lnTo>
                <a:lnTo>
                  <a:pt x="4445000" y="5486400"/>
                </a:lnTo>
                <a:lnTo>
                  <a:pt x="0" y="5486400"/>
                </a:lnTo>
                <a:lnTo>
                  <a:pt x="0" y="1042988"/>
                </a:lnTo>
                <a:lnTo>
                  <a:pt x="3530600" y="1042988"/>
                </a:lnTo>
                <a:close/>
              </a:path>
            </a:pathLst>
          </a:custGeom>
          <a:solidFill>
            <a:schemeClr val="tx1"/>
          </a:solidFill>
        </p:spPr>
        <p:txBody>
          <a:bodyPr vert="horz" wrap="square" lIns="0" tIns="1828800" rIns="0" bIns="0" rtlCol="0" anchor="t" anchorCtr="0">
            <a:noAutofit/>
          </a:bodyPr>
          <a:lstStyle>
            <a:lvl1pPr marL="0" indent="0" algn="ctr">
              <a:buNone/>
              <a:defRPr lang="en-US" sz="1400" b="1">
                <a:solidFill>
                  <a:schemeClr val="bg1"/>
                </a:solidFill>
              </a:defRPr>
            </a:lvl1pPr>
          </a:lstStyle>
          <a:p>
            <a:r>
              <a:rPr lang="en-US"/>
              <a:t>Drag &amp; drop your photo here </a:t>
            </a:r>
            <a:br>
              <a:rPr lang="en-US"/>
            </a:br>
            <a:r>
              <a:rPr lang="en-US"/>
              <a:t>or click or tap icon below </a:t>
            </a:r>
            <a:br>
              <a:rPr lang="en-US"/>
            </a:br>
            <a:r>
              <a:rPr lang="en-US"/>
              <a:t>to insert</a:t>
            </a:r>
          </a:p>
        </p:txBody>
      </p:sp>
      <p:sp>
        <p:nvSpPr>
          <p:cNvPr id="15" name="Title 4">
            <a:extLst>
              <a:ext uri="{FF2B5EF4-FFF2-40B4-BE49-F238E27FC236}">
                <a16:creationId xmlns:a16="http://schemas.microsoft.com/office/drawing/2014/main" id="{6CBB78EA-B6AB-046F-E459-66F99F6F9E14}"/>
              </a:ext>
              <a:ext uri="{C183D7F6-B498-43B3-948B-1728B52AA6E4}">
                <adec:decorative xmlns:adec="http://schemas.microsoft.com/office/drawing/2017/decorative" val="1"/>
              </a:ext>
            </a:extLst>
          </p:cNvPr>
          <p:cNvSpPr txBox="1"/>
          <p:nvPr userDrawn="1"/>
        </p:nvSpPr>
        <p:spPr>
          <a:xfrm>
            <a:off x="-12700" y="585788"/>
            <a:ext cx="4114800" cy="1828800"/>
          </a:xfrm>
          <a:prstGeom prst="rect">
            <a:avLst/>
          </a:prstGeom>
          <a:solidFill>
            <a:srgbClr val="FFFFFF"/>
          </a:solidFill>
          <a:ln w="12700">
            <a:miter lim="400000"/>
          </a:ln>
        </p:spPr>
        <p:txBody>
          <a:bodyPr lIns="0" tIns="0" rIns="0" bIns="0" anchor="ctr"/>
          <a:lstStyle/>
          <a:p>
            <a:pPr indent="139700" defTabSz="932741">
              <a:lnSpc>
                <a:spcPts val="6400"/>
              </a:lnSpc>
              <a:defRPr sz="5600" spc="-350">
                <a:solidFill>
                  <a:srgbClr val="FFFFFF"/>
                </a:solidFill>
                <a:latin typeface="Segoe UI Semilight"/>
                <a:ea typeface="Segoe UI Semilight"/>
                <a:cs typeface="Segoe UI Semilight"/>
                <a:sym typeface="Segoe UI Semilight"/>
              </a:defRPr>
            </a:pPr>
            <a:endParaRPr/>
          </a:p>
        </p:txBody>
      </p:sp>
    </p:spTree>
    <p:extLst>
      <p:ext uri="{BB962C8B-B14F-4D97-AF65-F5344CB8AC3E}">
        <p14:creationId xmlns:p14="http://schemas.microsoft.com/office/powerpoint/2010/main" val="29794966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528">
          <p15:clr>
            <a:srgbClr val="FBAE40"/>
          </p15:clr>
        </p15:guide>
        <p15:guide id="3" pos="316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159553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47858352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06043AB4-6144-4112-AF92-B9D02861E72C}"/>
              </a:ext>
            </a:extLst>
          </p:cNvPr>
          <p:cNvSpPr>
            <a:spLocks noGrp="1"/>
          </p:cNvSpPr>
          <p:nvPr>
            <p:ph type="title"/>
          </p:nvPr>
        </p:nvSpPr>
        <p:spPr>
          <a:xfrm>
            <a:off x="588263" y="457200"/>
            <a:ext cx="11018520" cy="553998"/>
          </a:xfrm>
          <a:prstGeom prst="rect">
            <a:avLst/>
          </a:prstGeom>
        </p:spPr>
        <p:txBody>
          <a:bodyPr lIns="0" tIns="0" rIns="0" bIns="0"/>
          <a:lstStyle>
            <a:lvl1pPr>
              <a:lnSpc>
                <a:spcPct val="90000"/>
              </a:lnSpc>
              <a:defRPr sz="4000">
                <a:solidFill>
                  <a:schemeClr val="tx1"/>
                </a:solidFill>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3329918242"/>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81716642"/>
      </p:ext>
    </p:extLst>
  </p:cSld>
  <p:clrMapOvr>
    <a:masterClrMapping/>
  </p:clrMapOvr>
  <p:transition>
    <p:fade/>
  </p:transition>
  <p:extLst>
    <p:ext uri="{DCECCB84-F9BA-43D5-87BE-67443E8EF086}">
      <p15:sldGuideLst xmlns:p15="http://schemas.microsoft.com/office/powerpoint/2012/main">
        <p15:guide id="2" orient="horz" pos="1297">
          <p15:clr>
            <a:srgbClr val="5ACBF0"/>
          </p15:clr>
        </p15:guide>
        <p15:guide id="3" orient="horz" pos="294">
          <p15:clr>
            <a:srgbClr val="5ACBF0"/>
          </p15:clr>
        </p15:guide>
        <p15:guide id="5" orient="horz" pos="922">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lvl1pPr>
              <a:defRPr sz="3600">
                <a:solidFill>
                  <a:schemeClr val="accent1"/>
                </a:solidFill>
              </a:defRPr>
            </a:lvl1pPr>
          </a:lstStyle>
          <a:p>
            <a:r>
              <a:rPr lang="en-US"/>
              <a:t>Click to edit Master title style</a:t>
            </a:r>
          </a:p>
        </p:txBody>
      </p:sp>
      <p:sp>
        <p:nvSpPr>
          <p:cNvPr id="3" name="TextBox 2">
            <a:extLst>
              <a:ext uri="{FF2B5EF4-FFF2-40B4-BE49-F238E27FC236}">
                <a16:creationId xmlns:a16="http://schemas.microsoft.com/office/drawing/2014/main" id="{9F83E0FE-9DB3-C23F-7503-1B8007ED18AF}"/>
              </a:ext>
            </a:extLst>
          </p:cNvPr>
          <p:cNvSpPr txBox="1"/>
          <p:nvPr userDrawn="1"/>
        </p:nvSpPr>
        <p:spPr>
          <a:xfrm>
            <a:off x="585216" y="6573086"/>
            <a:ext cx="6810374" cy="138499"/>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600"/>
              </a:spcBef>
              <a:spcAft>
                <a:spcPts val="1200"/>
              </a:spcAft>
              <a:buClrTx/>
              <a:buSzTx/>
              <a:buFont typeface="Symbol" panose="05050102010706020507" pitchFamily="18" charset="2"/>
              <a:buNone/>
              <a:tabLst/>
              <a:defRPr/>
            </a:pPr>
            <a:r>
              <a:rPr kumimoji="0" lang="en-US" sz="900" b="0" i="0" u="none" strike="noStrike" kern="100" cap="none" spc="0" normalizeH="0" baseline="0" noProof="0">
                <a:ln>
                  <a:noFill/>
                </a:ln>
                <a:solidFill>
                  <a:srgbClr val="454142"/>
                </a:solidFill>
                <a:effectLst/>
                <a:uLnTx/>
                <a:uFillTx/>
                <a:latin typeface="Segoe Sans Display"/>
                <a:ea typeface="Segoe UI" panose="020B0502040204020203" pitchFamily="34" charset="0"/>
                <a:cs typeface="Times New Roman" panose="02020603050405020304" pitchFamily="18" charset="0"/>
              </a:rPr>
              <a:t>©2025 Microsoft Corporation. All rights reserved.</a:t>
            </a:r>
          </a:p>
        </p:txBody>
      </p:sp>
    </p:spTree>
    <p:extLst>
      <p:ext uri="{BB962C8B-B14F-4D97-AF65-F5344CB8AC3E}">
        <p14:creationId xmlns:p14="http://schemas.microsoft.com/office/powerpoint/2010/main" val="18332965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77">
            <a:extLst>
              <a:ext uri="{96DAC541-7B7A-43D3-8B79-37D633B846F1}">
                <asvg:svgBlip xmlns:asvg="http://schemas.microsoft.com/office/drawing/2016/SVG/main" r:embed="rId78"/>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0761835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17_B2A7F5DC.xml"/><Relationship Id="rId7" Type="http://schemas.openxmlformats.org/officeDocument/2006/relationships/diagramQuickStyle" Target="../diagrams/quickStyle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0.jpe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8.xml"/><Relationship Id="rId1" Type="http://schemas.openxmlformats.org/officeDocument/2006/relationships/slideLayout" Target="../slideLayouts/slideLayout75.xml"/><Relationship Id="rId6" Type="http://schemas.openxmlformats.org/officeDocument/2006/relationships/image" Target="../media/image34.png"/><Relationship Id="rId5" Type="http://schemas.openxmlformats.org/officeDocument/2006/relationships/image" Target="../media/image33.jpeg"/><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hyperlink" Target="https://www.mckinsey.com/capabilities/quantumblack/our-insights/the-state-of-ai" TargetMode="External"/><Relationship Id="rId2" Type="http://schemas.openxmlformats.org/officeDocument/2006/relationships/notesSlide" Target="../notesSlides/notesSlide9.xml"/><Relationship Id="rId1" Type="http://schemas.openxmlformats.org/officeDocument/2006/relationships/slideLayout" Target="../slideLayouts/slideLayout75.xml"/><Relationship Id="rId6" Type="http://schemas.openxmlformats.org/officeDocument/2006/relationships/hyperlink" Target="https://www.gartner.com/en/documents/4465799" TargetMode="External"/><Relationship Id="rId5" Type="http://schemas.openxmlformats.org/officeDocument/2006/relationships/hyperlink" Target="https://www.adeccogroup.com/our-group/media/press-releases/only-ten-percent-of-c-suite-leaders-say-their-companies-are-ready-for-ai-disruption" TargetMode="External"/><Relationship Id="rId4" Type="http://schemas.openxmlformats.org/officeDocument/2006/relationships/hyperlink" Target="https://www.bcg.com/press/24october2024-ai-adoption-in-2024-74-of-companies-struggle-to-achieve-and-scale-valu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mckinsey.com/capabilities/quantumblack/our-insights/the-state-of-ai" TargetMode="External"/><Relationship Id="rId7" Type="http://schemas.openxmlformats.org/officeDocument/2006/relationships/hyperlink" Target="https://tdwi.org/articles/2022/03/31/comet-survey-ai-challenges.aspx" TargetMode="External"/><Relationship Id="rId2" Type="http://schemas.openxmlformats.org/officeDocument/2006/relationships/notesSlide" Target="../notesSlides/notesSlide10.xml"/><Relationship Id="rId1" Type="http://schemas.openxmlformats.org/officeDocument/2006/relationships/slideLayout" Target="../slideLayouts/slideLayout75.xml"/><Relationship Id="rId6" Type="http://schemas.openxmlformats.org/officeDocument/2006/relationships/hyperlink" Target="https://www.gartner.com/en/documents/4465799" TargetMode="External"/><Relationship Id="rId5" Type="http://schemas.openxmlformats.org/officeDocument/2006/relationships/hyperlink" Target="https://www.adeccogroup.com/our-group/media/press-releases/only-ten-percent-of-c-suite-leaders-say-their-companies-are-ready-for-ai-disruption" TargetMode="External"/><Relationship Id="rId4" Type="http://schemas.openxmlformats.org/officeDocument/2006/relationships/hyperlink" Target="https://www.bcg.com/press/24october2024-ai-adoption-in-2024-74-of-companies-struggle-to-achieve-and-scale-value"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microsoft.com/office/2018/10/relationships/comments" Target="../comments/modernComment_7FFFF7BB_972C68E4.xml"/><Relationship Id="rId7" Type="http://schemas.openxmlformats.org/officeDocument/2006/relationships/image" Target="../media/image38.sv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6024B-C020-351C-DA98-8C0D35A407F7}"/>
              </a:ext>
            </a:extLst>
          </p:cNvPr>
          <p:cNvSpPr>
            <a:spLocks noGrp="1"/>
          </p:cNvSpPr>
          <p:nvPr>
            <p:ph type="title"/>
          </p:nvPr>
        </p:nvSpPr>
        <p:spPr/>
        <p:txBody>
          <a:bodyPr/>
          <a:lstStyle/>
          <a:p>
            <a:r>
              <a:rPr lang="en-GB"/>
              <a:t>AI Transformation Initiative</a:t>
            </a:r>
            <a:endParaRPr lang="en-DE"/>
          </a:p>
        </p:txBody>
      </p:sp>
      <p:sp>
        <p:nvSpPr>
          <p:cNvPr id="3" name="Text Placeholder 2">
            <a:extLst>
              <a:ext uri="{FF2B5EF4-FFF2-40B4-BE49-F238E27FC236}">
                <a16:creationId xmlns:a16="http://schemas.microsoft.com/office/drawing/2014/main" id="{AFDC5F1A-328C-DFF0-2BAC-F30336329000}"/>
              </a:ext>
            </a:extLst>
          </p:cNvPr>
          <p:cNvSpPr>
            <a:spLocks noGrp="1"/>
          </p:cNvSpPr>
          <p:nvPr>
            <p:ph type="body" sz="quarter" idx="12"/>
          </p:nvPr>
        </p:nvSpPr>
        <p:spPr/>
        <p:txBody>
          <a:bodyPr/>
          <a:lstStyle/>
          <a:p>
            <a:r>
              <a:rPr lang="en-GB"/>
              <a:t>Driving AI Success for our Customers</a:t>
            </a:r>
            <a:endParaRPr lang="en-DE"/>
          </a:p>
        </p:txBody>
      </p:sp>
    </p:spTree>
    <p:extLst>
      <p:ext uri="{BB962C8B-B14F-4D97-AF65-F5344CB8AC3E}">
        <p14:creationId xmlns:p14="http://schemas.microsoft.com/office/powerpoint/2010/main" val="3097782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26A8-7757-6108-2AA0-E47C07CF07F8}"/>
              </a:ext>
            </a:extLst>
          </p:cNvPr>
          <p:cNvSpPr>
            <a:spLocks noGrp="1"/>
          </p:cNvSpPr>
          <p:nvPr>
            <p:ph type="title"/>
          </p:nvPr>
        </p:nvSpPr>
        <p:spPr/>
        <p:txBody>
          <a:bodyPr/>
          <a:lstStyle/>
          <a:p>
            <a:r>
              <a:rPr lang="en-US"/>
              <a:t>Welcome to the AI Transformation offer!</a:t>
            </a:r>
          </a:p>
        </p:txBody>
      </p:sp>
      <p:sp>
        <p:nvSpPr>
          <p:cNvPr id="3" name="Rectangle: Rounded Corners 2">
            <a:extLst>
              <a:ext uri="{FF2B5EF4-FFF2-40B4-BE49-F238E27FC236}">
                <a16:creationId xmlns:a16="http://schemas.microsoft.com/office/drawing/2014/main" id="{63BA0DFC-496E-7761-E51C-B8CAF3D0ABCC}"/>
              </a:ext>
            </a:extLst>
          </p:cNvPr>
          <p:cNvSpPr/>
          <p:nvPr/>
        </p:nvSpPr>
        <p:spPr bwMode="auto">
          <a:xfrm>
            <a:off x="573634" y="1614986"/>
            <a:ext cx="11049000" cy="3502376"/>
          </a:xfrm>
          <a:prstGeom prst="roundRect">
            <a:avLst>
              <a:gd name="adj" fmla="val 3813"/>
            </a:avLst>
          </a:prstGeom>
          <a:solidFill>
            <a:srgbClr val="F6F1ED">
              <a:alpha val="50000"/>
            </a:srgbClr>
          </a:solidFill>
          <a:ln w="6350">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Sans Display"/>
              <a:ea typeface="+mn-ea"/>
              <a:cs typeface="+mn-cs"/>
            </a:endParaRPr>
          </a:p>
        </p:txBody>
      </p:sp>
      <p:sp>
        <p:nvSpPr>
          <p:cNvPr id="4" name="Oval 3">
            <a:extLst>
              <a:ext uri="{FF2B5EF4-FFF2-40B4-BE49-F238E27FC236}">
                <a16:creationId xmlns:a16="http://schemas.microsoft.com/office/drawing/2014/main" id="{6D36ACAC-3075-352C-4F2A-2AE6700602D3}"/>
              </a:ext>
            </a:extLst>
          </p:cNvPr>
          <p:cNvSpPr/>
          <p:nvPr/>
        </p:nvSpPr>
        <p:spPr bwMode="auto">
          <a:xfrm>
            <a:off x="971643" y="2194590"/>
            <a:ext cx="2343168" cy="2343168"/>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a:ln>
                  <a:noFill/>
                </a:ln>
                <a:solidFill>
                  <a:srgbClr val="702573"/>
                </a:solidFill>
                <a:effectLst/>
                <a:uLnTx/>
                <a:uFillTx/>
                <a:latin typeface="Segoe Sans Display Semibold"/>
                <a:ea typeface="+mn-ea"/>
                <a:cs typeface="+mn-cs"/>
              </a:rPr>
              <a:t>Joint Strategy </a:t>
            </a:r>
          </a:p>
        </p:txBody>
      </p:sp>
      <p:sp>
        <p:nvSpPr>
          <p:cNvPr id="5" name="Oval 4">
            <a:extLst>
              <a:ext uri="{FF2B5EF4-FFF2-40B4-BE49-F238E27FC236}">
                <a16:creationId xmlns:a16="http://schemas.microsoft.com/office/drawing/2014/main" id="{95F8E6E5-1684-4483-90D3-8ABBAAF17D90}"/>
              </a:ext>
            </a:extLst>
          </p:cNvPr>
          <p:cNvSpPr/>
          <p:nvPr/>
        </p:nvSpPr>
        <p:spPr bwMode="auto">
          <a:xfrm>
            <a:off x="3606326" y="2194590"/>
            <a:ext cx="2343168" cy="2343168"/>
          </a:xfrm>
          <a:prstGeom prst="ellipse">
            <a:avLst/>
          </a:prstGeom>
          <a:solidFill>
            <a:schemeClr val="bg1">
              <a:alpha val="70000"/>
            </a:schemeClr>
          </a:solidFill>
          <a:ln w="6350">
            <a:solidFill>
              <a:srgbClr val="E4CDD4"/>
            </a:soli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a:ln>
                  <a:noFill/>
                </a:ln>
                <a:solidFill>
                  <a:srgbClr val="AA588B"/>
                </a:solidFill>
                <a:effectLst/>
                <a:uLnTx/>
                <a:uFillTx/>
                <a:latin typeface="Segoe Sans Display Semibold"/>
                <a:ea typeface="+mn-ea"/>
                <a:cs typeface="+mn-cs"/>
              </a:rPr>
              <a:t>Proven Approach</a:t>
            </a:r>
          </a:p>
        </p:txBody>
      </p:sp>
      <p:sp>
        <p:nvSpPr>
          <p:cNvPr id="6" name="Oval 5">
            <a:extLst>
              <a:ext uri="{FF2B5EF4-FFF2-40B4-BE49-F238E27FC236}">
                <a16:creationId xmlns:a16="http://schemas.microsoft.com/office/drawing/2014/main" id="{5FCB584C-360E-29BB-97F1-D6FB61740323}"/>
              </a:ext>
            </a:extLst>
          </p:cNvPr>
          <p:cNvSpPr/>
          <p:nvPr/>
        </p:nvSpPr>
        <p:spPr bwMode="auto">
          <a:xfrm>
            <a:off x="6241009" y="2194590"/>
            <a:ext cx="2343168" cy="2343168"/>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a:ln>
                  <a:noFill/>
                </a:ln>
                <a:solidFill>
                  <a:srgbClr val="CC9180"/>
                </a:solidFill>
                <a:effectLst/>
                <a:uLnTx/>
                <a:uFillTx/>
                <a:latin typeface="Segoe Sans Display Semibold"/>
                <a:ea typeface="+mn-ea"/>
                <a:cs typeface="+mn-cs"/>
              </a:rPr>
              <a:t>Access to Funding</a:t>
            </a:r>
          </a:p>
        </p:txBody>
      </p:sp>
      <p:sp>
        <p:nvSpPr>
          <p:cNvPr id="7" name="Oval 6">
            <a:extLst>
              <a:ext uri="{FF2B5EF4-FFF2-40B4-BE49-F238E27FC236}">
                <a16:creationId xmlns:a16="http://schemas.microsoft.com/office/drawing/2014/main" id="{0BD3653C-4575-3BF4-4350-8EEAAB73621B}"/>
              </a:ext>
            </a:extLst>
          </p:cNvPr>
          <p:cNvSpPr/>
          <p:nvPr/>
        </p:nvSpPr>
        <p:spPr bwMode="auto">
          <a:xfrm>
            <a:off x="8875691" y="2194590"/>
            <a:ext cx="2343168" cy="2343168"/>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2400" b="0" i="0" u="none" strike="noStrike" kern="1200" cap="none" spc="0" normalizeH="0" baseline="0" noProof="0">
                <a:ln>
                  <a:noFill/>
                </a:ln>
                <a:solidFill>
                  <a:srgbClr val="4CB1FE"/>
                </a:solidFill>
                <a:effectLst/>
                <a:uLnTx/>
                <a:uFillTx/>
                <a:latin typeface="Segoe Sans Display Semibold"/>
                <a:ea typeface="+mn-ea"/>
                <a:cs typeface="+mn-cs"/>
              </a:rPr>
              <a:t>Co-delivery with Microsoft</a:t>
            </a:r>
          </a:p>
        </p:txBody>
      </p:sp>
      <p:sp>
        <p:nvSpPr>
          <p:cNvPr id="8" name="Oval 7">
            <a:extLst>
              <a:ext uri="{FF2B5EF4-FFF2-40B4-BE49-F238E27FC236}">
                <a16:creationId xmlns:a16="http://schemas.microsoft.com/office/drawing/2014/main" id="{8394EF5D-741A-6086-0FBF-0AA4C3AEF1A3}"/>
              </a:ext>
            </a:extLst>
          </p:cNvPr>
          <p:cNvSpPr/>
          <p:nvPr/>
        </p:nvSpPr>
        <p:spPr bwMode="auto">
          <a:xfrm>
            <a:off x="614182" y="3150819"/>
            <a:ext cx="430709" cy="430709"/>
          </a:xfrm>
          <a:prstGeom prst="ellipse">
            <a:avLst/>
          </a:prstGeom>
          <a:solidFill>
            <a:schemeClr val="accent2">
              <a:lumMod val="60000"/>
              <a:lumOff val="40000"/>
            </a:schemeClr>
          </a:solidFill>
          <a:ln>
            <a:noFill/>
            <a:headEnd type="none" w="med" len="med"/>
            <a:tailEnd type="none" w="med" len="med"/>
          </a:ln>
          <a:effectLst>
            <a:softEdge rad="889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Display"/>
              <a:ea typeface="Segoe UI" pitchFamily="34" charset="0"/>
              <a:cs typeface="Segoe UI" pitchFamily="34" charset="0"/>
            </a:endParaRPr>
          </a:p>
        </p:txBody>
      </p:sp>
      <p:grpSp>
        <p:nvGrpSpPr>
          <p:cNvPr id="9" name="Group 8">
            <a:extLst>
              <a:ext uri="{FF2B5EF4-FFF2-40B4-BE49-F238E27FC236}">
                <a16:creationId xmlns:a16="http://schemas.microsoft.com/office/drawing/2014/main" id="{67A81B12-8B96-AAE0-52A6-F4C0EDA5F57C}"/>
              </a:ext>
            </a:extLst>
          </p:cNvPr>
          <p:cNvGrpSpPr/>
          <p:nvPr/>
        </p:nvGrpSpPr>
        <p:grpSpPr>
          <a:xfrm>
            <a:off x="829537" y="2047507"/>
            <a:ext cx="10549350" cy="2637335"/>
            <a:chOff x="827403" y="2663853"/>
            <a:chExt cx="10549350" cy="2637335"/>
          </a:xfrm>
        </p:grpSpPr>
        <p:grpSp>
          <p:nvGrpSpPr>
            <p:cNvPr id="10" name="Group 9">
              <a:extLst>
                <a:ext uri="{FF2B5EF4-FFF2-40B4-BE49-F238E27FC236}">
                  <a16:creationId xmlns:a16="http://schemas.microsoft.com/office/drawing/2014/main" id="{9140AD6F-214F-14C7-CB53-9CE0C8729E37}"/>
                </a:ext>
              </a:extLst>
            </p:cNvPr>
            <p:cNvGrpSpPr/>
            <p:nvPr/>
          </p:nvGrpSpPr>
          <p:grpSpPr>
            <a:xfrm>
              <a:off x="827403" y="2663853"/>
              <a:ext cx="5274675" cy="2637335"/>
              <a:chOff x="1046481" y="2475449"/>
              <a:chExt cx="5046980" cy="2523488"/>
            </a:xfrm>
          </p:grpSpPr>
          <p:sp>
            <p:nvSpPr>
              <p:cNvPr id="14" name="Arc 13">
                <a:extLst>
                  <a:ext uri="{FF2B5EF4-FFF2-40B4-BE49-F238E27FC236}">
                    <a16:creationId xmlns:a16="http://schemas.microsoft.com/office/drawing/2014/main" id="{6EFEB738-9372-38B8-BFA7-ADD9027A0669}"/>
                  </a:ext>
                </a:extLst>
              </p:cNvPr>
              <p:cNvSpPr/>
              <p:nvPr/>
            </p:nvSpPr>
            <p:spPr bwMode="auto">
              <a:xfrm>
                <a:off x="1046481" y="2475449"/>
                <a:ext cx="2523490" cy="2523488"/>
              </a:xfrm>
              <a:prstGeom prst="arc">
                <a:avLst>
                  <a:gd name="adj1" fmla="val 10828891"/>
                  <a:gd name="adj2" fmla="val 0"/>
                </a:avLst>
              </a:prstGeom>
              <a:noFill/>
              <a:ln w="44450">
                <a:gradFill flip="none" rotWithShape="1">
                  <a:gsLst>
                    <a:gs pos="100000">
                      <a:schemeClr val="accent2">
                        <a:lumMod val="75000"/>
                      </a:schemeClr>
                    </a:gs>
                    <a:gs pos="0">
                      <a:schemeClr val="accent2">
                        <a:lumMod val="75000"/>
                      </a:schemeClr>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5" name="Arc 14">
                <a:extLst>
                  <a:ext uri="{FF2B5EF4-FFF2-40B4-BE49-F238E27FC236}">
                    <a16:creationId xmlns:a16="http://schemas.microsoft.com/office/drawing/2014/main" id="{059AA266-1186-6A86-B28B-E5B41260E182}"/>
                  </a:ext>
                </a:extLst>
              </p:cNvPr>
              <p:cNvSpPr/>
              <p:nvPr/>
            </p:nvSpPr>
            <p:spPr bwMode="auto">
              <a:xfrm flipV="1">
                <a:off x="3569971" y="2475449"/>
                <a:ext cx="2523490" cy="2523488"/>
              </a:xfrm>
              <a:prstGeom prst="arc">
                <a:avLst>
                  <a:gd name="adj1" fmla="val 10779962"/>
                  <a:gd name="adj2" fmla="val 0"/>
                </a:avLst>
              </a:prstGeom>
              <a:noFill/>
              <a:ln w="44450">
                <a:gradFill flip="none" rotWithShape="1">
                  <a:gsLst>
                    <a:gs pos="3000">
                      <a:schemeClr val="accent2">
                        <a:lumMod val="75000"/>
                      </a:schemeClr>
                    </a:gs>
                    <a:gs pos="71000">
                      <a:srgbClr val="CC9180"/>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nvGrpSpPr>
            <p:cNvPr id="11" name="Group 10">
              <a:extLst>
                <a:ext uri="{FF2B5EF4-FFF2-40B4-BE49-F238E27FC236}">
                  <a16:creationId xmlns:a16="http://schemas.microsoft.com/office/drawing/2014/main" id="{075621CF-3498-4891-A741-C2B1AC76697A}"/>
                </a:ext>
              </a:extLst>
            </p:cNvPr>
            <p:cNvGrpSpPr/>
            <p:nvPr/>
          </p:nvGrpSpPr>
          <p:grpSpPr>
            <a:xfrm>
              <a:off x="6102078" y="2663853"/>
              <a:ext cx="5274675" cy="2637335"/>
              <a:chOff x="1046481" y="2475449"/>
              <a:chExt cx="5046980" cy="2523488"/>
            </a:xfrm>
          </p:grpSpPr>
          <p:sp>
            <p:nvSpPr>
              <p:cNvPr id="12" name="Arc 11">
                <a:extLst>
                  <a:ext uri="{FF2B5EF4-FFF2-40B4-BE49-F238E27FC236}">
                    <a16:creationId xmlns:a16="http://schemas.microsoft.com/office/drawing/2014/main" id="{ECC14223-B5CB-571B-8950-67E9A6409EB0}"/>
                  </a:ext>
                </a:extLst>
              </p:cNvPr>
              <p:cNvSpPr/>
              <p:nvPr/>
            </p:nvSpPr>
            <p:spPr bwMode="auto">
              <a:xfrm>
                <a:off x="1046481" y="2475449"/>
                <a:ext cx="2523490" cy="2523488"/>
              </a:xfrm>
              <a:prstGeom prst="arc">
                <a:avLst>
                  <a:gd name="adj1" fmla="val 10779962"/>
                  <a:gd name="adj2" fmla="val 0"/>
                </a:avLst>
              </a:prstGeom>
              <a:noFill/>
              <a:ln w="44450">
                <a:gradFill flip="none" rotWithShape="1">
                  <a:gsLst>
                    <a:gs pos="1000">
                      <a:schemeClr val="accent4">
                        <a:lumMod val="75000"/>
                      </a:schemeClr>
                    </a:gs>
                    <a:gs pos="45000">
                      <a:srgbClr val="CC9180"/>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3" name="Arc 12">
                <a:extLst>
                  <a:ext uri="{FF2B5EF4-FFF2-40B4-BE49-F238E27FC236}">
                    <a16:creationId xmlns:a16="http://schemas.microsoft.com/office/drawing/2014/main" id="{7F7E406B-7EC4-37D2-40E5-D2243B4FF54E}"/>
                  </a:ext>
                </a:extLst>
              </p:cNvPr>
              <p:cNvSpPr/>
              <p:nvPr/>
            </p:nvSpPr>
            <p:spPr bwMode="auto">
              <a:xfrm flipV="1">
                <a:off x="3569971" y="2475449"/>
                <a:ext cx="2523490" cy="2523488"/>
              </a:xfrm>
              <a:prstGeom prst="arc">
                <a:avLst>
                  <a:gd name="adj1" fmla="val 10779962"/>
                  <a:gd name="adj2" fmla="val 35732"/>
                </a:avLst>
              </a:prstGeom>
              <a:noFill/>
              <a:ln w="44450">
                <a:gradFill flip="none" rotWithShape="1">
                  <a:gsLst>
                    <a:gs pos="0">
                      <a:schemeClr val="accent4">
                        <a:lumMod val="75000"/>
                      </a:schemeClr>
                    </a:gs>
                    <a:gs pos="44000">
                      <a:schemeClr val="accent3">
                        <a:lumMod val="60000"/>
                        <a:lumOff val="40000"/>
                      </a:schemeClr>
                    </a:gs>
                  </a:gsLst>
                  <a:lin ang="0" scaled="1"/>
                  <a:tileRect/>
                </a:gra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16" name="Oval 15">
            <a:extLst>
              <a:ext uri="{FF2B5EF4-FFF2-40B4-BE49-F238E27FC236}">
                <a16:creationId xmlns:a16="http://schemas.microsoft.com/office/drawing/2014/main" id="{6065EAB5-8D5D-1A37-434E-9CB9B3E055AE}"/>
              </a:ext>
            </a:extLst>
          </p:cNvPr>
          <p:cNvSpPr/>
          <p:nvPr/>
        </p:nvSpPr>
        <p:spPr bwMode="auto">
          <a:xfrm>
            <a:off x="725788" y="3265239"/>
            <a:ext cx="211391" cy="211391"/>
          </a:xfrm>
          <a:prstGeom prst="ellipse">
            <a:avLst/>
          </a:prstGeom>
          <a:solidFill>
            <a:srgbClr val="902C9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4169929729"/>
      </p:ext>
    </p:extLst>
  </p:cSld>
  <p:clrMapOvr>
    <a:masterClrMapping/>
  </p:clrMapOvr>
  <p:transition>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0" presetID="2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2500"/>
                                            <p:tgtEl>
                                              <p:spTgt spid="9"/>
                                            </p:tgtEl>
                                          </p:cBhvr>
                                        </p:animEffect>
                                      </p:childTnLst>
                                    </p:cTn>
                                  </p:par>
                                  <p:par>
                                    <p:cTn id="13" presetID="53" presetClass="entr" presetSubtype="16" fill="hold" grpId="0"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p:cTn id="15" dur="750" fill="hold"/>
                                            <p:tgtEl>
                                              <p:spTgt spid="4"/>
                                            </p:tgtEl>
                                            <p:attrNameLst>
                                              <p:attrName>ppt_w</p:attrName>
                                            </p:attrNameLst>
                                          </p:cBhvr>
                                          <p:tavLst>
                                            <p:tav tm="0">
                                              <p:val>
                                                <p:fltVal val="0"/>
                                              </p:val>
                                            </p:tav>
                                            <p:tav tm="100000">
                                              <p:val>
                                                <p:strVal val="#ppt_w"/>
                                              </p:val>
                                            </p:tav>
                                          </p:tavLst>
                                        </p:anim>
                                        <p:anim calcmode="lin" valueType="num">
                                          <p:cBhvr>
                                            <p:cTn id="16" dur="750" fill="hold"/>
                                            <p:tgtEl>
                                              <p:spTgt spid="4"/>
                                            </p:tgtEl>
                                            <p:attrNameLst>
                                              <p:attrName>ppt_h</p:attrName>
                                            </p:attrNameLst>
                                          </p:cBhvr>
                                          <p:tavLst>
                                            <p:tav tm="0">
                                              <p:val>
                                                <p:fltVal val="0"/>
                                              </p:val>
                                            </p:tav>
                                            <p:tav tm="100000">
                                              <p:val>
                                                <p:strVal val="#ppt_h"/>
                                              </p:val>
                                            </p:tav>
                                          </p:tavLst>
                                        </p:anim>
                                        <p:animEffect transition="in" filter="fade">
                                          <p:cBhvr>
                                            <p:cTn id="17" dur="750"/>
                                            <p:tgtEl>
                                              <p:spTgt spid="4"/>
                                            </p:tgtEl>
                                          </p:cBhvr>
                                        </p:animEffect>
                                      </p:childTnLst>
                                    </p:cTn>
                                  </p:par>
                                  <p:par>
                                    <p:cTn id="18" presetID="6" presetClass="emph" presetSubtype="0" fill="hold" grpId="1" nodeType="withEffect" p14:presetBounceEnd="8000">
                                      <p:stCondLst>
                                        <p:cond delay="750"/>
                                      </p:stCondLst>
                                      <p:childTnLst>
                                        <p:animScale p14:bounceEnd="8000">
                                          <p:cBhvr>
                                            <p:cTn id="19" dur="500" fill="hold"/>
                                            <p:tgtEl>
                                              <p:spTgt spid="4"/>
                                            </p:tgtEl>
                                          </p:cBhvr>
                                          <p:by x="95000" y="95000"/>
                                        </p:animScale>
                                      </p:childTnLst>
                                    </p:cTn>
                                  </p:par>
                                  <p:par>
                                    <p:cTn id="20" presetID="53" presetClass="entr" presetSubtype="16" fill="hold" grpId="0" nodeType="withEffect">
                                      <p:stCondLst>
                                        <p:cond delay="750"/>
                                      </p:stCondLst>
                                      <p:childTnLst>
                                        <p:set>
                                          <p:cBhvr>
                                            <p:cTn id="21" dur="1" fill="hold">
                                              <p:stCondLst>
                                                <p:cond delay="0"/>
                                              </p:stCondLst>
                                            </p:cTn>
                                            <p:tgtEl>
                                              <p:spTgt spid="5"/>
                                            </p:tgtEl>
                                            <p:attrNameLst>
                                              <p:attrName>style.visibility</p:attrName>
                                            </p:attrNameLst>
                                          </p:cBhvr>
                                          <p:to>
                                            <p:strVal val="visible"/>
                                          </p:to>
                                        </p:set>
                                        <p:anim calcmode="lin" valueType="num">
                                          <p:cBhvr>
                                            <p:cTn id="22" dur="750" fill="hold"/>
                                            <p:tgtEl>
                                              <p:spTgt spid="5"/>
                                            </p:tgtEl>
                                            <p:attrNameLst>
                                              <p:attrName>ppt_w</p:attrName>
                                            </p:attrNameLst>
                                          </p:cBhvr>
                                          <p:tavLst>
                                            <p:tav tm="0">
                                              <p:val>
                                                <p:fltVal val="0"/>
                                              </p:val>
                                            </p:tav>
                                            <p:tav tm="100000">
                                              <p:val>
                                                <p:strVal val="#ppt_w"/>
                                              </p:val>
                                            </p:tav>
                                          </p:tavLst>
                                        </p:anim>
                                        <p:anim calcmode="lin" valueType="num">
                                          <p:cBhvr>
                                            <p:cTn id="23" dur="750" fill="hold"/>
                                            <p:tgtEl>
                                              <p:spTgt spid="5"/>
                                            </p:tgtEl>
                                            <p:attrNameLst>
                                              <p:attrName>ppt_h</p:attrName>
                                            </p:attrNameLst>
                                          </p:cBhvr>
                                          <p:tavLst>
                                            <p:tav tm="0">
                                              <p:val>
                                                <p:fltVal val="0"/>
                                              </p:val>
                                            </p:tav>
                                            <p:tav tm="100000">
                                              <p:val>
                                                <p:strVal val="#ppt_h"/>
                                              </p:val>
                                            </p:tav>
                                          </p:tavLst>
                                        </p:anim>
                                        <p:animEffect transition="in" filter="fade">
                                          <p:cBhvr>
                                            <p:cTn id="24" dur="750"/>
                                            <p:tgtEl>
                                              <p:spTgt spid="5"/>
                                            </p:tgtEl>
                                          </p:cBhvr>
                                        </p:animEffect>
                                      </p:childTnLst>
                                    </p:cTn>
                                  </p:par>
                                  <p:par>
                                    <p:cTn id="25" presetID="6" presetClass="emph" presetSubtype="0" fill="hold" grpId="1" nodeType="withEffect" p14:presetBounceEnd="8000">
                                      <p:stCondLst>
                                        <p:cond delay="1250"/>
                                      </p:stCondLst>
                                      <p:childTnLst>
                                        <p:animScale p14:bounceEnd="8000">
                                          <p:cBhvr>
                                            <p:cTn id="26" dur="500" fill="hold"/>
                                            <p:tgtEl>
                                              <p:spTgt spid="5"/>
                                            </p:tgtEl>
                                          </p:cBhvr>
                                          <p:by x="95000" y="95000"/>
                                        </p:animScale>
                                      </p:childTnLst>
                                    </p:cTn>
                                  </p:par>
                                  <p:par>
                                    <p:cTn id="27" presetID="53" presetClass="entr" presetSubtype="16" fill="hold" grpId="0" nodeType="withEffect">
                                      <p:stCondLst>
                                        <p:cond delay="1000"/>
                                      </p:stCondLst>
                                      <p:childTnLst>
                                        <p:set>
                                          <p:cBhvr>
                                            <p:cTn id="28" dur="1" fill="hold">
                                              <p:stCondLst>
                                                <p:cond delay="0"/>
                                              </p:stCondLst>
                                            </p:cTn>
                                            <p:tgtEl>
                                              <p:spTgt spid="6"/>
                                            </p:tgtEl>
                                            <p:attrNameLst>
                                              <p:attrName>style.visibility</p:attrName>
                                            </p:attrNameLst>
                                          </p:cBhvr>
                                          <p:to>
                                            <p:strVal val="visible"/>
                                          </p:to>
                                        </p:set>
                                        <p:anim calcmode="lin" valueType="num">
                                          <p:cBhvr>
                                            <p:cTn id="29" dur="750" fill="hold"/>
                                            <p:tgtEl>
                                              <p:spTgt spid="6"/>
                                            </p:tgtEl>
                                            <p:attrNameLst>
                                              <p:attrName>ppt_w</p:attrName>
                                            </p:attrNameLst>
                                          </p:cBhvr>
                                          <p:tavLst>
                                            <p:tav tm="0">
                                              <p:val>
                                                <p:fltVal val="0"/>
                                              </p:val>
                                            </p:tav>
                                            <p:tav tm="100000">
                                              <p:val>
                                                <p:strVal val="#ppt_w"/>
                                              </p:val>
                                            </p:tav>
                                          </p:tavLst>
                                        </p:anim>
                                        <p:anim calcmode="lin" valueType="num">
                                          <p:cBhvr>
                                            <p:cTn id="30" dur="750" fill="hold"/>
                                            <p:tgtEl>
                                              <p:spTgt spid="6"/>
                                            </p:tgtEl>
                                            <p:attrNameLst>
                                              <p:attrName>ppt_h</p:attrName>
                                            </p:attrNameLst>
                                          </p:cBhvr>
                                          <p:tavLst>
                                            <p:tav tm="0">
                                              <p:val>
                                                <p:fltVal val="0"/>
                                              </p:val>
                                            </p:tav>
                                            <p:tav tm="100000">
                                              <p:val>
                                                <p:strVal val="#ppt_h"/>
                                              </p:val>
                                            </p:tav>
                                          </p:tavLst>
                                        </p:anim>
                                        <p:animEffect transition="in" filter="fade">
                                          <p:cBhvr>
                                            <p:cTn id="31" dur="750"/>
                                            <p:tgtEl>
                                              <p:spTgt spid="6"/>
                                            </p:tgtEl>
                                          </p:cBhvr>
                                        </p:animEffect>
                                      </p:childTnLst>
                                    </p:cTn>
                                  </p:par>
                                  <p:par>
                                    <p:cTn id="32" presetID="6" presetClass="emph" presetSubtype="0" fill="hold" grpId="1" nodeType="withEffect" p14:presetBounceEnd="8000">
                                      <p:stCondLst>
                                        <p:cond delay="1500"/>
                                      </p:stCondLst>
                                      <p:childTnLst>
                                        <p:animScale p14:bounceEnd="8000">
                                          <p:cBhvr>
                                            <p:cTn id="33" dur="500" fill="hold"/>
                                            <p:tgtEl>
                                              <p:spTgt spid="6"/>
                                            </p:tgtEl>
                                          </p:cBhvr>
                                          <p:by x="95000" y="95000"/>
                                        </p:animScale>
                                      </p:childTnLst>
                                    </p:cTn>
                                  </p:par>
                                  <p:par>
                                    <p:cTn id="34" presetID="53" presetClass="entr" presetSubtype="16" fill="hold" grpId="0" nodeType="withEffect">
                                      <p:stCondLst>
                                        <p:cond delay="1250"/>
                                      </p:stCondLst>
                                      <p:childTnLst>
                                        <p:set>
                                          <p:cBhvr>
                                            <p:cTn id="35" dur="1" fill="hold">
                                              <p:stCondLst>
                                                <p:cond delay="0"/>
                                              </p:stCondLst>
                                            </p:cTn>
                                            <p:tgtEl>
                                              <p:spTgt spid="7"/>
                                            </p:tgtEl>
                                            <p:attrNameLst>
                                              <p:attrName>style.visibility</p:attrName>
                                            </p:attrNameLst>
                                          </p:cBhvr>
                                          <p:to>
                                            <p:strVal val="visible"/>
                                          </p:to>
                                        </p:set>
                                        <p:anim calcmode="lin" valueType="num">
                                          <p:cBhvr>
                                            <p:cTn id="36" dur="750" fill="hold"/>
                                            <p:tgtEl>
                                              <p:spTgt spid="7"/>
                                            </p:tgtEl>
                                            <p:attrNameLst>
                                              <p:attrName>ppt_w</p:attrName>
                                            </p:attrNameLst>
                                          </p:cBhvr>
                                          <p:tavLst>
                                            <p:tav tm="0">
                                              <p:val>
                                                <p:fltVal val="0"/>
                                              </p:val>
                                            </p:tav>
                                            <p:tav tm="100000">
                                              <p:val>
                                                <p:strVal val="#ppt_w"/>
                                              </p:val>
                                            </p:tav>
                                          </p:tavLst>
                                        </p:anim>
                                        <p:anim calcmode="lin" valueType="num">
                                          <p:cBhvr>
                                            <p:cTn id="37" dur="750" fill="hold"/>
                                            <p:tgtEl>
                                              <p:spTgt spid="7"/>
                                            </p:tgtEl>
                                            <p:attrNameLst>
                                              <p:attrName>ppt_h</p:attrName>
                                            </p:attrNameLst>
                                          </p:cBhvr>
                                          <p:tavLst>
                                            <p:tav tm="0">
                                              <p:val>
                                                <p:fltVal val="0"/>
                                              </p:val>
                                            </p:tav>
                                            <p:tav tm="100000">
                                              <p:val>
                                                <p:strVal val="#ppt_h"/>
                                              </p:val>
                                            </p:tav>
                                          </p:tavLst>
                                        </p:anim>
                                        <p:animEffect transition="in" filter="fade">
                                          <p:cBhvr>
                                            <p:cTn id="38" dur="750"/>
                                            <p:tgtEl>
                                              <p:spTgt spid="7"/>
                                            </p:tgtEl>
                                          </p:cBhvr>
                                        </p:animEffect>
                                      </p:childTnLst>
                                    </p:cTn>
                                  </p:par>
                                  <p:par>
                                    <p:cTn id="39" presetID="6" presetClass="emph" presetSubtype="0" fill="hold" grpId="1" nodeType="withEffect" p14:presetBounceEnd="8000">
                                      <p:stCondLst>
                                        <p:cond delay="1750"/>
                                      </p:stCondLst>
                                      <p:childTnLst>
                                        <p:animScale p14:bounceEnd="8000">
                                          <p:cBhvr>
                                            <p:cTn id="40" dur="500" fill="hold"/>
                                            <p:tgtEl>
                                              <p:spTgt spid="7"/>
                                            </p:tgtEl>
                                          </p:cBhvr>
                                          <p:by x="95000" y="95000"/>
                                        </p:animScale>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4" grpId="1" animBg="1"/>
          <p:bldP spid="5" grpId="0" animBg="1"/>
          <p:bldP spid="5" grpId="1" animBg="1"/>
          <p:bldP spid="6" grpId="0" animBg="1"/>
          <p:bldP spid="6" grpId="1" animBg="1"/>
          <p:bldP spid="7" grpId="0" animBg="1"/>
          <p:bldP spid="7" grpId="1" animBg="1"/>
          <p:bldP spid="8" grpId="0" animBg="1"/>
          <p:bldP spid="1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par>
                                    <p:cTn id="10" presetID="2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2500"/>
                                            <p:tgtEl>
                                              <p:spTgt spid="9"/>
                                            </p:tgtEl>
                                          </p:cBhvr>
                                        </p:animEffect>
                                      </p:childTnLst>
                                    </p:cTn>
                                  </p:par>
                                  <p:par>
                                    <p:cTn id="13" presetID="53" presetClass="entr" presetSubtype="16" fill="hold" grpId="0" nodeType="withEffect">
                                      <p:stCondLst>
                                        <p:cond delay="250"/>
                                      </p:stCondLst>
                                      <p:childTnLst>
                                        <p:set>
                                          <p:cBhvr>
                                            <p:cTn id="14" dur="1" fill="hold">
                                              <p:stCondLst>
                                                <p:cond delay="0"/>
                                              </p:stCondLst>
                                            </p:cTn>
                                            <p:tgtEl>
                                              <p:spTgt spid="4"/>
                                            </p:tgtEl>
                                            <p:attrNameLst>
                                              <p:attrName>style.visibility</p:attrName>
                                            </p:attrNameLst>
                                          </p:cBhvr>
                                          <p:to>
                                            <p:strVal val="visible"/>
                                          </p:to>
                                        </p:set>
                                        <p:anim calcmode="lin" valueType="num">
                                          <p:cBhvr>
                                            <p:cTn id="15" dur="750" fill="hold"/>
                                            <p:tgtEl>
                                              <p:spTgt spid="4"/>
                                            </p:tgtEl>
                                            <p:attrNameLst>
                                              <p:attrName>ppt_w</p:attrName>
                                            </p:attrNameLst>
                                          </p:cBhvr>
                                          <p:tavLst>
                                            <p:tav tm="0">
                                              <p:val>
                                                <p:fltVal val="0"/>
                                              </p:val>
                                            </p:tav>
                                            <p:tav tm="100000">
                                              <p:val>
                                                <p:strVal val="#ppt_w"/>
                                              </p:val>
                                            </p:tav>
                                          </p:tavLst>
                                        </p:anim>
                                        <p:anim calcmode="lin" valueType="num">
                                          <p:cBhvr>
                                            <p:cTn id="16" dur="750" fill="hold"/>
                                            <p:tgtEl>
                                              <p:spTgt spid="4"/>
                                            </p:tgtEl>
                                            <p:attrNameLst>
                                              <p:attrName>ppt_h</p:attrName>
                                            </p:attrNameLst>
                                          </p:cBhvr>
                                          <p:tavLst>
                                            <p:tav tm="0">
                                              <p:val>
                                                <p:fltVal val="0"/>
                                              </p:val>
                                            </p:tav>
                                            <p:tav tm="100000">
                                              <p:val>
                                                <p:strVal val="#ppt_h"/>
                                              </p:val>
                                            </p:tav>
                                          </p:tavLst>
                                        </p:anim>
                                        <p:animEffect transition="in" filter="fade">
                                          <p:cBhvr>
                                            <p:cTn id="17" dur="750"/>
                                            <p:tgtEl>
                                              <p:spTgt spid="4"/>
                                            </p:tgtEl>
                                          </p:cBhvr>
                                        </p:animEffect>
                                      </p:childTnLst>
                                    </p:cTn>
                                  </p:par>
                                  <p:par>
                                    <p:cTn id="18" presetID="6" presetClass="emph" presetSubtype="0" fill="hold" grpId="1" nodeType="withEffect">
                                      <p:stCondLst>
                                        <p:cond delay="750"/>
                                      </p:stCondLst>
                                      <p:childTnLst>
                                        <p:animScale>
                                          <p:cBhvr>
                                            <p:cTn id="19" dur="500" fill="hold"/>
                                            <p:tgtEl>
                                              <p:spTgt spid="4"/>
                                            </p:tgtEl>
                                          </p:cBhvr>
                                          <p:by x="95000" y="95000"/>
                                        </p:animScale>
                                      </p:childTnLst>
                                    </p:cTn>
                                  </p:par>
                                  <p:par>
                                    <p:cTn id="20" presetID="53" presetClass="entr" presetSubtype="16" fill="hold" grpId="0" nodeType="withEffect">
                                      <p:stCondLst>
                                        <p:cond delay="750"/>
                                      </p:stCondLst>
                                      <p:childTnLst>
                                        <p:set>
                                          <p:cBhvr>
                                            <p:cTn id="21" dur="1" fill="hold">
                                              <p:stCondLst>
                                                <p:cond delay="0"/>
                                              </p:stCondLst>
                                            </p:cTn>
                                            <p:tgtEl>
                                              <p:spTgt spid="5"/>
                                            </p:tgtEl>
                                            <p:attrNameLst>
                                              <p:attrName>style.visibility</p:attrName>
                                            </p:attrNameLst>
                                          </p:cBhvr>
                                          <p:to>
                                            <p:strVal val="visible"/>
                                          </p:to>
                                        </p:set>
                                        <p:anim calcmode="lin" valueType="num">
                                          <p:cBhvr>
                                            <p:cTn id="22" dur="750" fill="hold"/>
                                            <p:tgtEl>
                                              <p:spTgt spid="5"/>
                                            </p:tgtEl>
                                            <p:attrNameLst>
                                              <p:attrName>ppt_w</p:attrName>
                                            </p:attrNameLst>
                                          </p:cBhvr>
                                          <p:tavLst>
                                            <p:tav tm="0">
                                              <p:val>
                                                <p:fltVal val="0"/>
                                              </p:val>
                                            </p:tav>
                                            <p:tav tm="100000">
                                              <p:val>
                                                <p:strVal val="#ppt_w"/>
                                              </p:val>
                                            </p:tav>
                                          </p:tavLst>
                                        </p:anim>
                                        <p:anim calcmode="lin" valueType="num">
                                          <p:cBhvr>
                                            <p:cTn id="23" dur="750" fill="hold"/>
                                            <p:tgtEl>
                                              <p:spTgt spid="5"/>
                                            </p:tgtEl>
                                            <p:attrNameLst>
                                              <p:attrName>ppt_h</p:attrName>
                                            </p:attrNameLst>
                                          </p:cBhvr>
                                          <p:tavLst>
                                            <p:tav tm="0">
                                              <p:val>
                                                <p:fltVal val="0"/>
                                              </p:val>
                                            </p:tav>
                                            <p:tav tm="100000">
                                              <p:val>
                                                <p:strVal val="#ppt_h"/>
                                              </p:val>
                                            </p:tav>
                                          </p:tavLst>
                                        </p:anim>
                                        <p:animEffect transition="in" filter="fade">
                                          <p:cBhvr>
                                            <p:cTn id="24" dur="750"/>
                                            <p:tgtEl>
                                              <p:spTgt spid="5"/>
                                            </p:tgtEl>
                                          </p:cBhvr>
                                        </p:animEffect>
                                      </p:childTnLst>
                                    </p:cTn>
                                  </p:par>
                                  <p:par>
                                    <p:cTn id="25" presetID="6" presetClass="emph" presetSubtype="0" fill="hold" grpId="1" nodeType="withEffect">
                                      <p:stCondLst>
                                        <p:cond delay="1250"/>
                                      </p:stCondLst>
                                      <p:childTnLst>
                                        <p:animScale>
                                          <p:cBhvr>
                                            <p:cTn id="26" dur="500" fill="hold"/>
                                            <p:tgtEl>
                                              <p:spTgt spid="5"/>
                                            </p:tgtEl>
                                          </p:cBhvr>
                                          <p:by x="95000" y="95000"/>
                                        </p:animScale>
                                      </p:childTnLst>
                                    </p:cTn>
                                  </p:par>
                                  <p:par>
                                    <p:cTn id="27" presetID="53" presetClass="entr" presetSubtype="16" fill="hold" grpId="0" nodeType="withEffect">
                                      <p:stCondLst>
                                        <p:cond delay="1000"/>
                                      </p:stCondLst>
                                      <p:childTnLst>
                                        <p:set>
                                          <p:cBhvr>
                                            <p:cTn id="28" dur="1" fill="hold">
                                              <p:stCondLst>
                                                <p:cond delay="0"/>
                                              </p:stCondLst>
                                            </p:cTn>
                                            <p:tgtEl>
                                              <p:spTgt spid="6"/>
                                            </p:tgtEl>
                                            <p:attrNameLst>
                                              <p:attrName>style.visibility</p:attrName>
                                            </p:attrNameLst>
                                          </p:cBhvr>
                                          <p:to>
                                            <p:strVal val="visible"/>
                                          </p:to>
                                        </p:set>
                                        <p:anim calcmode="lin" valueType="num">
                                          <p:cBhvr>
                                            <p:cTn id="29" dur="750" fill="hold"/>
                                            <p:tgtEl>
                                              <p:spTgt spid="6"/>
                                            </p:tgtEl>
                                            <p:attrNameLst>
                                              <p:attrName>ppt_w</p:attrName>
                                            </p:attrNameLst>
                                          </p:cBhvr>
                                          <p:tavLst>
                                            <p:tav tm="0">
                                              <p:val>
                                                <p:fltVal val="0"/>
                                              </p:val>
                                            </p:tav>
                                            <p:tav tm="100000">
                                              <p:val>
                                                <p:strVal val="#ppt_w"/>
                                              </p:val>
                                            </p:tav>
                                          </p:tavLst>
                                        </p:anim>
                                        <p:anim calcmode="lin" valueType="num">
                                          <p:cBhvr>
                                            <p:cTn id="30" dur="750" fill="hold"/>
                                            <p:tgtEl>
                                              <p:spTgt spid="6"/>
                                            </p:tgtEl>
                                            <p:attrNameLst>
                                              <p:attrName>ppt_h</p:attrName>
                                            </p:attrNameLst>
                                          </p:cBhvr>
                                          <p:tavLst>
                                            <p:tav tm="0">
                                              <p:val>
                                                <p:fltVal val="0"/>
                                              </p:val>
                                            </p:tav>
                                            <p:tav tm="100000">
                                              <p:val>
                                                <p:strVal val="#ppt_h"/>
                                              </p:val>
                                            </p:tav>
                                          </p:tavLst>
                                        </p:anim>
                                        <p:animEffect transition="in" filter="fade">
                                          <p:cBhvr>
                                            <p:cTn id="31" dur="750"/>
                                            <p:tgtEl>
                                              <p:spTgt spid="6"/>
                                            </p:tgtEl>
                                          </p:cBhvr>
                                        </p:animEffect>
                                      </p:childTnLst>
                                    </p:cTn>
                                  </p:par>
                                  <p:par>
                                    <p:cTn id="32" presetID="6" presetClass="emph" presetSubtype="0" fill="hold" grpId="1" nodeType="withEffect">
                                      <p:stCondLst>
                                        <p:cond delay="1500"/>
                                      </p:stCondLst>
                                      <p:childTnLst>
                                        <p:animScale>
                                          <p:cBhvr>
                                            <p:cTn id="33" dur="500" fill="hold"/>
                                            <p:tgtEl>
                                              <p:spTgt spid="6"/>
                                            </p:tgtEl>
                                          </p:cBhvr>
                                          <p:by x="95000" y="95000"/>
                                        </p:animScale>
                                      </p:childTnLst>
                                    </p:cTn>
                                  </p:par>
                                  <p:par>
                                    <p:cTn id="34" presetID="53" presetClass="entr" presetSubtype="16" fill="hold" grpId="0" nodeType="withEffect">
                                      <p:stCondLst>
                                        <p:cond delay="1250"/>
                                      </p:stCondLst>
                                      <p:childTnLst>
                                        <p:set>
                                          <p:cBhvr>
                                            <p:cTn id="35" dur="1" fill="hold">
                                              <p:stCondLst>
                                                <p:cond delay="0"/>
                                              </p:stCondLst>
                                            </p:cTn>
                                            <p:tgtEl>
                                              <p:spTgt spid="7"/>
                                            </p:tgtEl>
                                            <p:attrNameLst>
                                              <p:attrName>style.visibility</p:attrName>
                                            </p:attrNameLst>
                                          </p:cBhvr>
                                          <p:to>
                                            <p:strVal val="visible"/>
                                          </p:to>
                                        </p:set>
                                        <p:anim calcmode="lin" valueType="num">
                                          <p:cBhvr>
                                            <p:cTn id="36" dur="750" fill="hold"/>
                                            <p:tgtEl>
                                              <p:spTgt spid="7"/>
                                            </p:tgtEl>
                                            <p:attrNameLst>
                                              <p:attrName>ppt_w</p:attrName>
                                            </p:attrNameLst>
                                          </p:cBhvr>
                                          <p:tavLst>
                                            <p:tav tm="0">
                                              <p:val>
                                                <p:fltVal val="0"/>
                                              </p:val>
                                            </p:tav>
                                            <p:tav tm="100000">
                                              <p:val>
                                                <p:strVal val="#ppt_w"/>
                                              </p:val>
                                            </p:tav>
                                          </p:tavLst>
                                        </p:anim>
                                        <p:anim calcmode="lin" valueType="num">
                                          <p:cBhvr>
                                            <p:cTn id="37" dur="750" fill="hold"/>
                                            <p:tgtEl>
                                              <p:spTgt spid="7"/>
                                            </p:tgtEl>
                                            <p:attrNameLst>
                                              <p:attrName>ppt_h</p:attrName>
                                            </p:attrNameLst>
                                          </p:cBhvr>
                                          <p:tavLst>
                                            <p:tav tm="0">
                                              <p:val>
                                                <p:fltVal val="0"/>
                                              </p:val>
                                            </p:tav>
                                            <p:tav tm="100000">
                                              <p:val>
                                                <p:strVal val="#ppt_h"/>
                                              </p:val>
                                            </p:tav>
                                          </p:tavLst>
                                        </p:anim>
                                        <p:animEffect transition="in" filter="fade">
                                          <p:cBhvr>
                                            <p:cTn id="38" dur="750"/>
                                            <p:tgtEl>
                                              <p:spTgt spid="7"/>
                                            </p:tgtEl>
                                          </p:cBhvr>
                                        </p:animEffect>
                                      </p:childTnLst>
                                    </p:cTn>
                                  </p:par>
                                  <p:par>
                                    <p:cTn id="39" presetID="6" presetClass="emph" presetSubtype="0" fill="hold" grpId="1" nodeType="withEffect">
                                      <p:stCondLst>
                                        <p:cond delay="1750"/>
                                      </p:stCondLst>
                                      <p:childTnLst>
                                        <p:animScale>
                                          <p:cBhvr>
                                            <p:cTn id="40" dur="500" fill="hold"/>
                                            <p:tgtEl>
                                              <p:spTgt spid="7"/>
                                            </p:tgtEl>
                                          </p:cBhvr>
                                          <p:by x="95000" y="95000"/>
                                        </p:animScale>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4" grpId="1" animBg="1"/>
          <p:bldP spid="5" grpId="0" animBg="1"/>
          <p:bldP spid="5" grpId="1" animBg="1"/>
          <p:bldP spid="6" grpId="0" animBg="1"/>
          <p:bldP spid="6" grpId="1" animBg="1"/>
          <p:bldP spid="7" grpId="0" animBg="1"/>
          <p:bldP spid="7" grpId="1" animBg="1"/>
          <p:bldP spid="8" grpId="0" animBg="1"/>
          <p:bldP spid="16" grpId="0" animBg="1"/>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descr="A purple and white swirly object&#10;&#10;Description automatically generated">
            <a:extLst>
              <a:ext uri="{FF2B5EF4-FFF2-40B4-BE49-F238E27FC236}">
                <a16:creationId xmlns:a16="http://schemas.microsoft.com/office/drawing/2014/main" id="{EACE439C-F077-280E-8FB3-7A33710C86A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7505700" y="3664980"/>
            <a:ext cx="4686300" cy="3192736"/>
          </a:xfrm>
          <a:prstGeom prst="rect">
            <a:avLst/>
          </a:prstGeom>
        </p:spPr>
      </p:pic>
      <p:sp>
        <p:nvSpPr>
          <p:cNvPr id="12" name="Rectangle: Rounded Corners 11">
            <a:extLst>
              <a:ext uri="{FF2B5EF4-FFF2-40B4-BE49-F238E27FC236}">
                <a16:creationId xmlns:a16="http://schemas.microsoft.com/office/drawing/2014/main" id="{2EC676C4-B42E-A1EA-D03F-249C258F4C69}"/>
              </a:ext>
            </a:extLst>
          </p:cNvPr>
          <p:cNvSpPr/>
          <p:nvPr/>
        </p:nvSpPr>
        <p:spPr bwMode="auto">
          <a:xfrm>
            <a:off x="4193628" y="616006"/>
            <a:ext cx="3819759" cy="600076"/>
          </a:xfrm>
          <a:prstGeom prst="roundRect">
            <a:avLst>
              <a:gd name="adj" fmla="val 50000"/>
            </a:avLst>
          </a:prstGeom>
          <a:gradFill flip="none" rotWithShape="1">
            <a:gsLst>
              <a:gs pos="0">
                <a:schemeClr val="accent4">
                  <a:lumMod val="75000"/>
                </a:schemeClr>
              </a:gs>
              <a:gs pos="100000">
                <a:schemeClr val="accent2">
                  <a:lumMod val="75000"/>
                </a:schemeClr>
              </a:gs>
              <a:gs pos="56000">
                <a:srgbClr val="CC9180"/>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1" name="Title 10">
            <a:extLst>
              <a:ext uri="{FF2B5EF4-FFF2-40B4-BE49-F238E27FC236}">
                <a16:creationId xmlns:a16="http://schemas.microsoft.com/office/drawing/2014/main" id="{01577270-A1ED-7910-5123-41BA608970B2}"/>
              </a:ext>
            </a:extLst>
          </p:cNvPr>
          <p:cNvSpPr>
            <a:spLocks noGrp="1"/>
          </p:cNvSpPr>
          <p:nvPr>
            <p:ph type="title"/>
          </p:nvPr>
        </p:nvSpPr>
        <p:spPr>
          <a:xfrm>
            <a:off x="4270580" y="731378"/>
            <a:ext cx="3650871" cy="369332"/>
          </a:xfrm>
        </p:spPr>
        <p:txBody>
          <a:bodyPr wrap="none" lIns="0" tIns="0" rIns="0" bIns="0"/>
          <a:lstStyle/>
          <a:p>
            <a:pPr algn="ctr" defTabSz="932472" fontAlgn="base">
              <a:spcAft>
                <a:spcPct val="0"/>
              </a:spcAft>
            </a:pPr>
            <a:r>
              <a:rPr lang="en-US" sz="2400" dirty="0">
                <a:solidFill>
                  <a:schemeClr val="bg1"/>
                </a:solidFill>
                <a:cs typeface="Segoe UI" pitchFamily="34" charset="0"/>
              </a:rPr>
              <a:t>What’s in it for our Partners</a:t>
            </a:r>
          </a:p>
        </p:txBody>
      </p:sp>
      <p:sp>
        <p:nvSpPr>
          <p:cNvPr id="27" name="Rectangle: Rounded Corners 26">
            <a:extLst>
              <a:ext uri="{FF2B5EF4-FFF2-40B4-BE49-F238E27FC236}">
                <a16:creationId xmlns:a16="http://schemas.microsoft.com/office/drawing/2014/main" id="{9FC8EE77-8AAA-029D-4DA3-1A179E969B21}"/>
              </a:ext>
            </a:extLst>
          </p:cNvPr>
          <p:cNvSpPr/>
          <p:nvPr/>
        </p:nvSpPr>
        <p:spPr bwMode="auto">
          <a:xfrm>
            <a:off x="573634" y="1614986"/>
            <a:ext cx="11049000" cy="3502376"/>
          </a:xfrm>
          <a:prstGeom prst="roundRect">
            <a:avLst>
              <a:gd name="adj" fmla="val 3813"/>
            </a:avLst>
          </a:prstGeom>
          <a:solidFill>
            <a:srgbClr val="F6F1ED">
              <a:alpha val="50000"/>
            </a:srgbClr>
          </a:solidFill>
          <a:ln w="6350">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Segoe Sans Display"/>
              <a:ea typeface="+mn-ea"/>
              <a:cs typeface="+mn-cs"/>
            </a:endParaRPr>
          </a:p>
        </p:txBody>
      </p:sp>
      <p:sp>
        <p:nvSpPr>
          <p:cNvPr id="28" name="Rectangle: Rounded Corners 27">
            <a:extLst>
              <a:ext uri="{FF2B5EF4-FFF2-40B4-BE49-F238E27FC236}">
                <a16:creationId xmlns:a16="http://schemas.microsoft.com/office/drawing/2014/main" id="{7ABF8588-C33B-7CC1-8959-181D81C83BEC}"/>
              </a:ext>
            </a:extLst>
          </p:cNvPr>
          <p:cNvSpPr/>
          <p:nvPr/>
        </p:nvSpPr>
        <p:spPr bwMode="auto">
          <a:xfrm>
            <a:off x="635414" y="5307451"/>
            <a:ext cx="11039475" cy="484864"/>
          </a:xfrm>
          <a:prstGeom prst="roundRect">
            <a:avLst>
              <a:gd name="adj" fmla="val 25666"/>
            </a:avLst>
          </a:prstGeom>
          <a:solidFill>
            <a:schemeClr val="bg2">
              <a:lumMod val="90000"/>
            </a:schemeClr>
          </a:solidFill>
          <a:ln>
            <a:noFill/>
            <a:headEnd type="none" w="med" len="med"/>
            <a:tailEnd type="none" w="med" len="med"/>
          </a:ln>
          <a:effectLst>
            <a:outerShdw blurRad="1143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6304" rIns="9144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800" b="0" i="0" u="none" strike="noStrike" kern="1200" cap="none" spc="0" normalizeH="0" baseline="0" noProof="0">
                <a:ln>
                  <a:noFill/>
                </a:ln>
                <a:solidFill>
                  <a:srgbClr val="091F2C"/>
                </a:solidFill>
                <a:effectLst/>
                <a:uLnTx/>
                <a:uFillTx/>
                <a:latin typeface="Segoe Sans Display Semibold"/>
                <a:ea typeface="+mn-ea"/>
                <a:cs typeface="+mn-cs"/>
              </a:rPr>
              <a:t>Let’s work together to scale the AI Transformation offer!</a:t>
            </a:r>
          </a:p>
        </p:txBody>
      </p:sp>
      <p:sp>
        <p:nvSpPr>
          <p:cNvPr id="42" name="Oval 41">
            <a:extLst>
              <a:ext uri="{FF2B5EF4-FFF2-40B4-BE49-F238E27FC236}">
                <a16:creationId xmlns:a16="http://schemas.microsoft.com/office/drawing/2014/main" id="{0D672C71-600A-DD75-C908-142FAF685D29}"/>
              </a:ext>
            </a:extLst>
          </p:cNvPr>
          <p:cNvSpPr/>
          <p:nvPr/>
        </p:nvSpPr>
        <p:spPr bwMode="auto">
          <a:xfrm>
            <a:off x="913766" y="2131733"/>
            <a:ext cx="2468880" cy="2468880"/>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a:ln>
                  <a:noFill/>
                </a:ln>
                <a:solidFill>
                  <a:srgbClr val="702573"/>
                </a:solidFill>
                <a:effectLst/>
                <a:uLnTx/>
                <a:uFillTx/>
                <a:latin typeface="Segoe Sans Display Semibold"/>
                <a:ea typeface="+mn-ea"/>
                <a:cs typeface="+mn-cs"/>
              </a:rPr>
              <a:t>Joint Strategy </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ATO is Microsoft’s FY26 worldwide strategic program across every segment. Unifying marketing and field to compress sales cycles and lead in the $150B addressable market in 2025 alone.  </a:t>
            </a:r>
          </a:p>
        </p:txBody>
      </p:sp>
      <p:sp>
        <p:nvSpPr>
          <p:cNvPr id="43" name="Oval 42">
            <a:extLst>
              <a:ext uri="{FF2B5EF4-FFF2-40B4-BE49-F238E27FC236}">
                <a16:creationId xmlns:a16="http://schemas.microsoft.com/office/drawing/2014/main" id="{E87996ED-E81F-5241-A63E-AF7496958683}"/>
              </a:ext>
            </a:extLst>
          </p:cNvPr>
          <p:cNvSpPr/>
          <p:nvPr/>
        </p:nvSpPr>
        <p:spPr bwMode="auto">
          <a:xfrm>
            <a:off x="3534278" y="2131733"/>
            <a:ext cx="2470146" cy="2468880"/>
          </a:xfrm>
          <a:prstGeom prst="ellipse">
            <a:avLst/>
          </a:prstGeom>
          <a:solidFill>
            <a:schemeClr val="bg1">
              <a:alpha val="70000"/>
            </a:schemeClr>
          </a:solidFill>
          <a:ln w="6350">
            <a:solidFill>
              <a:srgbClr val="E4CDD4"/>
            </a:soli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AA588B"/>
                </a:solidFill>
                <a:effectLst/>
                <a:uLnTx/>
                <a:uFillTx/>
                <a:latin typeface="Segoe Sans Display Semibold"/>
                <a:ea typeface="+mn-ea"/>
                <a:cs typeface="+mn-cs"/>
              </a:rPr>
              <a:t>Proven Approach</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Tested &amp; validated program fueling AI &amp; App growth. From envisioning workshops to accelerators, it is seamlessly embedded into the Microsoft sales methodology. We are already producing strong results &amp;  meeting our goals.</a:t>
            </a:r>
          </a:p>
        </p:txBody>
      </p:sp>
      <p:sp>
        <p:nvSpPr>
          <p:cNvPr id="44" name="Oval 43">
            <a:extLst>
              <a:ext uri="{FF2B5EF4-FFF2-40B4-BE49-F238E27FC236}">
                <a16:creationId xmlns:a16="http://schemas.microsoft.com/office/drawing/2014/main" id="{66D3D779-4344-FB83-B306-4A6E30437069}"/>
              </a:ext>
            </a:extLst>
          </p:cNvPr>
          <p:cNvSpPr/>
          <p:nvPr/>
        </p:nvSpPr>
        <p:spPr bwMode="auto">
          <a:xfrm>
            <a:off x="6188441" y="2131733"/>
            <a:ext cx="2468880" cy="2468880"/>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CC9180"/>
                </a:solidFill>
                <a:effectLst/>
                <a:uLnTx/>
                <a:uFillTx/>
                <a:latin typeface="Segoe Sans Display Semibold"/>
                <a:ea typeface="+mn-ea"/>
                <a:cs typeface="+mn-cs"/>
              </a:rPr>
              <a:t>Access to Funding</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ATO provides dedicated pre- and post-sales ECIF and ACO funding, available exclusively to YOU. As a strategic program, Microsoft invests across every stage of the engagement to accelerate opportunities.</a:t>
            </a:r>
          </a:p>
        </p:txBody>
      </p:sp>
      <p:sp>
        <p:nvSpPr>
          <p:cNvPr id="45" name="Oval 44">
            <a:extLst>
              <a:ext uri="{FF2B5EF4-FFF2-40B4-BE49-F238E27FC236}">
                <a16:creationId xmlns:a16="http://schemas.microsoft.com/office/drawing/2014/main" id="{AFB35791-A6B1-352F-F63A-BE1C1E6B44C9}"/>
              </a:ext>
            </a:extLst>
          </p:cNvPr>
          <p:cNvSpPr/>
          <p:nvPr/>
        </p:nvSpPr>
        <p:spPr bwMode="auto">
          <a:xfrm>
            <a:off x="8825778" y="2131733"/>
            <a:ext cx="2468880" cy="2468880"/>
          </a:xfrm>
          <a:prstGeom prst="ellipse">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a:ln>
                  <a:noFill/>
                </a:ln>
                <a:solidFill>
                  <a:srgbClr val="4CB1FE"/>
                </a:solidFill>
                <a:effectLst/>
                <a:uLnTx/>
                <a:uFillTx/>
                <a:latin typeface="Segoe Sans Display Semibold"/>
                <a:ea typeface="+mn-ea"/>
                <a:cs typeface="+mn-cs"/>
              </a:rPr>
              <a:t>Co-delivery with Microsoft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solidFill>
                  <a:srgbClr val="091F2C"/>
                </a:solidFill>
                <a:effectLst/>
                <a:uLnTx/>
                <a:uFillTx/>
                <a:latin typeface="Segoe Sans Display"/>
                <a:ea typeface="+mn-ea"/>
                <a:cs typeface="+mn-cs"/>
              </a:rPr>
              <a:t>Partners can co-deliver alongside Microsoft ATO delivery teams, such as the Innovation Hubs, or execute independently. This creates programmatic opportunities to collaborate directly with Microsoft.</a:t>
            </a:r>
          </a:p>
        </p:txBody>
      </p:sp>
      <p:sp>
        <p:nvSpPr>
          <p:cNvPr id="47" name="Oval 46">
            <a:extLst>
              <a:ext uri="{FF2B5EF4-FFF2-40B4-BE49-F238E27FC236}">
                <a16:creationId xmlns:a16="http://schemas.microsoft.com/office/drawing/2014/main" id="{61DCB5E9-DA83-1C75-3CB1-EA73FF497F51}"/>
              </a:ext>
            </a:extLst>
          </p:cNvPr>
          <p:cNvSpPr/>
          <p:nvPr/>
        </p:nvSpPr>
        <p:spPr bwMode="auto">
          <a:xfrm>
            <a:off x="614182" y="3150819"/>
            <a:ext cx="430709" cy="430709"/>
          </a:xfrm>
          <a:prstGeom prst="ellipse">
            <a:avLst/>
          </a:prstGeom>
          <a:solidFill>
            <a:schemeClr val="accent2">
              <a:lumMod val="60000"/>
              <a:lumOff val="40000"/>
            </a:schemeClr>
          </a:solidFill>
          <a:ln>
            <a:noFill/>
            <a:headEnd type="none" w="med" len="med"/>
            <a:tailEnd type="none" w="med" len="med"/>
          </a:ln>
          <a:effectLst>
            <a:softEdge rad="8890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Display"/>
              <a:ea typeface="Segoe UI" pitchFamily="34" charset="0"/>
              <a:cs typeface="Segoe UI" pitchFamily="34" charset="0"/>
            </a:endParaRPr>
          </a:p>
        </p:txBody>
      </p:sp>
      <p:grpSp>
        <p:nvGrpSpPr>
          <p:cNvPr id="58" name="Group 57">
            <a:extLst>
              <a:ext uri="{FF2B5EF4-FFF2-40B4-BE49-F238E27FC236}">
                <a16:creationId xmlns:a16="http://schemas.microsoft.com/office/drawing/2014/main" id="{03F5A335-B851-7B5A-F79C-F464155BEDA3}"/>
              </a:ext>
            </a:extLst>
          </p:cNvPr>
          <p:cNvGrpSpPr/>
          <p:nvPr/>
        </p:nvGrpSpPr>
        <p:grpSpPr>
          <a:xfrm>
            <a:off x="829537" y="2047507"/>
            <a:ext cx="10549350" cy="2637335"/>
            <a:chOff x="827403" y="2663853"/>
            <a:chExt cx="10549350" cy="2637335"/>
          </a:xfrm>
        </p:grpSpPr>
        <p:grpSp>
          <p:nvGrpSpPr>
            <p:cNvPr id="49" name="Group 48">
              <a:extLst>
                <a:ext uri="{FF2B5EF4-FFF2-40B4-BE49-F238E27FC236}">
                  <a16:creationId xmlns:a16="http://schemas.microsoft.com/office/drawing/2014/main" id="{B83069B7-2C2F-3C72-4781-A2B37CBFD50A}"/>
                </a:ext>
              </a:extLst>
            </p:cNvPr>
            <p:cNvGrpSpPr/>
            <p:nvPr/>
          </p:nvGrpSpPr>
          <p:grpSpPr>
            <a:xfrm>
              <a:off x="827403" y="2663853"/>
              <a:ext cx="5274675" cy="2637335"/>
              <a:chOff x="1046481" y="2475449"/>
              <a:chExt cx="5046980" cy="2523488"/>
            </a:xfrm>
          </p:grpSpPr>
          <p:sp>
            <p:nvSpPr>
              <p:cNvPr id="53" name="Arc 52">
                <a:extLst>
                  <a:ext uri="{FF2B5EF4-FFF2-40B4-BE49-F238E27FC236}">
                    <a16:creationId xmlns:a16="http://schemas.microsoft.com/office/drawing/2014/main" id="{42C3407D-AA95-A0B9-C5B6-12A4640AAAC2}"/>
                  </a:ext>
                </a:extLst>
              </p:cNvPr>
              <p:cNvSpPr/>
              <p:nvPr/>
            </p:nvSpPr>
            <p:spPr bwMode="auto">
              <a:xfrm>
                <a:off x="1046481" y="2475449"/>
                <a:ext cx="2523490" cy="2523488"/>
              </a:xfrm>
              <a:prstGeom prst="arc">
                <a:avLst>
                  <a:gd name="adj1" fmla="val 10828891"/>
                  <a:gd name="adj2" fmla="val 0"/>
                </a:avLst>
              </a:prstGeom>
              <a:noFill/>
              <a:ln w="44450">
                <a:gradFill flip="none" rotWithShape="1">
                  <a:gsLst>
                    <a:gs pos="100000">
                      <a:schemeClr val="accent2">
                        <a:lumMod val="75000"/>
                      </a:schemeClr>
                    </a:gs>
                    <a:gs pos="0">
                      <a:schemeClr val="accent2">
                        <a:lumMod val="75000"/>
                      </a:schemeClr>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4" name="Arc 53">
                <a:extLst>
                  <a:ext uri="{FF2B5EF4-FFF2-40B4-BE49-F238E27FC236}">
                    <a16:creationId xmlns:a16="http://schemas.microsoft.com/office/drawing/2014/main" id="{3E19C564-359E-2E37-C013-D7CBB112D653}"/>
                  </a:ext>
                </a:extLst>
              </p:cNvPr>
              <p:cNvSpPr/>
              <p:nvPr/>
            </p:nvSpPr>
            <p:spPr bwMode="auto">
              <a:xfrm flipV="1">
                <a:off x="3569971" y="2475449"/>
                <a:ext cx="2523490" cy="2523488"/>
              </a:xfrm>
              <a:prstGeom prst="arc">
                <a:avLst>
                  <a:gd name="adj1" fmla="val 10779962"/>
                  <a:gd name="adj2" fmla="val 0"/>
                </a:avLst>
              </a:prstGeom>
              <a:noFill/>
              <a:ln w="44450">
                <a:gradFill flip="none" rotWithShape="1">
                  <a:gsLst>
                    <a:gs pos="3000">
                      <a:schemeClr val="accent2">
                        <a:lumMod val="75000"/>
                      </a:schemeClr>
                    </a:gs>
                    <a:gs pos="71000">
                      <a:srgbClr val="CC9180"/>
                    </a:gs>
                  </a:gsLst>
                  <a:lin ang="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nvGrpSpPr>
            <p:cNvPr id="50" name="Group 49">
              <a:extLst>
                <a:ext uri="{FF2B5EF4-FFF2-40B4-BE49-F238E27FC236}">
                  <a16:creationId xmlns:a16="http://schemas.microsoft.com/office/drawing/2014/main" id="{22E1923D-7389-3811-0966-E08ADFA8E3E0}"/>
                </a:ext>
              </a:extLst>
            </p:cNvPr>
            <p:cNvGrpSpPr/>
            <p:nvPr/>
          </p:nvGrpSpPr>
          <p:grpSpPr>
            <a:xfrm>
              <a:off x="6102078" y="2663853"/>
              <a:ext cx="5274675" cy="2637335"/>
              <a:chOff x="1046481" y="2475449"/>
              <a:chExt cx="5046980" cy="2523488"/>
            </a:xfrm>
          </p:grpSpPr>
          <p:sp>
            <p:nvSpPr>
              <p:cNvPr id="51" name="Arc 50">
                <a:extLst>
                  <a:ext uri="{FF2B5EF4-FFF2-40B4-BE49-F238E27FC236}">
                    <a16:creationId xmlns:a16="http://schemas.microsoft.com/office/drawing/2014/main" id="{4AAC8F5F-BACE-F746-EB30-0E6ADB9202E8}"/>
                  </a:ext>
                </a:extLst>
              </p:cNvPr>
              <p:cNvSpPr/>
              <p:nvPr/>
            </p:nvSpPr>
            <p:spPr bwMode="auto">
              <a:xfrm>
                <a:off x="1046481" y="2475449"/>
                <a:ext cx="2523490" cy="2523488"/>
              </a:xfrm>
              <a:prstGeom prst="arc">
                <a:avLst>
                  <a:gd name="adj1" fmla="val 10779962"/>
                  <a:gd name="adj2" fmla="val 0"/>
                </a:avLst>
              </a:prstGeom>
              <a:noFill/>
              <a:ln w="44450">
                <a:gradFill flip="none" rotWithShape="1">
                  <a:gsLst>
                    <a:gs pos="1000">
                      <a:schemeClr val="accent4">
                        <a:lumMod val="75000"/>
                      </a:schemeClr>
                    </a:gs>
                    <a:gs pos="45000">
                      <a:srgbClr val="CC9180"/>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2" name="Arc 51">
                <a:extLst>
                  <a:ext uri="{FF2B5EF4-FFF2-40B4-BE49-F238E27FC236}">
                    <a16:creationId xmlns:a16="http://schemas.microsoft.com/office/drawing/2014/main" id="{A9B53ECA-81EC-BF33-BD34-31B23624ACBD}"/>
                  </a:ext>
                </a:extLst>
              </p:cNvPr>
              <p:cNvSpPr/>
              <p:nvPr/>
            </p:nvSpPr>
            <p:spPr bwMode="auto">
              <a:xfrm flipV="1">
                <a:off x="3569971" y="2475449"/>
                <a:ext cx="2523490" cy="2523488"/>
              </a:xfrm>
              <a:prstGeom prst="arc">
                <a:avLst>
                  <a:gd name="adj1" fmla="val 10779962"/>
                  <a:gd name="adj2" fmla="val 35732"/>
                </a:avLst>
              </a:prstGeom>
              <a:noFill/>
              <a:ln w="44450">
                <a:gradFill flip="none" rotWithShape="1">
                  <a:gsLst>
                    <a:gs pos="0">
                      <a:schemeClr val="accent4">
                        <a:lumMod val="75000"/>
                      </a:schemeClr>
                    </a:gs>
                    <a:gs pos="44000">
                      <a:schemeClr val="accent3">
                        <a:lumMod val="60000"/>
                        <a:lumOff val="40000"/>
                      </a:schemeClr>
                    </a:gs>
                  </a:gsLst>
                  <a:lin ang="0" scaled="1"/>
                  <a:tileRect/>
                </a:gra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56" name="Oval 55">
            <a:extLst>
              <a:ext uri="{FF2B5EF4-FFF2-40B4-BE49-F238E27FC236}">
                <a16:creationId xmlns:a16="http://schemas.microsoft.com/office/drawing/2014/main" id="{DF4E435C-20E0-AC4B-4FE5-D4CA03F60C7B}"/>
              </a:ext>
            </a:extLst>
          </p:cNvPr>
          <p:cNvSpPr/>
          <p:nvPr/>
        </p:nvSpPr>
        <p:spPr bwMode="auto">
          <a:xfrm>
            <a:off x="725788" y="3265239"/>
            <a:ext cx="211391" cy="211391"/>
          </a:xfrm>
          <a:prstGeom prst="ellipse">
            <a:avLst/>
          </a:prstGeom>
          <a:solidFill>
            <a:srgbClr val="902C9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63522592"/>
      </p:ext>
    </p:extLst>
  </p:cSld>
  <p:clrMapOvr>
    <a:masterClrMapping/>
  </p:clrMapOvr>
  <p:transition>
    <p:fad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42" presetClass="path" presetSubtype="0" decel="100000" fill="hold" grpId="1" nodeType="withEffect">
                                      <p:stCondLst>
                                        <p:cond delay="0"/>
                                      </p:stCondLst>
                                      <p:childTnLst>
                                        <p:animMotion origin="layout" path="M 0 -0.03472 L 0 1.48148E-6 " pathEditMode="relative" rAng="0" ptsTypes="AA">
                                          <p:cBhvr>
                                            <p:cTn id="9" dur="750" fill="hold"/>
                                            <p:tgtEl>
                                              <p:spTgt spid="11"/>
                                            </p:tgtEl>
                                            <p:attrNameLst>
                                              <p:attrName>ppt_x</p:attrName>
                                              <p:attrName>ppt_y</p:attrName>
                                            </p:attrNameLst>
                                          </p:cBhvr>
                                          <p:rCtr x="0" y="1736"/>
                                        </p:animMotion>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par>
                                    <p:cTn id="13" presetID="42" presetClass="path" presetSubtype="0" decel="100000" fill="hold" grpId="1" nodeType="withEffect">
                                      <p:stCondLst>
                                        <p:cond delay="0"/>
                                      </p:stCondLst>
                                      <p:childTnLst>
                                        <p:animMotion origin="layout" path="M 0 -0.03472 L 0 1.48148E-6 " pathEditMode="relative" rAng="0" ptsTypes="AA">
                                          <p:cBhvr>
                                            <p:cTn id="14" dur="750" fill="hold"/>
                                            <p:tgtEl>
                                              <p:spTgt spid="12"/>
                                            </p:tgtEl>
                                            <p:attrNameLst>
                                              <p:attrName>ppt_x</p:attrName>
                                              <p:attrName>ppt_y</p:attrName>
                                            </p:attrNameLst>
                                          </p:cBhvr>
                                          <p:rCtr x="0" y="1736"/>
                                        </p:animMotion>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175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750"/>
                                            <p:tgtEl>
                                              <p:spTgt spid="28"/>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22" presetClass="entr" presetSubtype="8"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2500"/>
                                            <p:tgtEl>
                                              <p:spTgt spid="58"/>
                                            </p:tgtEl>
                                          </p:cBhvr>
                                        </p:animEffect>
                                      </p:childTnLst>
                                    </p:cTn>
                                  </p:par>
                                  <p:par>
                                    <p:cTn id="26" presetID="53" presetClass="entr" presetSubtype="16" fill="hold" grpId="0" nodeType="withEffect">
                                      <p:stCondLst>
                                        <p:cond delay="250"/>
                                      </p:stCondLst>
                                      <p:childTnLst>
                                        <p:set>
                                          <p:cBhvr>
                                            <p:cTn id="27" dur="1" fill="hold">
                                              <p:stCondLst>
                                                <p:cond delay="0"/>
                                              </p:stCondLst>
                                            </p:cTn>
                                            <p:tgtEl>
                                              <p:spTgt spid="42"/>
                                            </p:tgtEl>
                                            <p:attrNameLst>
                                              <p:attrName>style.visibility</p:attrName>
                                            </p:attrNameLst>
                                          </p:cBhvr>
                                          <p:to>
                                            <p:strVal val="visible"/>
                                          </p:to>
                                        </p:set>
                                        <p:anim calcmode="lin" valueType="num">
                                          <p:cBhvr>
                                            <p:cTn id="28" dur="750" fill="hold"/>
                                            <p:tgtEl>
                                              <p:spTgt spid="42"/>
                                            </p:tgtEl>
                                            <p:attrNameLst>
                                              <p:attrName>ppt_w</p:attrName>
                                            </p:attrNameLst>
                                          </p:cBhvr>
                                          <p:tavLst>
                                            <p:tav tm="0">
                                              <p:val>
                                                <p:fltVal val="0"/>
                                              </p:val>
                                            </p:tav>
                                            <p:tav tm="100000">
                                              <p:val>
                                                <p:strVal val="#ppt_w"/>
                                              </p:val>
                                            </p:tav>
                                          </p:tavLst>
                                        </p:anim>
                                        <p:anim calcmode="lin" valueType="num">
                                          <p:cBhvr>
                                            <p:cTn id="29" dur="750" fill="hold"/>
                                            <p:tgtEl>
                                              <p:spTgt spid="42"/>
                                            </p:tgtEl>
                                            <p:attrNameLst>
                                              <p:attrName>ppt_h</p:attrName>
                                            </p:attrNameLst>
                                          </p:cBhvr>
                                          <p:tavLst>
                                            <p:tav tm="0">
                                              <p:val>
                                                <p:fltVal val="0"/>
                                              </p:val>
                                            </p:tav>
                                            <p:tav tm="100000">
                                              <p:val>
                                                <p:strVal val="#ppt_h"/>
                                              </p:val>
                                            </p:tav>
                                          </p:tavLst>
                                        </p:anim>
                                        <p:animEffect transition="in" filter="fade">
                                          <p:cBhvr>
                                            <p:cTn id="30" dur="750"/>
                                            <p:tgtEl>
                                              <p:spTgt spid="42"/>
                                            </p:tgtEl>
                                          </p:cBhvr>
                                        </p:animEffect>
                                      </p:childTnLst>
                                    </p:cTn>
                                  </p:par>
                                  <p:par>
                                    <p:cTn id="31" presetID="6" presetClass="emph" presetSubtype="0" fill="hold" grpId="1" nodeType="withEffect" p14:presetBounceEnd="8000">
                                      <p:stCondLst>
                                        <p:cond delay="750"/>
                                      </p:stCondLst>
                                      <p:childTnLst>
                                        <p:animScale p14:bounceEnd="8000">
                                          <p:cBhvr>
                                            <p:cTn id="32" dur="500" fill="hold"/>
                                            <p:tgtEl>
                                              <p:spTgt spid="42"/>
                                            </p:tgtEl>
                                          </p:cBhvr>
                                          <p:by x="95000" y="95000"/>
                                        </p:animScale>
                                      </p:childTnLst>
                                    </p:cTn>
                                  </p:par>
                                  <p:par>
                                    <p:cTn id="33" presetID="53" presetClass="entr" presetSubtype="16" fill="hold" grpId="0" nodeType="withEffect">
                                      <p:stCondLst>
                                        <p:cond delay="750"/>
                                      </p:stCondLst>
                                      <p:childTnLst>
                                        <p:set>
                                          <p:cBhvr>
                                            <p:cTn id="34" dur="1" fill="hold">
                                              <p:stCondLst>
                                                <p:cond delay="0"/>
                                              </p:stCondLst>
                                            </p:cTn>
                                            <p:tgtEl>
                                              <p:spTgt spid="43"/>
                                            </p:tgtEl>
                                            <p:attrNameLst>
                                              <p:attrName>style.visibility</p:attrName>
                                            </p:attrNameLst>
                                          </p:cBhvr>
                                          <p:to>
                                            <p:strVal val="visible"/>
                                          </p:to>
                                        </p:set>
                                        <p:anim calcmode="lin" valueType="num">
                                          <p:cBhvr>
                                            <p:cTn id="35" dur="750" fill="hold"/>
                                            <p:tgtEl>
                                              <p:spTgt spid="43"/>
                                            </p:tgtEl>
                                            <p:attrNameLst>
                                              <p:attrName>ppt_w</p:attrName>
                                            </p:attrNameLst>
                                          </p:cBhvr>
                                          <p:tavLst>
                                            <p:tav tm="0">
                                              <p:val>
                                                <p:fltVal val="0"/>
                                              </p:val>
                                            </p:tav>
                                            <p:tav tm="100000">
                                              <p:val>
                                                <p:strVal val="#ppt_w"/>
                                              </p:val>
                                            </p:tav>
                                          </p:tavLst>
                                        </p:anim>
                                        <p:anim calcmode="lin" valueType="num">
                                          <p:cBhvr>
                                            <p:cTn id="36" dur="750" fill="hold"/>
                                            <p:tgtEl>
                                              <p:spTgt spid="43"/>
                                            </p:tgtEl>
                                            <p:attrNameLst>
                                              <p:attrName>ppt_h</p:attrName>
                                            </p:attrNameLst>
                                          </p:cBhvr>
                                          <p:tavLst>
                                            <p:tav tm="0">
                                              <p:val>
                                                <p:fltVal val="0"/>
                                              </p:val>
                                            </p:tav>
                                            <p:tav tm="100000">
                                              <p:val>
                                                <p:strVal val="#ppt_h"/>
                                              </p:val>
                                            </p:tav>
                                          </p:tavLst>
                                        </p:anim>
                                        <p:animEffect transition="in" filter="fade">
                                          <p:cBhvr>
                                            <p:cTn id="37" dur="750"/>
                                            <p:tgtEl>
                                              <p:spTgt spid="43"/>
                                            </p:tgtEl>
                                          </p:cBhvr>
                                        </p:animEffect>
                                      </p:childTnLst>
                                    </p:cTn>
                                  </p:par>
                                  <p:par>
                                    <p:cTn id="38" presetID="6" presetClass="emph" presetSubtype="0" fill="hold" grpId="1" nodeType="withEffect" p14:presetBounceEnd="8000">
                                      <p:stCondLst>
                                        <p:cond delay="1250"/>
                                      </p:stCondLst>
                                      <p:childTnLst>
                                        <p:animScale p14:bounceEnd="8000">
                                          <p:cBhvr>
                                            <p:cTn id="39" dur="500" fill="hold"/>
                                            <p:tgtEl>
                                              <p:spTgt spid="43"/>
                                            </p:tgtEl>
                                          </p:cBhvr>
                                          <p:by x="95000" y="95000"/>
                                        </p:animScale>
                                      </p:childTnLst>
                                    </p:cTn>
                                  </p:par>
                                  <p:par>
                                    <p:cTn id="40" presetID="53" presetClass="entr" presetSubtype="16" fill="hold" grpId="0" nodeType="withEffect">
                                      <p:stCondLst>
                                        <p:cond delay="1000"/>
                                      </p:stCondLst>
                                      <p:childTnLst>
                                        <p:set>
                                          <p:cBhvr>
                                            <p:cTn id="41" dur="1" fill="hold">
                                              <p:stCondLst>
                                                <p:cond delay="0"/>
                                              </p:stCondLst>
                                            </p:cTn>
                                            <p:tgtEl>
                                              <p:spTgt spid="44"/>
                                            </p:tgtEl>
                                            <p:attrNameLst>
                                              <p:attrName>style.visibility</p:attrName>
                                            </p:attrNameLst>
                                          </p:cBhvr>
                                          <p:to>
                                            <p:strVal val="visible"/>
                                          </p:to>
                                        </p:set>
                                        <p:anim calcmode="lin" valueType="num">
                                          <p:cBhvr>
                                            <p:cTn id="42" dur="750" fill="hold"/>
                                            <p:tgtEl>
                                              <p:spTgt spid="44"/>
                                            </p:tgtEl>
                                            <p:attrNameLst>
                                              <p:attrName>ppt_w</p:attrName>
                                            </p:attrNameLst>
                                          </p:cBhvr>
                                          <p:tavLst>
                                            <p:tav tm="0">
                                              <p:val>
                                                <p:fltVal val="0"/>
                                              </p:val>
                                            </p:tav>
                                            <p:tav tm="100000">
                                              <p:val>
                                                <p:strVal val="#ppt_w"/>
                                              </p:val>
                                            </p:tav>
                                          </p:tavLst>
                                        </p:anim>
                                        <p:anim calcmode="lin" valueType="num">
                                          <p:cBhvr>
                                            <p:cTn id="43" dur="750" fill="hold"/>
                                            <p:tgtEl>
                                              <p:spTgt spid="44"/>
                                            </p:tgtEl>
                                            <p:attrNameLst>
                                              <p:attrName>ppt_h</p:attrName>
                                            </p:attrNameLst>
                                          </p:cBhvr>
                                          <p:tavLst>
                                            <p:tav tm="0">
                                              <p:val>
                                                <p:fltVal val="0"/>
                                              </p:val>
                                            </p:tav>
                                            <p:tav tm="100000">
                                              <p:val>
                                                <p:strVal val="#ppt_h"/>
                                              </p:val>
                                            </p:tav>
                                          </p:tavLst>
                                        </p:anim>
                                        <p:animEffect transition="in" filter="fade">
                                          <p:cBhvr>
                                            <p:cTn id="44" dur="750"/>
                                            <p:tgtEl>
                                              <p:spTgt spid="44"/>
                                            </p:tgtEl>
                                          </p:cBhvr>
                                        </p:animEffect>
                                      </p:childTnLst>
                                    </p:cTn>
                                  </p:par>
                                  <p:par>
                                    <p:cTn id="45" presetID="6" presetClass="emph" presetSubtype="0" fill="hold" grpId="1" nodeType="withEffect" p14:presetBounceEnd="8000">
                                      <p:stCondLst>
                                        <p:cond delay="1500"/>
                                      </p:stCondLst>
                                      <p:childTnLst>
                                        <p:animScale p14:bounceEnd="8000">
                                          <p:cBhvr>
                                            <p:cTn id="46" dur="500" fill="hold"/>
                                            <p:tgtEl>
                                              <p:spTgt spid="44"/>
                                            </p:tgtEl>
                                          </p:cBhvr>
                                          <p:by x="95000" y="95000"/>
                                        </p:animScale>
                                      </p:childTnLst>
                                    </p:cTn>
                                  </p:par>
                                  <p:par>
                                    <p:cTn id="47" presetID="53" presetClass="entr" presetSubtype="16" fill="hold" grpId="0" nodeType="withEffect">
                                      <p:stCondLst>
                                        <p:cond delay="1250"/>
                                      </p:stCondLst>
                                      <p:childTnLst>
                                        <p:set>
                                          <p:cBhvr>
                                            <p:cTn id="48" dur="1" fill="hold">
                                              <p:stCondLst>
                                                <p:cond delay="0"/>
                                              </p:stCondLst>
                                            </p:cTn>
                                            <p:tgtEl>
                                              <p:spTgt spid="45"/>
                                            </p:tgtEl>
                                            <p:attrNameLst>
                                              <p:attrName>style.visibility</p:attrName>
                                            </p:attrNameLst>
                                          </p:cBhvr>
                                          <p:to>
                                            <p:strVal val="visible"/>
                                          </p:to>
                                        </p:set>
                                        <p:anim calcmode="lin" valueType="num">
                                          <p:cBhvr>
                                            <p:cTn id="49" dur="750" fill="hold"/>
                                            <p:tgtEl>
                                              <p:spTgt spid="45"/>
                                            </p:tgtEl>
                                            <p:attrNameLst>
                                              <p:attrName>ppt_w</p:attrName>
                                            </p:attrNameLst>
                                          </p:cBhvr>
                                          <p:tavLst>
                                            <p:tav tm="0">
                                              <p:val>
                                                <p:fltVal val="0"/>
                                              </p:val>
                                            </p:tav>
                                            <p:tav tm="100000">
                                              <p:val>
                                                <p:strVal val="#ppt_w"/>
                                              </p:val>
                                            </p:tav>
                                          </p:tavLst>
                                        </p:anim>
                                        <p:anim calcmode="lin" valueType="num">
                                          <p:cBhvr>
                                            <p:cTn id="50" dur="750" fill="hold"/>
                                            <p:tgtEl>
                                              <p:spTgt spid="45"/>
                                            </p:tgtEl>
                                            <p:attrNameLst>
                                              <p:attrName>ppt_h</p:attrName>
                                            </p:attrNameLst>
                                          </p:cBhvr>
                                          <p:tavLst>
                                            <p:tav tm="0">
                                              <p:val>
                                                <p:fltVal val="0"/>
                                              </p:val>
                                            </p:tav>
                                            <p:tav tm="100000">
                                              <p:val>
                                                <p:strVal val="#ppt_h"/>
                                              </p:val>
                                            </p:tav>
                                          </p:tavLst>
                                        </p:anim>
                                        <p:animEffect transition="in" filter="fade">
                                          <p:cBhvr>
                                            <p:cTn id="51" dur="750"/>
                                            <p:tgtEl>
                                              <p:spTgt spid="45"/>
                                            </p:tgtEl>
                                          </p:cBhvr>
                                        </p:animEffect>
                                      </p:childTnLst>
                                    </p:cTn>
                                  </p:par>
                                  <p:par>
                                    <p:cTn id="52" presetID="6" presetClass="emph" presetSubtype="0" fill="hold" grpId="1" nodeType="withEffect" p14:presetBounceEnd="8000">
                                      <p:stCondLst>
                                        <p:cond delay="1750"/>
                                      </p:stCondLst>
                                      <p:childTnLst>
                                        <p:animScale p14:bounceEnd="8000">
                                          <p:cBhvr>
                                            <p:cTn id="53" dur="500" fill="hold"/>
                                            <p:tgtEl>
                                              <p:spTgt spid="45"/>
                                            </p:tgtEl>
                                          </p:cBhvr>
                                          <p:by x="95000" y="95000"/>
                                        </p:animScale>
                                      </p:childTnLst>
                                    </p:cTn>
                                  </p:par>
                                  <p:par>
                                    <p:cTn id="54" presetID="1"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1" grpId="0"/>
          <p:bldP spid="11" grpId="1"/>
          <p:bldP spid="27" grpId="0" animBg="1"/>
          <p:bldP spid="28" grpId="0" animBg="1"/>
          <p:bldP spid="42" grpId="0" animBg="1"/>
          <p:bldP spid="42" grpId="1" animBg="1"/>
          <p:bldP spid="43" grpId="0" animBg="1"/>
          <p:bldP spid="43" grpId="1" animBg="1"/>
          <p:bldP spid="44" grpId="0" animBg="1"/>
          <p:bldP spid="44" grpId="1" animBg="1"/>
          <p:bldP spid="45" grpId="0" animBg="1"/>
          <p:bldP spid="45" grpId="1" animBg="1"/>
          <p:bldP spid="47" grpId="0" animBg="1"/>
          <p:bldP spid="5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par>
                                    <p:cTn id="8" presetID="42" presetClass="path" presetSubtype="0" decel="100000" fill="hold" grpId="1" nodeType="withEffect">
                                      <p:stCondLst>
                                        <p:cond delay="0"/>
                                      </p:stCondLst>
                                      <p:childTnLst>
                                        <p:animMotion origin="layout" path="M 0 -0.03472 L 0 1.48148E-6 " pathEditMode="relative" rAng="0" ptsTypes="AA">
                                          <p:cBhvr>
                                            <p:cTn id="9" dur="750" fill="hold"/>
                                            <p:tgtEl>
                                              <p:spTgt spid="11"/>
                                            </p:tgtEl>
                                            <p:attrNameLst>
                                              <p:attrName>ppt_x</p:attrName>
                                              <p:attrName>ppt_y</p:attrName>
                                            </p:attrNameLst>
                                          </p:cBhvr>
                                          <p:rCtr x="0" y="1736"/>
                                        </p:animMotion>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par>
                                    <p:cTn id="13" presetID="42" presetClass="path" presetSubtype="0" decel="100000" fill="hold" grpId="1" nodeType="withEffect">
                                      <p:stCondLst>
                                        <p:cond delay="0"/>
                                      </p:stCondLst>
                                      <p:childTnLst>
                                        <p:animMotion origin="layout" path="M 0 -0.03472 L 0 1.48148E-6 " pathEditMode="relative" rAng="0" ptsTypes="AA">
                                          <p:cBhvr>
                                            <p:cTn id="14" dur="750" fill="hold"/>
                                            <p:tgtEl>
                                              <p:spTgt spid="12"/>
                                            </p:tgtEl>
                                            <p:attrNameLst>
                                              <p:attrName>ppt_x</p:attrName>
                                              <p:attrName>ppt_y</p:attrName>
                                            </p:attrNameLst>
                                          </p:cBhvr>
                                          <p:rCtr x="0" y="1736"/>
                                        </p:animMotion>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175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750"/>
                                            <p:tgtEl>
                                              <p:spTgt spid="28"/>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22" presetClass="entr" presetSubtype="8" fill="hold" nodeType="withEffect">
                                      <p:stCondLst>
                                        <p:cond delay="0"/>
                                      </p:stCondLst>
                                      <p:childTnLst>
                                        <p:set>
                                          <p:cBhvr>
                                            <p:cTn id="24" dur="1" fill="hold">
                                              <p:stCondLst>
                                                <p:cond delay="0"/>
                                              </p:stCondLst>
                                            </p:cTn>
                                            <p:tgtEl>
                                              <p:spTgt spid="58"/>
                                            </p:tgtEl>
                                            <p:attrNameLst>
                                              <p:attrName>style.visibility</p:attrName>
                                            </p:attrNameLst>
                                          </p:cBhvr>
                                          <p:to>
                                            <p:strVal val="visible"/>
                                          </p:to>
                                        </p:set>
                                        <p:animEffect transition="in" filter="wipe(left)">
                                          <p:cBhvr>
                                            <p:cTn id="25" dur="2500"/>
                                            <p:tgtEl>
                                              <p:spTgt spid="58"/>
                                            </p:tgtEl>
                                          </p:cBhvr>
                                        </p:animEffect>
                                      </p:childTnLst>
                                    </p:cTn>
                                  </p:par>
                                  <p:par>
                                    <p:cTn id="26" presetID="53" presetClass="entr" presetSubtype="16" fill="hold" grpId="0" nodeType="withEffect">
                                      <p:stCondLst>
                                        <p:cond delay="250"/>
                                      </p:stCondLst>
                                      <p:childTnLst>
                                        <p:set>
                                          <p:cBhvr>
                                            <p:cTn id="27" dur="1" fill="hold">
                                              <p:stCondLst>
                                                <p:cond delay="0"/>
                                              </p:stCondLst>
                                            </p:cTn>
                                            <p:tgtEl>
                                              <p:spTgt spid="42"/>
                                            </p:tgtEl>
                                            <p:attrNameLst>
                                              <p:attrName>style.visibility</p:attrName>
                                            </p:attrNameLst>
                                          </p:cBhvr>
                                          <p:to>
                                            <p:strVal val="visible"/>
                                          </p:to>
                                        </p:set>
                                        <p:anim calcmode="lin" valueType="num">
                                          <p:cBhvr>
                                            <p:cTn id="28" dur="750" fill="hold"/>
                                            <p:tgtEl>
                                              <p:spTgt spid="42"/>
                                            </p:tgtEl>
                                            <p:attrNameLst>
                                              <p:attrName>ppt_w</p:attrName>
                                            </p:attrNameLst>
                                          </p:cBhvr>
                                          <p:tavLst>
                                            <p:tav tm="0">
                                              <p:val>
                                                <p:fltVal val="0"/>
                                              </p:val>
                                            </p:tav>
                                            <p:tav tm="100000">
                                              <p:val>
                                                <p:strVal val="#ppt_w"/>
                                              </p:val>
                                            </p:tav>
                                          </p:tavLst>
                                        </p:anim>
                                        <p:anim calcmode="lin" valueType="num">
                                          <p:cBhvr>
                                            <p:cTn id="29" dur="750" fill="hold"/>
                                            <p:tgtEl>
                                              <p:spTgt spid="42"/>
                                            </p:tgtEl>
                                            <p:attrNameLst>
                                              <p:attrName>ppt_h</p:attrName>
                                            </p:attrNameLst>
                                          </p:cBhvr>
                                          <p:tavLst>
                                            <p:tav tm="0">
                                              <p:val>
                                                <p:fltVal val="0"/>
                                              </p:val>
                                            </p:tav>
                                            <p:tav tm="100000">
                                              <p:val>
                                                <p:strVal val="#ppt_h"/>
                                              </p:val>
                                            </p:tav>
                                          </p:tavLst>
                                        </p:anim>
                                        <p:animEffect transition="in" filter="fade">
                                          <p:cBhvr>
                                            <p:cTn id="30" dur="750"/>
                                            <p:tgtEl>
                                              <p:spTgt spid="42"/>
                                            </p:tgtEl>
                                          </p:cBhvr>
                                        </p:animEffect>
                                      </p:childTnLst>
                                    </p:cTn>
                                  </p:par>
                                  <p:par>
                                    <p:cTn id="31" presetID="6" presetClass="emph" presetSubtype="0" fill="hold" grpId="1" nodeType="withEffect">
                                      <p:stCondLst>
                                        <p:cond delay="750"/>
                                      </p:stCondLst>
                                      <p:childTnLst>
                                        <p:animScale>
                                          <p:cBhvr>
                                            <p:cTn id="32" dur="500" fill="hold"/>
                                            <p:tgtEl>
                                              <p:spTgt spid="42"/>
                                            </p:tgtEl>
                                          </p:cBhvr>
                                          <p:by x="95000" y="95000"/>
                                        </p:animScale>
                                      </p:childTnLst>
                                    </p:cTn>
                                  </p:par>
                                  <p:par>
                                    <p:cTn id="33" presetID="53" presetClass="entr" presetSubtype="16" fill="hold" grpId="0" nodeType="withEffect">
                                      <p:stCondLst>
                                        <p:cond delay="750"/>
                                      </p:stCondLst>
                                      <p:childTnLst>
                                        <p:set>
                                          <p:cBhvr>
                                            <p:cTn id="34" dur="1" fill="hold">
                                              <p:stCondLst>
                                                <p:cond delay="0"/>
                                              </p:stCondLst>
                                            </p:cTn>
                                            <p:tgtEl>
                                              <p:spTgt spid="43"/>
                                            </p:tgtEl>
                                            <p:attrNameLst>
                                              <p:attrName>style.visibility</p:attrName>
                                            </p:attrNameLst>
                                          </p:cBhvr>
                                          <p:to>
                                            <p:strVal val="visible"/>
                                          </p:to>
                                        </p:set>
                                        <p:anim calcmode="lin" valueType="num">
                                          <p:cBhvr>
                                            <p:cTn id="35" dur="750" fill="hold"/>
                                            <p:tgtEl>
                                              <p:spTgt spid="43"/>
                                            </p:tgtEl>
                                            <p:attrNameLst>
                                              <p:attrName>ppt_w</p:attrName>
                                            </p:attrNameLst>
                                          </p:cBhvr>
                                          <p:tavLst>
                                            <p:tav tm="0">
                                              <p:val>
                                                <p:fltVal val="0"/>
                                              </p:val>
                                            </p:tav>
                                            <p:tav tm="100000">
                                              <p:val>
                                                <p:strVal val="#ppt_w"/>
                                              </p:val>
                                            </p:tav>
                                          </p:tavLst>
                                        </p:anim>
                                        <p:anim calcmode="lin" valueType="num">
                                          <p:cBhvr>
                                            <p:cTn id="36" dur="750" fill="hold"/>
                                            <p:tgtEl>
                                              <p:spTgt spid="43"/>
                                            </p:tgtEl>
                                            <p:attrNameLst>
                                              <p:attrName>ppt_h</p:attrName>
                                            </p:attrNameLst>
                                          </p:cBhvr>
                                          <p:tavLst>
                                            <p:tav tm="0">
                                              <p:val>
                                                <p:fltVal val="0"/>
                                              </p:val>
                                            </p:tav>
                                            <p:tav tm="100000">
                                              <p:val>
                                                <p:strVal val="#ppt_h"/>
                                              </p:val>
                                            </p:tav>
                                          </p:tavLst>
                                        </p:anim>
                                        <p:animEffect transition="in" filter="fade">
                                          <p:cBhvr>
                                            <p:cTn id="37" dur="750"/>
                                            <p:tgtEl>
                                              <p:spTgt spid="43"/>
                                            </p:tgtEl>
                                          </p:cBhvr>
                                        </p:animEffect>
                                      </p:childTnLst>
                                    </p:cTn>
                                  </p:par>
                                  <p:par>
                                    <p:cTn id="38" presetID="6" presetClass="emph" presetSubtype="0" fill="hold" grpId="1" nodeType="withEffect">
                                      <p:stCondLst>
                                        <p:cond delay="1250"/>
                                      </p:stCondLst>
                                      <p:childTnLst>
                                        <p:animScale>
                                          <p:cBhvr>
                                            <p:cTn id="39" dur="500" fill="hold"/>
                                            <p:tgtEl>
                                              <p:spTgt spid="43"/>
                                            </p:tgtEl>
                                          </p:cBhvr>
                                          <p:by x="95000" y="95000"/>
                                        </p:animScale>
                                      </p:childTnLst>
                                    </p:cTn>
                                  </p:par>
                                  <p:par>
                                    <p:cTn id="40" presetID="53" presetClass="entr" presetSubtype="16" fill="hold" grpId="0" nodeType="withEffect">
                                      <p:stCondLst>
                                        <p:cond delay="1000"/>
                                      </p:stCondLst>
                                      <p:childTnLst>
                                        <p:set>
                                          <p:cBhvr>
                                            <p:cTn id="41" dur="1" fill="hold">
                                              <p:stCondLst>
                                                <p:cond delay="0"/>
                                              </p:stCondLst>
                                            </p:cTn>
                                            <p:tgtEl>
                                              <p:spTgt spid="44"/>
                                            </p:tgtEl>
                                            <p:attrNameLst>
                                              <p:attrName>style.visibility</p:attrName>
                                            </p:attrNameLst>
                                          </p:cBhvr>
                                          <p:to>
                                            <p:strVal val="visible"/>
                                          </p:to>
                                        </p:set>
                                        <p:anim calcmode="lin" valueType="num">
                                          <p:cBhvr>
                                            <p:cTn id="42" dur="750" fill="hold"/>
                                            <p:tgtEl>
                                              <p:spTgt spid="44"/>
                                            </p:tgtEl>
                                            <p:attrNameLst>
                                              <p:attrName>ppt_w</p:attrName>
                                            </p:attrNameLst>
                                          </p:cBhvr>
                                          <p:tavLst>
                                            <p:tav tm="0">
                                              <p:val>
                                                <p:fltVal val="0"/>
                                              </p:val>
                                            </p:tav>
                                            <p:tav tm="100000">
                                              <p:val>
                                                <p:strVal val="#ppt_w"/>
                                              </p:val>
                                            </p:tav>
                                          </p:tavLst>
                                        </p:anim>
                                        <p:anim calcmode="lin" valueType="num">
                                          <p:cBhvr>
                                            <p:cTn id="43" dur="750" fill="hold"/>
                                            <p:tgtEl>
                                              <p:spTgt spid="44"/>
                                            </p:tgtEl>
                                            <p:attrNameLst>
                                              <p:attrName>ppt_h</p:attrName>
                                            </p:attrNameLst>
                                          </p:cBhvr>
                                          <p:tavLst>
                                            <p:tav tm="0">
                                              <p:val>
                                                <p:fltVal val="0"/>
                                              </p:val>
                                            </p:tav>
                                            <p:tav tm="100000">
                                              <p:val>
                                                <p:strVal val="#ppt_h"/>
                                              </p:val>
                                            </p:tav>
                                          </p:tavLst>
                                        </p:anim>
                                        <p:animEffect transition="in" filter="fade">
                                          <p:cBhvr>
                                            <p:cTn id="44" dur="750"/>
                                            <p:tgtEl>
                                              <p:spTgt spid="44"/>
                                            </p:tgtEl>
                                          </p:cBhvr>
                                        </p:animEffect>
                                      </p:childTnLst>
                                    </p:cTn>
                                  </p:par>
                                  <p:par>
                                    <p:cTn id="45" presetID="6" presetClass="emph" presetSubtype="0" fill="hold" grpId="1" nodeType="withEffect">
                                      <p:stCondLst>
                                        <p:cond delay="1500"/>
                                      </p:stCondLst>
                                      <p:childTnLst>
                                        <p:animScale>
                                          <p:cBhvr>
                                            <p:cTn id="46" dur="500" fill="hold"/>
                                            <p:tgtEl>
                                              <p:spTgt spid="44"/>
                                            </p:tgtEl>
                                          </p:cBhvr>
                                          <p:by x="95000" y="95000"/>
                                        </p:animScale>
                                      </p:childTnLst>
                                    </p:cTn>
                                  </p:par>
                                  <p:par>
                                    <p:cTn id="47" presetID="53" presetClass="entr" presetSubtype="16" fill="hold" grpId="0" nodeType="withEffect">
                                      <p:stCondLst>
                                        <p:cond delay="1250"/>
                                      </p:stCondLst>
                                      <p:childTnLst>
                                        <p:set>
                                          <p:cBhvr>
                                            <p:cTn id="48" dur="1" fill="hold">
                                              <p:stCondLst>
                                                <p:cond delay="0"/>
                                              </p:stCondLst>
                                            </p:cTn>
                                            <p:tgtEl>
                                              <p:spTgt spid="45"/>
                                            </p:tgtEl>
                                            <p:attrNameLst>
                                              <p:attrName>style.visibility</p:attrName>
                                            </p:attrNameLst>
                                          </p:cBhvr>
                                          <p:to>
                                            <p:strVal val="visible"/>
                                          </p:to>
                                        </p:set>
                                        <p:anim calcmode="lin" valueType="num">
                                          <p:cBhvr>
                                            <p:cTn id="49" dur="750" fill="hold"/>
                                            <p:tgtEl>
                                              <p:spTgt spid="45"/>
                                            </p:tgtEl>
                                            <p:attrNameLst>
                                              <p:attrName>ppt_w</p:attrName>
                                            </p:attrNameLst>
                                          </p:cBhvr>
                                          <p:tavLst>
                                            <p:tav tm="0">
                                              <p:val>
                                                <p:fltVal val="0"/>
                                              </p:val>
                                            </p:tav>
                                            <p:tav tm="100000">
                                              <p:val>
                                                <p:strVal val="#ppt_w"/>
                                              </p:val>
                                            </p:tav>
                                          </p:tavLst>
                                        </p:anim>
                                        <p:anim calcmode="lin" valueType="num">
                                          <p:cBhvr>
                                            <p:cTn id="50" dur="750" fill="hold"/>
                                            <p:tgtEl>
                                              <p:spTgt spid="45"/>
                                            </p:tgtEl>
                                            <p:attrNameLst>
                                              <p:attrName>ppt_h</p:attrName>
                                            </p:attrNameLst>
                                          </p:cBhvr>
                                          <p:tavLst>
                                            <p:tav tm="0">
                                              <p:val>
                                                <p:fltVal val="0"/>
                                              </p:val>
                                            </p:tav>
                                            <p:tav tm="100000">
                                              <p:val>
                                                <p:strVal val="#ppt_h"/>
                                              </p:val>
                                            </p:tav>
                                          </p:tavLst>
                                        </p:anim>
                                        <p:animEffect transition="in" filter="fade">
                                          <p:cBhvr>
                                            <p:cTn id="51" dur="750"/>
                                            <p:tgtEl>
                                              <p:spTgt spid="45"/>
                                            </p:tgtEl>
                                          </p:cBhvr>
                                        </p:animEffect>
                                      </p:childTnLst>
                                    </p:cTn>
                                  </p:par>
                                  <p:par>
                                    <p:cTn id="52" presetID="6" presetClass="emph" presetSubtype="0" fill="hold" grpId="1" nodeType="withEffect">
                                      <p:stCondLst>
                                        <p:cond delay="1750"/>
                                      </p:stCondLst>
                                      <p:childTnLst>
                                        <p:animScale>
                                          <p:cBhvr>
                                            <p:cTn id="53" dur="500" fill="hold"/>
                                            <p:tgtEl>
                                              <p:spTgt spid="45"/>
                                            </p:tgtEl>
                                          </p:cBhvr>
                                          <p:by x="95000" y="95000"/>
                                        </p:animScale>
                                      </p:childTnLst>
                                    </p:cTn>
                                  </p:par>
                                  <p:par>
                                    <p:cTn id="54" presetID="1"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1" grpId="0"/>
          <p:bldP spid="11" grpId="1"/>
          <p:bldP spid="27" grpId="0" animBg="1"/>
          <p:bldP spid="28" grpId="0" animBg="1"/>
          <p:bldP spid="42" grpId="0" animBg="1"/>
          <p:bldP spid="42" grpId="1" animBg="1"/>
          <p:bldP spid="43" grpId="0" animBg="1"/>
          <p:bldP spid="43" grpId="1" animBg="1"/>
          <p:bldP spid="44" grpId="0" animBg="1"/>
          <p:bldP spid="44" grpId="1" animBg="1"/>
          <p:bldP spid="45" grpId="0" animBg="1"/>
          <p:bldP spid="45" grpId="1" animBg="1"/>
          <p:bldP spid="47" grpId="0" animBg="1"/>
          <p:bldP spid="56"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9AA216E-020A-FE71-9F84-8A83E64DDCF7}"/>
              </a:ext>
            </a:extLst>
          </p:cNvPr>
          <p:cNvSpPr/>
          <p:nvPr/>
        </p:nvSpPr>
        <p:spPr bwMode="auto">
          <a:xfrm>
            <a:off x="1257301" y="1291489"/>
            <a:ext cx="9677398" cy="3984736"/>
          </a:xfrm>
          <a:prstGeom prst="roundRect">
            <a:avLst>
              <a:gd name="adj" fmla="val 4217"/>
            </a:avLst>
          </a:prstGeom>
          <a:solidFill>
            <a:schemeClr val="bg1">
              <a:alpha val="7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err="1">
              <a:ln>
                <a:noFill/>
              </a:ln>
              <a:solidFill>
                <a:srgbClr val="091F2C"/>
              </a:solidFill>
              <a:effectLst/>
              <a:uLnTx/>
              <a:uFillTx/>
              <a:latin typeface="Segoe Sans Display"/>
              <a:ea typeface="+mn-ea"/>
              <a:cs typeface="Segoe UI" pitchFamily="34" charset="0"/>
            </a:endParaRPr>
          </a:p>
        </p:txBody>
      </p:sp>
      <p:sp>
        <p:nvSpPr>
          <p:cNvPr id="3" name="Rectangle: Rounded Corners 2">
            <a:extLst>
              <a:ext uri="{FF2B5EF4-FFF2-40B4-BE49-F238E27FC236}">
                <a16:creationId xmlns:a16="http://schemas.microsoft.com/office/drawing/2014/main" id="{DF62EE09-024C-D3EA-F69C-775D303A1290}"/>
              </a:ext>
            </a:extLst>
          </p:cNvPr>
          <p:cNvSpPr/>
          <p:nvPr/>
        </p:nvSpPr>
        <p:spPr bwMode="auto">
          <a:xfrm>
            <a:off x="2667000" y="1734397"/>
            <a:ext cx="6858000" cy="600076"/>
          </a:xfrm>
          <a:prstGeom prst="roundRect">
            <a:avLst>
              <a:gd name="adj" fmla="val 50000"/>
            </a:avLst>
          </a:prstGeom>
          <a:gradFill flip="none" rotWithShape="1">
            <a:gsLst>
              <a:gs pos="0">
                <a:schemeClr val="accent4">
                  <a:lumMod val="75000"/>
                </a:schemeClr>
              </a:gs>
              <a:gs pos="100000">
                <a:schemeClr val="accent2">
                  <a:lumMod val="75000"/>
                </a:schemeClr>
              </a:gs>
              <a:gs pos="56000">
                <a:srgbClr val="CC9180"/>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7" name="Title 8">
            <a:extLst>
              <a:ext uri="{FF2B5EF4-FFF2-40B4-BE49-F238E27FC236}">
                <a16:creationId xmlns:a16="http://schemas.microsoft.com/office/drawing/2014/main" id="{2C4BF8CE-EDD6-15F9-5B42-C6BC57316405}"/>
              </a:ext>
            </a:extLst>
          </p:cNvPr>
          <p:cNvSpPr txBox="1">
            <a:spLocks/>
          </p:cNvSpPr>
          <p:nvPr/>
        </p:nvSpPr>
        <p:spPr>
          <a:xfrm>
            <a:off x="2794000" y="1818992"/>
            <a:ext cx="6604000" cy="430887"/>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marL="0" marR="0" lvl="0" indent="0" algn="ctr" defTabSz="932742" rtl="0" eaLnBrk="1" fontAlgn="auto" latinLnBrk="0" hangingPunct="1">
              <a:lnSpc>
                <a:spcPct val="100000"/>
              </a:lnSpc>
              <a:spcBef>
                <a:spcPct val="0"/>
              </a:spcBef>
              <a:spcAft>
                <a:spcPts val="0"/>
              </a:spcAft>
              <a:buClrTx/>
              <a:buSzTx/>
              <a:buFontTx/>
              <a:buNone/>
              <a:tabLst/>
              <a:defRPr/>
            </a:pPr>
            <a:r>
              <a:rPr kumimoji="0" lang="it-IT" sz="2800" b="0" i="0" u="none" strike="noStrike" kern="1200" cap="none" spc="0" normalizeH="0" baseline="0" noProof="0">
                <a:ln w="3175">
                  <a:noFill/>
                </a:ln>
                <a:solidFill>
                  <a:srgbClr val="FFFFFF"/>
                </a:solidFill>
                <a:effectLst/>
                <a:uLnTx/>
                <a:uFillTx/>
                <a:latin typeface="Segoe Sans Display Semibold"/>
                <a:ea typeface="+mn-ea"/>
                <a:cs typeface="Segoe Sans Display"/>
              </a:rPr>
              <a:t>AI Transformation offer​</a:t>
            </a:r>
            <a:endParaRPr kumimoji="0" lang="en-US" sz="2800" b="0" i="0" u="none" strike="noStrike" kern="1200" cap="none" spc="0" normalizeH="0" baseline="0" noProof="0">
              <a:ln w="3175">
                <a:noFill/>
              </a:ln>
              <a:solidFill>
                <a:srgbClr val="FFFFFF"/>
              </a:solidFill>
              <a:effectLst/>
              <a:uLnTx/>
              <a:uFillTx/>
              <a:latin typeface="Segoe Sans Display Semibold"/>
              <a:ea typeface="+mn-ea"/>
              <a:cs typeface="Segoe Sans Display"/>
            </a:endParaRPr>
          </a:p>
        </p:txBody>
      </p:sp>
      <p:sp>
        <p:nvSpPr>
          <p:cNvPr id="13" name="Text Placeholder 4">
            <a:extLst>
              <a:ext uri="{FF2B5EF4-FFF2-40B4-BE49-F238E27FC236}">
                <a16:creationId xmlns:a16="http://schemas.microsoft.com/office/drawing/2014/main" id="{B7720741-41AD-A961-30C5-03CDC0C295B5}"/>
              </a:ext>
            </a:extLst>
          </p:cNvPr>
          <p:cNvSpPr txBox="1">
            <a:spLocks/>
          </p:cNvSpPr>
          <p:nvPr/>
        </p:nvSpPr>
        <p:spPr>
          <a:xfrm>
            <a:off x="2046514" y="2695449"/>
            <a:ext cx="8098972" cy="2462213"/>
          </a:xfrm>
          <a:prstGeom prst="rect">
            <a:avLst/>
          </a:prstGeom>
        </p:spPr>
        <p:txBody>
          <a:bodyPr wrap="square" lIns="0" tIns="0" rIns="0" bIns="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3200" b="0" i="0" u="none" strike="noStrike" kern="1200" cap="none" spc="0" normalizeH="0" baseline="0" noProof="0">
                <a:ln>
                  <a:noFill/>
                </a:ln>
                <a:solidFill>
                  <a:srgbClr val="091F2C"/>
                </a:solidFill>
                <a:effectLst/>
                <a:uLnTx/>
                <a:uFillTx/>
                <a:latin typeface="Segoe Sans Display"/>
                <a:ea typeface="+mn-ea"/>
                <a:cs typeface="Segoe Sans Display" pitchFamily="2" charset="0"/>
              </a:rPr>
              <a:t>A 3-part perspective orchestration offering AI </a:t>
            </a:r>
            <a:r>
              <a:rPr kumimoji="0" lang="en-US" sz="3200" b="0" i="0" u="none" strike="noStrike" kern="1200" cap="none" spc="0" normalizeH="0" baseline="0" noProof="0" err="1">
                <a:ln>
                  <a:noFill/>
                </a:ln>
                <a:solidFill>
                  <a:srgbClr val="091F2C"/>
                </a:solidFill>
                <a:effectLst/>
                <a:uLnTx/>
                <a:uFillTx/>
                <a:latin typeface="Segoe Sans Display"/>
                <a:ea typeface="+mn-ea"/>
                <a:cs typeface="Segoe Sans Display" pitchFamily="2" charset="0"/>
              </a:rPr>
              <a:t>CoE</a:t>
            </a:r>
            <a:r>
              <a:rPr kumimoji="0" lang="en-US" sz="3200" b="0" i="0" u="none" strike="noStrike" kern="1200" cap="none" spc="0" normalizeH="0" baseline="0" noProof="0">
                <a:ln>
                  <a:noFill/>
                </a:ln>
                <a:solidFill>
                  <a:srgbClr val="091F2C"/>
                </a:solidFill>
                <a:effectLst/>
                <a:uLnTx/>
                <a:uFillTx/>
                <a:latin typeface="Segoe Sans Display"/>
                <a:ea typeface="+mn-ea"/>
                <a:cs typeface="Segoe Sans Display" pitchFamily="2" charset="0"/>
              </a:rPr>
              <a:t> frameworks, solution envisioning strategies, landing zone implementations, and a robust Generative AI Factory with </a:t>
            </a:r>
            <a:r>
              <a:rPr kumimoji="0" lang="en-US" sz="3200" b="0" i="0" u="none" strike="noStrike" kern="1200" cap="none" spc="0" normalizeH="0" baseline="0" noProof="0" err="1">
                <a:ln>
                  <a:noFill/>
                </a:ln>
                <a:solidFill>
                  <a:srgbClr val="091F2C"/>
                </a:solidFill>
                <a:effectLst/>
                <a:uLnTx/>
                <a:uFillTx/>
                <a:latin typeface="Segoe Sans Display"/>
                <a:ea typeface="+mn-ea"/>
                <a:cs typeface="Segoe Sans Display" pitchFamily="2" charset="0"/>
              </a:rPr>
              <a:t>GenAIOps</a:t>
            </a:r>
            <a:r>
              <a:rPr kumimoji="0" lang="en-US" sz="3200" b="0" i="0" u="none" strike="noStrike" kern="1200" cap="none" spc="0" normalizeH="0" baseline="0" noProof="0">
                <a:ln>
                  <a:noFill/>
                </a:ln>
                <a:solidFill>
                  <a:srgbClr val="091F2C"/>
                </a:solidFill>
                <a:effectLst/>
                <a:uLnTx/>
                <a:uFillTx/>
                <a:latin typeface="Segoe Sans Display"/>
                <a:ea typeface="+mn-ea"/>
                <a:cs typeface="Segoe Sans Display" pitchFamily="2" charset="0"/>
              </a:rPr>
              <a:t> at the core</a:t>
            </a:r>
          </a:p>
        </p:txBody>
      </p:sp>
    </p:spTree>
    <p:extLst>
      <p:ext uri="{BB962C8B-B14F-4D97-AF65-F5344CB8AC3E}">
        <p14:creationId xmlns:p14="http://schemas.microsoft.com/office/powerpoint/2010/main" val="17713404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750"/>
                                        <p:tgtEl>
                                          <p:spTgt spid="7"/>
                                        </p:tgtEl>
                                      </p:cBhvr>
                                    </p:animEffect>
                                  </p:childTnLst>
                                </p:cTn>
                              </p:par>
                              <p:par>
                                <p:cTn id="11" presetID="42" presetClass="path" presetSubtype="0" decel="100000" fill="hold" grpId="1" nodeType="withEffect">
                                  <p:stCondLst>
                                    <p:cond delay="250"/>
                                  </p:stCondLst>
                                  <p:childTnLst>
                                    <p:animMotion origin="layout" path="M -3.125E-6 -0.03472 L -3.125E-6 -1.85185E-6 " pathEditMode="relative" rAng="0" ptsTypes="AA">
                                      <p:cBhvr>
                                        <p:cTn id="12" dur="750" fill="hold"/>
                                        <p:tgtEl>
                                          <p:spTgt spid="7"/>
                                        </p:tgtEl>
                                        <p:attrNameLst>
                                          <p:attrName>ppt_x</p:attrName>
                                          <p:attrName>ppt_y</p:attrName>
                                        </p:attrNameLst>
                                      </p:cBhvr>
                                      <p:rCtr x="0" y="1736"/>
                                    </p:animMotion>
                                  </p:childTnLst>
                                </p:cTn>
                              </p:par>
                              <p:par>
                                <p:cTn id="13" presetID="10" presetClass="entr" presetSubtype="0" fill="hold" grpId="0" nodeType="withEffect">
                                  <p:stCondLst>
                                    <p:cond delay="25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750"/>
                                        <p:tgtEl>
                                          <p:spTgt spid="3"/>
                                        </p:tgtEl>
                                      </p:cBhvr>
                                    </p:animEffect>
                                  </p:childTnLst>
                                </p:cTn>
                              </p:par>
                              <p:par>
                                <p:cTn id="16" presetID="42" presetClass="path" presetSubtype="0" decel="100000" fill="hold" grpId="1" nodeType="withEffect">
                                  <p:stCondLst>
                                    <p:cond delay="250"/>
                                  </p:stCondLst>
                                  <p:childTnLst>
                                    <p:animMotion origin="layout" path="M -3.125E-6 -0.03472 L -3.125E-6 -1.85185E-6 " pathEditMode="relative" rAng="0" ptsTypes="AA">
                                      <p:cBhvr>
                                        <p:cTn id="17" dur="750" fill="hold"/>
                                        <p:tgtEl>
                                          <p:spTgt spid="3"/>
                                        </p:tgtEl>
                                        <p:attrNameLst>
                                          <p:attrName>ppt_x</p:attrName>
                                          <p:attrName>ppt_y</p:attrName>
                                        </p:attrNameLst>
                                      </p:cBhvr>
                                      <p:rCtr x="0" y="1736"/>
                                    </p:animMotion>
                                  </p:childTnLst>
                                </p:cTn>
                              </p:par>
                              <p:par>
                                <p:cTn id="18" presetID="10" presetClass="entr" presetSubtype="0" fill="hold" grpId="0" nodeType="withEffect">
                                  <p:stCondLst>
                                    <p:cond delay="25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750"/>
                                        <p:tgtEl>
                                          <p:spTgt spid="13"/>
                                        </p:tgtEl>
                                      </p:cBhvr>
                                    </p:animEffect>
                                  </p:childTnLst>
                                </p:cTn>
                              </p:par>
                              <p:par>
                                <p:cTn id="21" presetID="42" presetClass="path" presetSubtype="0" decel="100000" fill="hold" grpId="1" nodeType="withEffect">
                                  <p:stCondLst>
                                    <p:cond delay="250"/>
                                  </p:stCondLst>
                                  <p:childTnLst>
                                    <p:animMotion origin="layout" path="M -3.125E-6 0.03889 L -3.125E-6 -4.81481E-6 " pathEditMode="relative" rAng="0" ptsTypes="AA">
                                      <p:cBhvr>
                                        <p:cTn id="22" dur="750" fill="hold"/>
                                        <p:tgtEl>
                                          <p:spTgt spid="13"/>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3" grpId="1" animBg="1"/>
      <p:bldP spid="7" grpId="0"/>
      <p:bldP spid="7" grpId="1"/>
      <p:bldP spid="13" grpId="0"/>
      <p:bldP spid="1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B1B8-15BB-7458-35C7-C2C1C85896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4FF4BB-BAFE-2292-9809-8F8CAA214E7C}"/>
              </a:ext>
            </a:extLst>
          </p:cNvPr>
          <p:cNvSpPr>
            <a:spLocks noGrp="1"/>
          </p:cNvSpPr>
          <p:nvPr>
            <p:ph type="title"/>
          </p:nvPr>
        </p:nvSpPr>
        <p:spPr>
          <a:xfrm>
            <a:off x="304800" y="346013"/>
            <a:ext cx="11017250" cy="554038"/>
          </a:xfrm>
        </p:spPr>
        <p:txBody>
          <a:bodyPr/>
          <a:lstStyle/>
          <a:p>
            <a:r>
              <a:rPr lang="en-US"/>
              <a:t>The Program at a Glance</a:t>
            </a:r>
          </a:p>
        </p:txBody>
      </p:sp>
      <p:sp>
        <p:nvSpPr>
          <p:cNvPr id="35" name="Rectangle: Rounded Corners 34">
            <a:extLst>
              <a:ext uri="{FF2B5EF4-FFF2-40B4-BE49-F238E27FC236}">
                <a16:creationId xmlns:a16="http://schemas.microsoft.com/office/drawing/2014/main" id="{2AD6CDE6-B532-7E46-F834-A96933339C4F}"/>
              </a:ext>
            </a:extLst>
          </p:cNvPr>
          <p:cNvSpPr>
            <a:spLocks/>
          </p:cNvSpPr>
          <p:nvPr/>
        </p:nvSpPr>
        <p:spPr>
          <a:xfrm>
            <a:off x="306386" y="1121754"/>
            <a:ext cx="3708441" cy="4034708"/>
          </a:xfrm>
          <a:prstGeom prst="roundRect">
            <a:avLst>
              <a:gd name="adj" fmla="val 2800"/>
            </a:avLst>
          </a:prstGeom>
          <a:solidFill>
            <a:schemeClr val="bg2">
              <a:lumMod val="90000"/>
              <a:alpha val="70000"/>
            </a:schemeClr>
          </a:solidFill>
          <a:ln w="9525">
            <a:solidFill>
              <a:schemeClr val="bg1"/>
            </a:solidFill>
          </a:ln>
          <a:effectLst>
            <a:outerShdw blurRad="190500" dist="76200" dir="3600000" sx="90000" sy="90000" algn="tr" rotWithShape="0">
              <a:schemeClr val="bg2">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6" name="Rectangle: Rounded Corners 35">
            <a:extLst>
              <a:ext uri="{FF2B5EF4-FFF2-40B4-BE49-F238E27FC236}">
                <a16:creationId xmlns:a16="http://schemas.microsoft.com/office/drawing/2014/main" id="{6AE02F85-0089-0493-B402-3B98E50B7747}"/>
              </a:ext>
            </a:extLst>
          </p:cNvPr>
          <p:cNvSpPr>
            <a:spLocks/>
          </p:cNvSpPr>
          <p:nvPr/>
        </p:nvSpPr>
        <p:spPr>
          <a:xfrm>
            <a:off x="4243365" y="1121753"/>
            <a:ext cx="3708441" cy="4030626"/>
          </a:xfrm>
          <a:prstGeom prst="roundRect">
            <a:avLst>
              <a:gd name="adj" fmla="val 2800"/>
            </a:avLst>
          </a:prstGeom>
          <a:solidFill>
            <a:schemeClr val="accent3">
              <a:lumMod val="20000"/>
              <a:lumOff val="80000"/>
              <a:alpha val="70000"/>
            </a:schemeClr>
          </a:solidFill>
          <a:ln w="9525">
            <a:solidFill>
              <a:schemeClr val="bg1"/>
            </a:solidFill>
          </a:ln>
          <a:effectLst>
            <a:outerShdw blurRad="190500" dist="76200" dir="3600000" sx="90000" sy="90000" algn="tr" rotWithShape="0">
              <a:schemeClr val="bg2">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9144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7" name="Rectangle: Rounded Corners 36">
            <a:extLst>
              <a:ext uri="{FF2B5EF4-FFF2-40B4-BE49-F238E27FC236}">
                <a16:creationId xmlns:a16="http://schemas.microsoft.com/office/drawing/2014/main" id="{68795432-47BF-F973-4FB7-A4CE52D4F008}"/>
              </a:ext>
            </a:extLst>
          </p:cNvPr>
          <p:cNvSpPr>
            <a:spLocks/>
          </p:cNvSpPr>
          <p:nvPr/>
        </p:nvSpPr>
        <p:spPr>
          <a:xfrm>
            <a:off x="8180345" y="1121753"/>
            <a:ext cx="3708441" cy="4030626"/>
          </a:xfrm>
          <a:prstGeom prst="roundRect">
            <a:avLst>
              <a:gd name="adj" fmla="val 2800"/>
            </a:avLst>
          </a:prstGeom>
          <a:solidFill>
            <a:schemeClr val="accent1">
              <a:lumMod val="20000"/>
              <a:lumOff val="80000"/>
              <a:alpha val="70000"/>
            </a:schemeClr>
          </a:solidFill>
          <a:ln w="9525" cap="flat">
            <a:solidFill>
              <a:schemeClr val="bg1"/>
            </a:solid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702573"/>
              </a:solidFill>
              <a:effectLst/>
              <a:uLnTx/>
              <a:uFillTx/>
              <a:latin typeface="Segoe Sans Display Semibold"/>
              <a:ea typeface="+mn-ea"/>
              <a:cs typeface="+mn-cs"/>
            </a:endParaRPr>
          </a:p>
        </p:txBody>
      </p:sp>
      <p:sp>
        <p:nvSpPr>
          <p:cNvPr id="38" name="Rectangle: Rounded Corners 37">
            <a:extLst>
              <a:ext uri="{FF2B5EF4-FFF2-40B4-BE49-F238E27FC236}">
                <a16:creationId xmlns:a16="http://schemas.microsoft.com/office/drawing/2014/main" id="{3DDE9737-B0C7-B1BE-AFC4-94F3D6CBC3AF}"/>
              </a:ext>
            </a:extLst>
          </p:cNvPr>
          <p:cNvSpPr/>
          <p:nvPr/>
        </p:nvSpPr>
        <p:spPr bwMode="auto">
          <a:xfrm>
            <a:off x="427799" y="1237407"/>
            <a:ext cx="3465618" cy="554361"/>
          </a:xfrm>
          <a:prstGeom prst="roundRect">
            <a:avLst>
              <a:gd name="adj" fmla="val 11199"/>
            </a:avLst>
          </a:prstGeom>
          <a:solidFill>
            <a:schemeClr val="bg1">
              <a:alpha val="7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91F2C"/>
                </a:solidFill>
                <a:effectLst/>
                <a:uLnTx/>
                <a:uFillTx/>
                <a:latin typeface="Segoe Sans Display"/>
                <a:ea typeface="+mn-ea"/>
                <a:cs typeface="Segoe UI" pitchFamily="34" charset="0"/>
              </a:rPr>
              <a:t>AI </a:t>
            </a:r>
            <a:r>
              <a:rPr kumimoji="0" lang="en-US" sz="1200" b="1" i="0" u="none" strike="noStrike" kern="1200" cap="none" spc="0" normalizeH="0" baseline="0" noProof="0" err="1">
                <a:ln>
                  <a:noFill/>
                </a:ln>
                <a:solidFill>
                  <a:srgbClr val="091F2C"/>
                </a:solidFill>
                <a:effectLst/>
                <a:uLnTx/>
                <a:uFillTx/>
                <a:latin typeface="Segoe Sans Display"/>
                <a:ea typeface="+mn-ea"/>
                <a:cs typeface="Segoe UI" pitchFamily="34" charset="0"/>
              </a:rPr>
              <a:t>CoE</a:t>
            </a:r>
            <a:r>
              <a:rPr kumimoji="0" lang="en-US" sz="1200" b="1" i="0" u="none" strike="noStrike" kern="1200" cap="none" spc="0" normalizeH="0" baseline="0" noProof="0">
                <a:ln>
                  <a:noFill/>
                </a:ln>
                <a:solidFill>
                  <a:srgbClr val="091F2C"/>
                </a:solidFill>
                <a:effectLst/>
                <a:uLnTx/>
                <a:uFillTx/>
                <a:latin typeface="Segoe Sans Display"/>
                <a:ea typeface="+mn-ea"/>
                <a:cs typeface="Segoe UI" pitchFamily="34" charset="0"/>
              </a:rPr>
              <a:t> and Solution Envisioning </a:t>
            </a:r>
          </a:p>
        </p:txBody>
      </p:sp>
      <p:sp>
        <p:nvSpPr>
          <p:cNvPr id="41" name="Rectangle: Rounded Corners 40">
            <a:extLst>
              <a:ext uri="{FF2B5EF4-FFF2-40B4-BE49-F238E27FC236}">
                <a16:creationId xmlns:a16="http://schemas.microsoft.com/office/drawing/2014/main" id="{3E6D727B-AE00-6B1D-6197-9E10D1D08E73}"/>
              </a:ext>
            </a:extLst>
          </p:cNvPr>
          <p:cNvSpPr/>
          <p:nvPr/>
        </p:nvSpPr>
        <p:spPr bwMode="auto">
          <a:xfrm>
            <a:off x="4363191" y="1237407"/>
            <a:ext cx="3465618" cy="554361"/>
          </a:xfrm>
          <a:prstGeom prst="roundRect">
            <a:avLst>
              <a:gd name="adj" fmla="val 11199"/>
            </a:avLst>
          </a:prstGeom>
          <a:solidFill>
            <a:schemeClr val="bg1">
              <a:alpha val="7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CA" sz="1200" b="1"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AI Foundation Architecture</a:t>
            </a:r>
          </a:p>
        </p:txBody>
      </p:sp>
      <p:sp>
        <p:nvSpPr>
          <p:cNvPr id="42" name="Rectangle: Rounded Corners 41">
            <a:extLst>
              <a:ext uri="{FF2B5EF4-FFF2-40B4-BE49-F238E27FC236}">
                <a16:creationId xmlns:a16="http://schemas.microsoft.com/office/drawing/2014/main" id="{70AAE70B-11DD-BBA0-52DC-ABF1F51D91F9}"/>
              </a:ext>
            </a:extLst>
          </p:cNvPr>
          <p:cNvSpPr/>
          <p:nvPr/>
        </p:nvSpPr>
        <p:spPr bwMode="auto">
          <a:xfrm>
            <a:off x="8301756" y="1237407"/>
            <a:ext cx="3465618" cy="554361"/>
          </a:xfrm>
          <a:prstGeom prst="roundRect">
            <a:avLst>
              <a:gd name="adj" fmla="val 11199"/>
            </a:avLst>
          </a:prstGeom>
          <a:solidFill>
            <a:schemeClr val="bg1">
              <a:alpha val="7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200" b="1"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Generative AI Factory</a:t>
            </a:r>
          </a:p>
        </p:txBody>
      </p:sp>
      <p:sp>
        <p:nvSpPr>
          <p:cNvPr id="82" name="Rectangle: Rounded Corners 81">
            <a:extLst>
              <a:ext uri="{FF2B5EF4-FFF2-40B4-BE49-F238E27FC236}">
                <a16:creationId xmlns:a16="http://schemas.microsoft.com/office/drawing/2014/main" id="{F19F1ABF-38DB-3E8A-451E-AB1B9BAF52A8}"/>
              </a:ext>
            </a:extLst>
          </p:cNvPr>
          <p:cNvSpPr>
            <a:spLocks/>
          </p:cNvSpPr>
          <p:nvPr/>
        </p:nvSpPr>
        <p:spPr bwMode="auto">
          <a:xfrm>
            <a:off x="4364777" y="1852069"/>
            <a:ext cx="3465618" cy="622465"/>
          </a:xfrm>
          <a:prstGeom prst="roundRect">
            <a:avLst>
              <a:gd name="adj" fmla="val 10800"/>
            </a:avLst>
          </a:prstGeom>
          <a:solidFill>
            <a:schemeClr val="accent3"/>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Generative AI Building Blocks</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1.5 hours Workshop</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83" name="Rectangle: Rounded Corners 82">
            <a:extLst>
              <a:ext uri="{FF2B5EF4-FFF2-40B4-BE49-F238E27FC236}">
                <a16:creationId xmlns:a16="http://schemas.microsoft.com/office/drawing/2014/main" id="{04F98939-BB8C-1A64-39EC-55D26C146466}"/>
              </a:ext>
            </a:extLst>
          </p:cNvPr>
          <p:cNvSpPr>
            <a:spLocks/>
          </p:cNvSpPr>
          <p:nvPr/>
        </p:nvSpPr>
        <p:spPr bwMode="auto">
          <a:xfrm>
            <a:off x="4363191" y="2590198"/>
            <a:ext cx="3465618" cy="622465"/>
          </a:xfrm>
          <a:prstGeom prst="roundRect">
            <a:avLst>
              <a:gd name="adj" fmla="val 10800"/>
            </a:avLst>
          </a:prstGeom>
          <a:solidFill>
            <a:schemeClr val="accent3"/>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Intro Landing Zone Architecture </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2-hour Workshop </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84" name="Rectangle: Rounded Corners 83">
            <a:extLst>
              <a:ext uri="{FF2B5EF4-FFF2-40B4-BE49-F238E27FC236}">
                <a16:creationId xmlns:a16="http://schemas.microsoft.com/office/drawing/2014/main" id="{C9741882-37C1-3C44-8053-B96C7982F3DA}"/>
              </a:ext>
            </a:extLst>
          </p:cNvPr>
          <p:cNvSpPr>
            <a:spLocks/>
          </p:cNvSpPr>
          <p:nvPr/>
        </p:nvSpPr>
        <p:spPr bwMode="auto">
          <a:xfrm>
            <a:off x="4366129" y="3328327"/>
            <a:ext cx="3465618" cy="851729"/>
          </a:xfrm>
          <a:prstGeom prst="roundRect">
            <a:avLst>
              <a:gd name="adj" fmla="val 8100"/>
            </a:avLst>
          </a:prstGeom>
          <a:solidFill>
            <a:schemeClr val="accent3"/>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Generative AI Landing Zone Architecture Implementation</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1–2 Week Implementation</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85" name="Rectangle: Rounded Corners 84">
            <a:extLst>
              <a:ext uri="{FF2B5EF4-FFF2-40B4-BE49-F238E27FC236}">
                <a16:creationId xmlns:a16="http://schemas.microsoft.com/office/drawing/2014/main" id="{A5684ECF-F45E-A79A-1C15-3D9A983FE0AD}"/>
              </a:ext>
            </a:extLst>
          </p:cNvPr>
          <p:cNvSpPr>
            <a:spLocks/>
          </p:cNvSpPr>
          <p:nvPr/>
        </p:nvSpPr>
        <p:spPr bwMode="auto">
          <a:xfrm>
            <a:off x="4363191" y="4300650"/>
            <a:ext cx="3465618" cy="704312"/>
          </a:xfrm>
          <a:prstGeom prst="roundRect">
            <a:avLst>
              <a:gd name="adj" fmla="val 8100"/>
            </a:avLst>
          </a:prstGeom>
          <a:solidFill>
            <a:schemeClr val="accent3"/>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Apps &amp; Infra Landing Zone Architecture Implementation</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1–2 Week Implementation</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12" name="Rectangle: Rounded Corners 111">
            <a:extLst>
              <a:ext uri="{FF2B5EF4-FFF2-40B4-BE49-F238E27FC236}">
                <a16:creationId xmlns:a16="http://schemas.microsoft.com/office/drawing/2014/main" id="{95B12BBB-2EFD-1C77-486F-9222D5DDED96}"/>
              </a:ext>
            </a:extLst>
          </p:cNvPr>
          <p:cNvSpPr>
            <a:spLocks/>
          </p:cNvSpPr>
          <p:nvPr/>
        </p:nvSpPr>
        <p:spPr bwMode="auto">
          <a:xfrm>
            <a:off x="8301756" y="1852067"/>
            <a:ext cx="3465618" cy="622467"/>
          </a:xfrm>
          <a:prstGeom prst="roundRect">
            <a:avLst>
              <a:gd name="adj" fmla="val 6700"/>
            </a:avLst>
          </a:prstGeom>
          <a:solidFill>
            <a:schemeClr val="accent1">
              <a:lumMod val="60000"/>
              <a:lumOff val="40000"/>
              <a:alpha val="8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err="1">
                <a:ln>
                  <a:noFill/>
                </a:ln>
                <a:solidFill>
                  <a:srgbClr val="FFFFFF"/>
                </a:solidFill>
                <a:effectLst/>
                <a:uLnTx/>
                <a:uFillTx/>
                <a:latin typeface="Segoe Sans Display Semibold"/>
                <a:ea typeface="+mn-ea"/>
                <a:cs typeface="Segoe UI" pitchFamily="34" charset="0"/>
              </a:rPr>
              <a:t>GenAIOps</a:t>
            </a: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 Intro and Maturity Assessment</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Half-day Workshop </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13" name="Rectangle: Rounded Corners 112">
            <a:extLst>
              <a:ext uri="{FF2B5EF4-FFF2-40B4-BE49-F238E27FC236}">
                <a16:creationId xmlns:a16="http://schemas.microsoft.com/office/drawing/2014/main" id="{F05F1BA4-AFFD-9AAD-D5FA-EA3BA5851D75}"/>
              </a:ext>
            </a:extLst>
          </p:cNvPr>
          <p:cNvSpPr>
            <a:spLocks/>
          </p:cNvSpPr>
          <p:nvPr/>
        </p:nvSpPr>
        <p:spPr bwMode="auto">
          <a:xfrm>
            <a:off x="8305764" y="2871019"/>
            <a:ext cx="3465618" cy="738129"/>
          </a:xfrm>
          <a:prstGeom prst="roundRect">
            <a:avLst>
              <a:gd name="adj" fmla="val 6700"/>
            </a:avLst>
          </a:prstGeom>
          <a:solidFill>
            <a:schemeClr val="accent1">
              <a:lumMod val="60000"/>
              <a:lumOff val="40000"/>
              <a:alpha val="8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MVP and </a:t>
            </a:r>
            <a:r>
              <a:rPr kumimoji="0" lang="en-US" sz="1200" b="0" i="0" u="none" strike="noStrike" kern="1200" cap="none" spc="0" normalizeH="0" baseline="0" noProof="0" err="1">
                <a:ln>
                  <a:noFill/>
                </a:ln>
                <a:solidFill>
                  <a:srgbClr val="FFFFFF"/>
                </a:solidFill>
                <a:effectLst/>
                <a:uLnTx/>
                <a:uFillTx/>
                <a:latin typeface="Segoe Sans Display Semibold"/>
                <a:ea typeface="+mn-ea"/>
                <a:cs typeface="Segoe UI" pitchFamily="34" charset="0"/>
              </a:rPr>
              <a:t>GenAIOps</a:t>
            </a: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 Build</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6–8 Weeks Implementation </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14" name="Rectangle: Rounded Corners 113">
            <a:extLst>
              <a:ext uri="{FF2B5EF4-FFF2-40B4-BE49-F238E27FC236}">
                <a16:creationId xmlns:a16="http://schemas.microsoft.com/office/drawing/2014/main" id="{DDB05E04-55DE-EDC0-9B97-EA009234A104}"/>
              </a:ext>
            </a:extLst>
          </p:cNvPr>
          <p:cNvSpPr>
            <a:spLocks/>
          </p:cNvSpPr>
          <p:nvPr/>
        </p:nvSpPr>
        <p:spPr bwMode="auto">
          <a:xfrm>
            <a:off x="8296321" y="4001568"/>
            <a:ext cx="3465618" cy="1005302"/>
          </a:xfrm>
          <a:prstGeom prst="roundRect">
            <a:avLst>
              <a:gd name="adj" fmla="val 6700"/>
            </a:avLst>
          </a:prstGeom>
          <a:solidFill>
            <a:schemeClr val="accent1">
              <a:lumMod val="60000"/>
              <a:lumOff val="40000"/>
              <a:alpha val="8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MVP Readout and </a:t>
            </a:r>
            <a:r>
              <a:rPr kumimoji="0" lang="en-US" sz="1200" b="0" i="0" u="none" strike="noStrike" kern="1200" cap="none" spc="0" normalizeH="0" baseline="0" noProof="0" err="1">
                <a:ln>
                  <a:noFill/>
                </a:ln>
                <a:solidFill>
                  <a:srgbClr val="FFFFFF"/>
                </a:solidFill>
                <a:effectLst/>
                <a:uLnTx/>
                <a:uFillTx/>
                <a:latin typeface="Segoe Sans Display Semibold"/>
                <a:ea typeface="+mn-ea"/>
                <a:cs typeface="Segoe UI" pitchFamily="34" charset="0"/>
              </a:rPr>
              <a:t>GenAIOps</a:t>
            </a: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 Review</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Half-day Workshop</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ectangle: Rounded Corners 8">
            <a:extLst>
              <a:ext uri="{FF2B5EF4-FFF2-40B4-BE49-F238E27FC236}">
                <a16:creationId xmlns:a16="http://schemas.microsoft.com/office/drawing/2014/main" id="{D453CB52-93A4-C1FE-9AB6-1241B68B7F10}"/>
              </a:ext>
            </a:extLst>
          </p:cNvPr>
          <p:cNvSpPr>
            <a:spLocks/>
          </p:cNvSpPr>
          <p:nvPr/>
        </p:nvSpPr>
        <p:spPr bwMode="auto">
          <a:xfrm>
            <a:off x="427797" y="1852067"/>
            <a:ext cx="3465618" cy="554361"/>
          </a:xfrm>
          <a:prstGeom prst="roundRect">
            <a:avLst>
              <a:gd name="adj" fmla="val 7800"/>
            </a:avLst>
          </a:prstGeom>
          <a:solidFill>
            <a:srgbClr val="F87D47">
              <a:alpha val="80000"/>
            </a:srgb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AI Center of Excellence Introduction</a:t>
            </a:r>
            <a:endPar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endParaRPr>
          </a:p>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1 hour presentation</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0" name="Rectangle: Rounded Corners 9">
            <a:extLst>
              <a:ext uri="{FF2B5EF4-FFF2-40B4-BE49-F238E27FC236}">
                <a16:creationId xmlns:a16="http://schemas.microsoft.com/office/drawing/2014/main" id="{471C6395-67A9-ED48-6703-182F76ED293B}"/>
              </a:ext>
            </a:extLst>
          </p:cNvPr>
          <p:cNvSpPr>
            <a:spLocks/>
          </p:cNvSpPr>
          <p:nvPr/>
        </p:nvSpPr>
        <p:spPr bwMode="auto">
          <a:xfrm>
            <a:off x="423790" y="2659526"/>
            <a:ext cx="3465618" cy="483811"/>
          </a:xfrm>
          <a:prstGeom prst="roundRect">
            <a:avLst>
              <a:gd name="adj" fmla="val 7800"/>
            </a:avLst>
          </a:prstGeom>
          <a:solidFill>
            <a:srgbClr val="F87D47">
              <a:alpha val="80000"/>
            </a:srgb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Business Envisioning + </a:t>
            </a:r>
            <a:r>
              <a:rPr kumimoji="0" lang="en-US" sz="1200" b="0" i="0" u="none" strike="noStrike" kern="1200" cap="none" spc="0" normalizeH="0" baseline="0" noProof="0" err="1">
                <a:ln>
                  <a:noFill/>
                </a:ln>
                <a:solidFill>
                  <a:srgbClr val="FFFFFF"/>
                </a:solidFill>
                <a:effectLst/>
                <a:uLnTx/>
                <a:uFillTx/>
                <a:latin typeface="Segoe Sans Display Semibold"/>
                <a:ea typeface="+mn-ea"/>
                <a:cs typeface="Segoe UI" pitchFamily="34" charset="0"/>
              </a:rPr>
              <a:t>CoE</a:t>
            </a: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 Transformation</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Half-day to one day Workshop</a:t>
            </a:r>
            <a:endParaRPr kumimoji="0" lang="en-US" sz="6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1" name="Rectangle: Rounded Corners 10">
            <a:extLst>
              <a:ext uri="{FF2B5EF4-FFF2-40B4-BE49-F238E27FC236}">
                <a16:creationId xmlns:a16="http://schemas.microsoft.com/office/drawing/2014/main" id="{7C7114FA-E763-CCAC-0D20-705242014743}"/>
              </a:ext>
            </a:extLst>
          </p:cNvPr>
          <p:cNvSpPr>
            <a:spLocks/>
          </p:cNvSpPr>
          <p:nvPr/>
        </p:nvSpPr>
        <p:spPr bwMode="auto">
          <a:xfrm>
            <a:off x="423790" y="3977505"/>
            <a:ext cx="3465618" cy="501195"/>
          </a:xfrm>
          <a:prstGeom prst="roundRect">
            <a:avLst>
              <a:gd name="adj" fmla="val 7800"/>
            </a:avLst>
          </a:prstGeom>
          <a:solidFill>
            <a:srgbClr val="F87D47">
              <a:alpha val="80000"/>
            </a:srgb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Capability Envisioning</a:t>
            </a:r>
          </a:p>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One day to multiday Workshop</a:t>
            </a:r>
            <a:endParaRPr kumimoji="0" lang="en-US" sz="6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12" name="Rectangle: Rounded Corners 11">
            <a:extLst>
              <a:ext uri="{FF2B5EF4-FFF2-40B4-BE49-F238E27FC236}">
                <a16:creationId xmlns:a16="http://schemas.microsoft.com/office/drawing/2014/main" id="{07D7EF1D-8A0B-71DA-7BAC-B22DA54B1EFC}"/>
              </a:ext>
            </a:extLst>
          </p:cNvPr>
          <p:cNvSpPr/>
          <p:nvPr/>
        </p:nvSpPr>
        <p:spPr bwMode="auto">
          <a:xfrm>
            <a:off x="304800" y="5661709"/>
            <a:ext cx="11582400" cy="688049"/>
          </a:xfrm>
          <a:prstGeom prst="roundRect">
            <a:avLst>
              <a:gd name="adj" fmla="val 18494"/>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0" rIns="91440" bIns="64008" numCol="1" spcCol="0" rtlCol="0" fromWordArt="0" anchor="t" anchorCtr="0" forceAA="0" compatLnSpc="1">
            <a:prstTxWarp prst="textNoShape">
              <a:avLst/>
            </a:prstTxWarp>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3" name="Rectangle: Top Corners Rounded 12">
            <a:extLst>
              <a:ext uri="{FF2B5EF4-FFF2-40B4-BE49-F238E27FC236}">
                <a16:creationId xmlns:a16="http://schemas.microsoft.com/office/drawing/2014/main" id="{6B6A64E3-6770-68DD-DD48-52DB2FAF2344}"/>
              </a:ext>
            </a:extLst>
          </p:cNvPr>
          <p:cNvSpPr/>
          <p:nvPr/>
        </p:nvSpPr>
        <p:spPr bwMode="auto">
          <a:xfrm>
            <a:off x="4565511" y="5314324"/>
            <a:ext cx="3060978" cy="347385"/>
          </a:xfrm>
          <a:prstGeom prst="round2SameRect">
            <a:avLst>
              <a:gd name="adj1" fmla="val 50000"/>
              <a:gd name="adj2" fmla="val 0"/>
            </a:avLst>
          </a:prstGeom>
          <a:gradFill flip="none" rotWithShape="1">
            <a:gsLst>
              <a:gs pos="0">
                <a:schemeClr val="accent4">
                  <a:lumMod val="75000"/>
                </a:schemeClr>
              </a:gs>
              <a:gs pos="100000">
                <a:schemeClr val="accent2">
                  <a:lumMod val="75000"/>
                </a:schemeClr>
              </a:gs>
              <a:gs pos="56000">
                <a:srgbClr val="CC9180"/>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9144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Sans Display Semibold"/>
                <a:ea typeface="+mn-ea"/>
                <a:cs typeface="Segoe UI" pitchFamily="34" charset="0"/>
              </a:rPr>
              <a:t>Client Team</a:t>
            </a:r>
          </a:p>
        </p:txBody>
      </p:sp>
      <p:sp>
        <p:nvSpPr>
          <p:cNvPr id="14" name="Rectangle: Rounded Corners 13">
            <a:extLst>
              <a:ext uri="{FF2B5EF4-FFF2-40B4-BE49-F238E27FC236}">
                <a16:creationId xmlns:a16="http://schemas.microsoft.com/office/drawing/2014/main" id="{C9331789-559A-0205-A47A-A1830316DDCD}"/>
              </a:ext>
            </a:extLst>
          </p:cNvPr>
          <p:cNvSpPr>
            <a:spLocks/>
          </p:cNvSpPr>
          <p:nvPr/>
        </p:nvSpPr>
        <p:spPr bwMode="auto">
          <a:xfrm>
            <a:off x="387350" y="5754882"/>
            <a:ext cx="2768600" cy="501703"/>
          </a:xfrm>
          <a:prstGeom prst="roundRect">
            <a:avLst>
              <a:gd name="adj" fmla="val 1488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AI Business &amp; Technology Lead </a:t>
            </a:r>
          </a:p>
        </p:txBody>
      </p:sp>
      <p:sp>
        <p:nvSpPr>
          <p:cNvPr id="15" name="Rectangle: Rounded Corners 14">
            <a:extLst>
              <a:ext uri="{FF2B5EF4-FFF2-40B4-BE49-F238E27FC236}">
                <a16:creationId xmlns:a16="http://schemas.microsoft.com/office/drawing/2014/main" id="{E34154FC-5932-569C-0222-200CF928C953}"/>
              </a:ext>
            </a:extLst>
          </p:cNvPr>
          <p:cNvSpPr>
            <a:spLocks/>
          </p:cNvSpPr>
          <p:nvPr/>
        </p:nvSpPr>
        <p:spPr bwMode="auto">
          <a:xfrm>
            <a:off x="3270250" y="5754882"/>
            <a:ext cx="2768600" cy="501703"/>
          </a:xfrm>
          <a:prstGeom prst="roundRect">
            <a:avLst>
              <a:gd name="adj" fmla="val 1488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Product / Business Domain Leads</a:t>
            </a:r>
          </a:p>
        </p:txBody>
      </p:sp>
      <p:sp>
        <p:nvSpPr>
          <p:cNvPr id="16" name="Rectangle: Rounded Corners 15">
            <a:extLst>
              <a:ext uri="{FF2B5EF4-FFF2-40B4-BE49-F238E27FC236}">
                <a16:creationId xmlns:a16="http://schemas.microsoft.com/office/drawing/2014/main" id="{E1B645DF-A1CB-2A48-CE51-85463859DF0F}"/>
              </a:ext>
            </a:extLst>
          </p:cNvPr>
          <p:cNvSpPr>
            <a:spLocks/>
          </p:cNvSpPr>
          <p:nvPr/>
        </p:nvSpPr>
        <p:spPr bwMode="auto">
          <a:xfrm>
            <a:off x="6153150" y="5754882"/>
            <a:ext cx="2768600" cy="501703"/>
          </a:xfrm>
          <a:prstGeom prst="roundRect">
            <a:avLst>
              <a:gd name="adj" fmla="val 1488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AI + Apps Architects / Developers</a:t>
            </a:r>
          </a:p>
        </p:txBody>
      </p:sp>
      <p:sp>
        <p:nvSpPr>
          <p:cNvPr id="17" name="Rectangle: Rounded Corners 16">
            <a:extLst>
              <a:ext uri="{FF2B5EF4-FFF2-40B4-BE49-F238E27FC236}">
                <a16:creationId xmlns:a16="http://schemas.microsoft.com/office/drawing/2014/main" id="{68F1D3EE-D457-CA05-4104-53176067945A}"/>
              </a:ext>
            </a:extLst>
          </p:cNvPr>
          <p:cNvSpPr>
            <a:spLocks/>
          </p:cNvSpPr>
          <p:nvPr/>
        </p:nvSpPr>
        <p:spPr bwMode="auto">
          <a:xfrm>
            <a:off x="9036050" y="5754882"/>
            <a:ext cx="2768600" cy="501703"/>
          </a:xfrm>
          <a:prstGeom prst="roundRect">
            <a:avLst>
              <a:gd name="adj" fmla="val 14888"/>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200" b="0" i="1"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AI Transformation Sponsor (Key Program Lead)</a:t>
            </a:r>
          </a:p>
        </p:txBody>
      </p:sp>
      <p:sp>
        <p:nvSpPr>
          <p:cNvPr id="2" name="Rectangle: Rounded Corners 1">
            <a:extLst>
              <a:ext uri="{FF2B5EF4-FFF2-40B4-BE49-F238E27FC236}">
                <a16:creationId xmlns:a16="http://schemas.microsoft.com/office/drawing/2014/main" id="{70FF4EBE-69C4-4516-E595-17540BEC28F8}"/>
              </a:ext>
            </a:extLst>
          </p:cNvPr>
          <p:cNvSpPr>
            <a:spLocks/>
          </p:cNvSpPr>
          <p:nvPr/>
        </p:nvSpPr>
        <p:spPr bwMode="auto">
          <a:xfrm>
            <a:off x="423790" y="3236445"/>
            <a:ext cx="3465618" cy="433088"/>
          </a:xfrm>
          <a:prstGeom prst="roundRect">
            <a:avLst>
              <a:gd name="adj" fmla="val 7800"/>
            </a:avLst>
          </a:prstGeom>
          <a:solidFill>
            <a:srgbClr val="F87D47">
              <a:alpha val="80000"/>
            </a:srgb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AI Patterns Scorecard</a:t>
            </a:r>
          </a:p>
          <a:p>
            <a:pPr marL="0" marR="0" lvl="0" indent="0" algn="ctr" defTabSz="932472" rtl="0" eaLnBrk="1" fontAlgn="base"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2 hour presentation</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3" name="Rectangle: Rounded Corners 2">
            <a:extLst>
              <a:ext uri="{FF2B5EF4-FFF2-40B4-BE49-F238E27FC236}">
                <a16:creationId xmlns:a16="http://schemas.microsoft.com/office/drawing/2014/main" id="{25A1E558-11C1-970C-BC14-0ED54301B7E1}"/>
              </a:ext>
            </a:extLst>
          </p:cNvPr>
          <p:cNvSpPr>
            <a:spLocks/>
          </p:cNvSpPr>
          <p:nvPr/>
        </p:nvSpPr>
        <p:spPr bwMode="auto">
          <a:xfrm>
            <a:off x="423790" y="4571873"/>
            <a:ext cx="3465618" cy="433088"/>
          </a:xfrm>
          <a:prstGeom prst="roundRect">
            <a:avLst>
              <a:gd name="adj" fmla="val 7800"/>
            </a:avLst>
          </a:prstGeom>
          <a:solidFill>
            <a:srgbClr val="F87D47">
              <a:alpha val="80000"/>
            </a:srgb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tx2">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ts val="0"/>
              </a:spcBef>
              <a:spcAft>
                <a:spcPts val="4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Rapid Prototyping</a:t>
            </a:r>
            <a:b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br>
            <a:r>
              <a:rPr kumimoji="0" lang="en-US" sz="1100" b="0" i="1" u="none" strike="noStrike" kern="1200" cap="none" spc="0" normalizeH="0" baseline="0" noProof="0">
                <a:ln>
                  <a:noFill/>
                </a:ln>
                <a:solidFill>
                  <a:srgbClr val="FFFFFF"/>
                </a:solidFill>
                <a:effectLst/>
                <a:uLnTx/>
                <a:uFillTx/>
                <a:latin typeface="Segoe Sans Display"/>
                <a:ea typeface="+mn-ea"/>
                <a:cs typeface="Segoe UI" pitchFamily="34" charset="0"/>
              </a:rPr>
              <a:t>Multiday Workshop</a:t>
            </a:r>
            <a:endParaRPr kumimoji="0" lang="en-US" sz="1200" b="0" i="1"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8" name="Rectangle: Rounded Corners 7">
            <a:extLst>
              <a:ext uri="{FF2B5EF4-FFF2-40B4-BE49-F238E27FC236}">
                <a16:creationId xmlns:a16="http://schemas.microsoft.com/office/drawing/2014/main" id="{9108D416-7C6B-FEFA-02DC-BD0BF500C2BB}"/>
              </a:ext>
            </a:extLst>
          </p:cNvPr>
          <p:cNvSpPr/>
          <p:nvPr/>
        </p:nvSpPr>
        <p:spPr bwMode="auto">
          <a:xfrm>
            <a:off x="462868" y="1121752"/>
            <a:ext cx="3530916" cy="4030627"/>
          </a:xfrm>
          <a:prstGeom prst="roundRect">
            <a:avLst>
              <a:gd name="adj" fmla="val 3441"/>
            </a:avLst>
          </a:prstGeom>
          <a:solidFill>
            <a:schemeClr val="bg2">
              <a:lumMod val="90000"/>
              <a:alpha val="8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endParaRPr>
          </a:p>
        </p:txBody>
      </p:sp>
      <p:sp>
        <p:nvSpPr>
          <p:cNvPr id="18" name="Arrow: Pentagon 17">
            <a:extLst>
              <a:ext uri="{FF2B5EF4-FFF2-40B4-BE49-F238E27FC236}">
                <a16:creationId xmlns:a16="http://schemas.microsoft.com/office/drawing/2014/main" id="{1F0D98C5-2FDE-C083-43AC-B63CB90DEED8}"/>
              </a:ext>
            </a:extLst>
          </p:cNvPr>
          <p:cNvSpPr/>
          <p:nvPr/>
        </p:nvSpPr>
        <p:spPr bwMode="auto">
          <a:xfrm>
            <a:off x="300950" y="1121752"/>
            <a:ext cx="3708441" cy="4030627"/>
          </a:xfrm>
          <a:prstGeom prst="homePlate">
            <a:avLst/>
          </a:prstGeom>
          <a:solidFill>
            <a:srgbClr val="FF5C39">
              <a:alpha val="86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rPr>
              <a:t>Workshops on AI </a:t>
            </a:r>
            <a:r>
              <a:rPr kumimoji="0" lang="en-US" sz="2000" b="1" i="0" u="none" strike="noStrike" kern="1200" cap="none" spc="0" normalizeH="0" baseline="0" noProof="0" err="1">
                <a:ln>
                  <a:noFill/>
                </a:ln>
                <a:solidFill>
                  <a:srgbClr val="FFF8F5"/>
                </a:solidFill>
                <a:effectLst/>
                <a:uLnTx/>
                <a:uFillTx/>
                <a:latin typeface="Segoe Sans Display"/>
                <a:ea typeface="Segoe UI" pitchFamily="34" charset="0"/>
                <a:cs typeface="Segoe UI" pitchFamily="34" charset="0"/>
              </a:rPr>
              <a:t>CoE</a:t>
            </a:r>
            <a:r>
              <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rPr>
              <a:t> + Envisioning Workshops </a:t>
            </a:r>
          </a:p>
        </p:txBody>
      </p:sp>
      <p:sp>
        <p:nvSpPr>
          <p:cNvPr id="19" name="Rectangle: Rounded Corners 18">
            <a:extLst>
              <a:ext uri="{FF2B5EF4-FFF2-40B4-BE49-F238E27FC236}">
                <a16:creationId xmlns:a16="http://schemas.microsoft.com/office/drawing/2014/main" id="{60215784-8A75-CF01-99DE-01C470311A08}"/>
              </a:ext>
            </a:extLst>
          </p:cNvPr>
          <p:cNvSpPr>
            <a:spLocks/>
          </p:cNvSpPr>
          <p:nvPr/>
        </p:nvSpPr>
        <p:spPr>
          <a:xfrm>
            <a:off x="4237930" y="1104543"/>
            <a:ext cx="3708441" cy="4030626"/>
          </a:xfrm>
          <a:prstGeom prst="roundRect">
            <a:avLst>
              <a:gd name="adj" fmla="val 2800"/>
            </a:avLst>
          </a:prstGeom>
          <a:solidFill>
            <a:schemeClr val="accent3">
              <a:lumMod val="20000"/>
              <a:lumOff val="80000"/>
              <a:alpha val="70000"/>
            </a:schemeClr>
          </a:solidFill>
          <a:ln w="9525">
            <a:solidFill>
              <a:schemeClr val="bg1"/>
            </a:solidFill>
          </a:ln>
          <a:effectLst>
            <a:outerShdw blurRad="190500" dist="76200" dir="3600000" sx="90000" sy="90000" algn="tr" rotWithShape="0">
              <a:schemeClr val="bg2">
                <a:lumMod val="5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9144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20" name="Arrow: Pentagon 19">
            <a:extLst>
              <a:ext uri="{FF2B5EF4-FFF2-40B4-BE49-F238E27FC236}">
                <a16:creationId xmlns:a16="http://schemas.microsoft.com/office/drawing/2014/main" id="{E3B378C4-5243-200C-AEAB-A03BCF9380DF}"/>
              </a:ext>
            </a:extLst>
          </p:cNvPr>
          <p:cNvSpPr/>
          <p:nvPr/>
        </p:nvSpPr>
        <p:spPr bwMode="auto">
          <a:xfrm>
            <a:off x="4243365" y="1121753"/>
            <a:ext cx="3667424" cy="4030626"/>
          </a:xfrm>
          <a:prstGeom prst="homePlate">
            <a:avLst/>
          </a:prstGeom>
          <a:solidFill>
            <a:schemeClr val="accent3">
              <a:alpha val="8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rPr>
              <a:t>Technical Training on Azure Landing Zone Implementation </a:t>
            </a:r>
          </a:p>
        </p:txBody>
      </p:sp>
      <p:sp>
        <p:nvSpPr>
          <p:cNvPr id="21" name="Rectangle: Rounded Corners 20">
            <a:extLst>
              <a:ext uri="{FF2B5EF4-FFF2-40B4-BE49-F238E27FC236}">
                <a16:creationId xmlns:a16="http://schemas.microsoft.com/office/drawing/2014/main" id="{A88EE8EA-7CE9-2D87-BE63-AC8B9A35FE7E}"/>
              </a:ext>
            </a:extLst>
          </p:cNvPr>
          <p:cNvSpPr>
            <a:spLocks/>
          </p:cNvSpPr>
          <p:nvPr/>
        </p:nvSpPr>
        <p:spPr>
          <a:xfrm>
            <a:off x="8341984" y="1135000"/>
            <a:ext cx="3550809" cy="4030626"/>
          </a:xfrm>
          <a:prstGeom prst="roundRect">
            <a:avLst>
              <a:gd name="adj" fmla="val 2800"/>
            </a:avLst>
          </a:prstGeom>
          <a:solidFill>
            <a:schemeClr val="accent1">
              <a:lumMod val="20000"/>
              <a:lumOff val="80000"/>
              <a:alpha val="70000"/>
            </a:schemeClr>
          </a:solidFill>
          <a:ln w="9525" cap="flat">
            <a:solidFill>
              <a:schemeClr val="bg1"/>
            </a:solidFill>
            <a:prstDash val="solid"/>
            <a:miter/>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a:ln>
                <a:noFill/>
              </a:ln>
              <a:solidFill>
                <a:srgbClr val="702573"/>
              </a:solidFill>
              <a:effectLst/>
              <a:uLnTx/>
              <a:uFillTx/>
              <a:latin typeface="Segoe Sans Display Semibold"/>
              <a:ea typeface="+mn-ea"/>
              <a:cs typeface="+mn-cs"/>
            </a:endParaRPr>
          </a:p>
        </p:txBody>
      </p:sp>
      <p:sp>
        <p:nvSpPr>
          <p:cNvPr id="22" name="Arrow: Pentagon 21">
            <a:extLst>
              <a:ext uri="{FF2B5EF4-FFF2-40B4-BE49-F238E27FC236}">
                <a16:creationId xmlns:a16="http://schemas.microsoft.com/office/drawing/2014/main" id="{FB40BE67-3431-EF04-4B82-7A0CCA3A4587}"/>
              </a:ext>
            </a:extLst>
          </p:cNvPr>
          <p:cNvSpPr/>
          <p:nvPr/>
        </p:nvSpPr>
        <p:spPr bwMode="auto">
          <a:xfrm>
            <a:off x="8198218" y="1104543"/>
            <a:ext cx="3924542" cy="4061083"/>
          </a:xfrm>
          <a:prstGeom prst="homePlate">
            <a:avLst/>
          </a:prstGeom>
          <a:solidFill>
            <a:schemeClr val="accent2">
              <a:alpha val="8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rPr>
              <a:t>Technical Training on </a:t>
            </a:r>
            <a:r>
              <a:rPr kumimoji="0" lang="en-US" sz="2000" b="1" i="0" u="none" strike="noStrike" kern="1200" cap="none" spc="0" normalizeH="0" baseline="0" noProof="0" err="1">
                <a:ln>
                  <a:noFill/>
                </a:ln>
                <a:solidFill>
                  <a:srgbClr val="FFF8F5"/>
                </a:solidFill>
                <a:effectLst/>
                <a:uLnTx/>
                <a:uFillTx/>
                <a:latin typeface="Segoe Sans Display"/>
                <a:ea typeface="Segoe UI" pitchFamily="34" charset="0"/>
                <a:cs typeface="Segoe UI" pitchFamily="34" charset="0"/>
              </a:rPr>
              <a:t>GenAIOps</a:t>
            </a:r>
            <a:r>
              <a:rPr kumimoji="0" lang="en-US" sz="2000" b="1" i="0" u="none" strike="noStrike" kern="1200" cap="none" spc="0" normalizeH="0" baseline="0" noProof="0">
                <a:ln>
                  <a:noFill/>
                </a:ln>
                <a:solidFill>
                  <a:srgbClr val="FFF8F5"/>
                </a:solidFill>
                <a:effectLst/>
                <a:uLnTx/>
                <a:uFillTx/>
                <a:latin typeface="Segoe Sans Display"/>
                <a:ea typeface="Segoe UI" pitchFamily="34" charset="0"/>
                <a:cs typeface="Segoe UI" pitchFamily="34" charset="0"/>
              </a:rPr>
              <a:t> + Production Deployment</a:t>
            </a:r>
          </a:p>
        </p:txBody>
      </p:sp>
    </p:spTree>
    <p:extLst>
      <p:ext uri="{BB962C8B-B14F-4D97-AF65-F5344CB8AC3E}">
        <p14:creationId xmlns:p14="http://schemas.microsoft.com/office/powerpoint/2010/main" val="162285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2FD49-8DF9-84C8-4FED-607DC37CC4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79013B-EB26-42FA-95E9-9014994839BC}"/>
              </a:ext>
            </a:extLst>
          </p:cNvPr>
          <p:cNvSpPr>
            <a:spLocks noGrp="1"/>
          </p:cNvSpPr>
          <p:nvPr>
            <p:ph type="title"/>
          </p:nvPr>
        </p:nvSpPr>
        <p:spPr>
          <a:xfrm>
            <a:off x="588963" y="457220"/>
            <a:ext cx="11062131" cy="553998"/>
          </a:xfrm>
        </p:spPr>
        <p:txBody>
          <a:bodyPr wrap="none" anchor="ctr"/>
          <a:lstStyle/>
          <a:p>
            <a:r>
              <a:rPr lang="en-US"/>
              <a:t>Customer Value Proposition of AI Transformation offer </a:t>
            </a:r>
          </a:p>
        </p:txBody>
      </p:sp>
      <p:sp>
        <p:nvSpPr>
          <p:cNvPr id="7" name="Freeform: Shape 6">
            <a:extLst>
              <a:ext uri="{FF2B5EF4-FFF2-40B4-BE49-F238E27FC236}">
                <a16:creationId xmlns:a16="http://schemas.microsoft.com/office/drawing/2014/main" id="{636FDD08-84C0-9536-5E66-C0EAD69BB94D}"/>
              </a:ext>
            </a:extLst>
          </p:cNvPr>
          <p:cNvSpPr/>
          <p:nvPr/>
        </p:nvSpPr>
        <p:spPr bwMode="auto">
          <a:xfrm>
            <a:off x="0" y="1271374"/>
            <a:ext cx="12192000" cy="2297951"/>
          </a:xfrm>
          <a:custGeom>
            <a:avLst/>
            <a:gdLst>
              <a:gd name="connsiteX0" fmla="*/ 0 w 12192000"/>
              <a:gd name="connsiteY0" fmla="*/ 0 h 1873250"/>
              <a:gd name="connsiteX1" fmla="*/ 12192000 w 12192000"/>
              <a:gd name="connsiteY1" fmla="*/ 0 h 1873250"/>
              <a:gd name="connsiteX2" fmla="*/ 12192000 w 12192000"/>
              <a:gd name="connsiteY2" fmla="*/ 1873250 h 1873250"/>
              <a:gd name="connsiteX3" fmla="*/ 0 w 12192000"/>
              <a:gd name="connsiteY3" fmla="*/ 1873250 h 1873250"/>
            </a:gdLst>
            <a:ahLst/>
            <a:cxnLst>
              <a:cxn ang="0">
                <a:pos x="connsiteX0" y="connsiteY0"/>
              </a:cxn>
              <a:cxn ang="0">
                <a:pos x="connsiteX1" y="connsiteY1"/>
              </a:cxn>
              <a:cxn ang="0">
                <a:pos x="connsiteX2" y="connsiteY2"/>
              </a:cxn>
              <a:cxn ang="0">
                <a:pos x="connsiteX3" y="connsiteY3"/>
              </a:cxn>
            </a:cxnLst>
            <a:rect l="l" t="t" r="r" b="b"/>
            <a:pathLst>
              <a:path w="12192000" h="1873250">
                <a:moveTo>
                  <a:pt x="0" y="0"/>
                </a:moveTo>
                <a:lnTo>
                  <a:pt x="12192000" y="0"/>
                </a:lnTo>
                <a:lnTo>
                  <a:pt x="12192000" y="1873250"/>
                </a:lnTo>
                <a:lnTo>
                  <a:pt x="0" y="1873250"/>
                </a:lnTo>
                <a:close/>
              </a:path>
            </a:pathLst>
          </a:cu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91F2C"/>
              </a:solidFill>
              <a:effectLst/>
              <a:uLnTx/>
              <a:uFillTx/>
              <a:latin typeface="Segoe Sans Display"/>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29187A34-8FA3-3B75-09E3-F516D4C674BE}"/>
              </a:ext>
            </a:extLst>
          </p:cNvPr>
          <p:cNvSpPr>
            <a:spLocks/>
          </p:cNvSpPr>
          <p:nvPr/>
        </p:nvSpPr>
        <p:spPr bwMode="auto">
          <a:xfrm>
            <a:off x="597919" y="3165987"/>
            <a:ext cx="11009881" cy="3195484"/>
          </a:xfrm>
          <a:prstGeom prst="roundRect">
            <a:avLst>
              <a:gd name="adj" fmla="val 4217"/>
            </a:avLst>
          </a:prstGeom>
          <a:solidFill>
            <a:schemeClr val="bg1"/>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accent3">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0" rIns="91440" bIns="64008" numCol="1" spcCol="0" rtlCol="0" fromWordArt="0" anchor="t" anchorCtr="0" forceAA="0" compatLnSpc="1">
            <a:prstTxWarp prst="textNoShape">
              <a:avLst/>
            </a:prstTxWarp>
            <a:noAutofit/>
          </a:body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grpSp>
        <p:nvGrpSpPr>
          <p:cNvPr id="9" name="Group 8">
            <a:extLst>
              <a:ext uri="{FF2B5EF4-FFF2-40B4-BE49-F238E27FC236}">
                <a16:creationId xmlns:a16="http://schemas.microsoft.com/office/drawing/2014/main" id="{D8485597-531E-9046-65E7-AB0A7C63AAC8}"/>
              </a:ext>
            </a:extLst>
          </p:cNvPr>
          <p:cNvGrpSpPr>
            <a:grpSpLocks/>
          </p:cNvGrpSpPr>
          <p:nvPr/>
        </p:nvGrpSpPr>
        <p:grpSpPr>
          <a:xfrm>
            <a:off x="1709698" y="2855118"/>
            <a:ext cx="627066" cy="627062"/>
            <a:chOff x="4605394" y="3881783"/>
            <a:chExt cx="468314" cy="465654"/>
          </a:xfrm>
        </p:grpSpPr>
        <p:sp>
          <p:nvSpPr>
            <p:cNvPr id="10" name="Oval 9">
              <a:extLst>
                <a:ext uri="{FF2B5EF4-FFF2-40B4-BE49-F238E27FC236}">
                  <a16:creationId xmlns:a16="http://schemas.microsoft.com/office/drawing/2014/main" id="{11F160F1-0157-EF71-61B1-276BED236231}"/>
                </a:ext>
              </a:extLst>
            </p:cNvPr>
            <p:cNvSpPr/>
            <p:nvPr/>
          </p:nvSpPr>
          <p:spPr bwMode="auto">
            <a:xfrm>
              <a:off x="4605394" y="3881783"/>
              <a:ext cx="468314" cy="465654"/>
            </a:xfrm>
            <a:prstGeom prst="ellipse">
              <a:avLst/>
            </a:prstGeom>
            <a:gradFill flip="none" rotWithShape="1">
              <a:gsLst>
                <a:gs pos="0">
                  <a:schemeClr val="accent4">
                    <a:lumMod val="75000"/>
                  </a:schemeClr>
                </a:gs>
                <a:gs pos="100000">
                  <a:schemeClr val="accent3"/>
                </a:gs>
                <a:gs pos="48000">
                  <a:schemeClr val="accent4">
                    <a:lumMod val="20000"/>
                    <a:lumOff val="80000"/>
                  </a:schemeClr>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1" name="Oval 10">
              <a:extLst>
                <a:ext uri="{FF2B5EF4-FFF2-40B4-BE49-F238E27FC236}">
                  <a16:creationId xmlns:a16="http://schemas.microsoft.com/office/drawing/2014/main" id="{44036B08-A2B7-6858-7E98-29397E921287}"/>
                </a:ext>
              </a:extLst>
            </p:cNvPr>
            <p:cNvSpPr/>
            <p:nvPr/>
          </p:nvSpPr>
          <p:spPr bwMode="auto">
            <a:xfrm>
              <a:off x="4639005" y="3914444"/>
              <a:ext cx="401092" cy="40033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12" name="TextBox 11">
            <a:extLst>
              <a:ext uri="{FF2B5EF4-FFF2-40B4-BE49-F238E27FC236}">
                <a16:creationId xmlns:a16="http://schemas.microsoft.com/office/drawing/2014/main" id="{55478E19-93EC-D934-F056-09B3B02F6779}"/>
              </a:ext>
            </a:extLst>
          </p:cNvPr>
          <p:cNvSpPr txBox="1">
            <a:spLocks/>
          </p:cNvSpPr>
          <p:nvPr/>
        </p:nvSpPr>
        <p:spPr>
          <a:xfrm>
            <a:off x="588263" y="1477581"/>
            <a:ext cx="11017250" cy="123110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91F2C"/>
                </a:solidFill>
                <a:effectLst/>
                <a:uLnTx/>
                <a:uFillTx/>
                <a:latin typeface="Segoe Sans Display Semibold"/>
                <a:ea typeface="+mn-ea"/>
                <a:cs typeface="+mn-cs"/>
              </a:rPr>
              <a:t>AI Transformation offer is a transformative offer designed to empower organizations to scale their AI capabilities effectively. By leveraging cutting-edge technology and strategic frameworks, AI Transformation offer helps enterprises overcome common challenges in AI adoption and implementation.</a:t>
            </a:r>
          </a:p>
        </p:txBody>
      </p:sp>
      <p:sp>
        <p:nvSpPr>
          <p:cNvPr id="21" name="Rectangle 20">
            <a:extLst>
              <a:ext uri="{FF2B5EF4-FFF2-40B4-BE49-F238E27FC236}">
                <a16:creationId xmlns:a16="http://schemas.microsoft.com/office/drawing/2014/main" id="{88517267-5427-7A6C-1FBD-E4FCFE7A7833}"/>
              </a:ext>
            </a:extLst>
          </p:cNvPr>
          <p:cNvSpPr/>
          <p:nvPr/>
        </p:nvSpPr>
        <p:spPr bwMode="auto">
          <a:xfrm>
            <a:off x="3527618" y="3659531"/>
            <a:ext cx="2430730" cy="2575064"/>
          </a:xfrm>
          <a:prstGeom prst="rect">
            <a:avLst/>
          </a:prstGeom>
          <a:noFill/>
          <a:ln w="6350">
            <a:no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914400" rtl="0" eaLnBrk="1" fontAlgn="auto" latinLnBrk="0" hangingPunct="1">
              <a:lnSpc>
                <a:spcPct val="100000"/>
              </a:lnSpc>
              <a:spcBef>
                <a:spcPts val="0"/>
              </a:spcBef>
              <a:spcAft>
                <a:spcPts val="400"/>
              </a:spcAft>
              <a:buClrTx/>
              <a:buSzTx/>
              <a:buFontTx/>
              <a:buNone/>
              <a:tabLst/>
              <a:defRPr/>
            </a:pPr>
            <a:r>
              <a:rPr kumimoji="0" lang="en-US" sz="1600" b="0" i="0" u="none" strike="noStrike" kern="1200" cap="none" spc="0" normalizeH="0" baseline="0" noProof="0">
                <a:ln>
                  <a:noFill/>
                </a:ln>
                <a:solidFill>
                  <a:srgbClr val="0078D4"/>
                </a:solidFill>
                <a:effectLst/>
                <a:uLnTx/>
                <a:uFillTx/>
                <a:latin typeface="Segoe Sans Display Semibold"/>
                <a:ea typeface="+mn-ea"/>
                <a:cs typeface="+mn-cs"/>
              </a:rPr>
              <a:t> </a:t>
            </a:r>
            <a: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t>Scaling from POC to Production</a:t>
            </a:r>
            <a:endParaRPr kumimoji="0" lang="en-US" sz="1600" b="0" i="0" u="none" strike="noStrike" kern="1200" cap="none" spc="0" normalizeH="0" baseline="0" noProof="0">
              <a:ln>
                <a:noFill/>
              </a:ln>
              <a:solidFill>
                <a:srgbClr val="0078D4"/>
              </a:solidFill>
              <a:effectLst/>
              <a:uLnTx/>
              <a:uFillTx/>
              <a:latin typeface="Segoe Sans Display Semibold"/>
              <a:ea typeface="+mn-ea"/>
              <a:cs typeface="+mn-cs"/>
            </a:endParaRPr>
          </a:p>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Provides a structured approach to transition AI projects from Proof of Concept (POC) to full-scale production, ensuring seamless deployment and tangible business outcomes.</a:t>
            </a:r>
          </a:p>
        </p:txBody>
      </p:sp>
      <p:sp>
        <p:nvSpPr>
          <p:cNvPr id="22" name="Rectangle 21">
            <a:extLst>
              <a:ext uri="{FF2B5EF4-FFF2-40B4-BE49-F238E27FC236}">
                <a16:creationId xmlns:a16="http://schemas.microsoft.com/office/drawing/2014/main" id="{4D92F992-BCBC-CD82-0047-A68647E61008}"/>
              </a:ext>
            </a:extLst>
          </p:cNvPr>
          <p:cNvSpPr/>
          <p:nvPr/>
        </p:nvSpPr>
        <p:spPr bwMode="auto">
          <a:xfrm>
            <a:off x="6438695" y="3659531"/>
            <a:ext cx="2048080" cy="2354491"/>
          </a:xfrm>
          <a:prstGeom prst="rect">
            <a:avLst/>
          </a:prstGeom>
          <a:noFill/>
          <a:ln w="6350">
            <a:no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t>Lack of AI-Ready Infrastructure</a:t>
            </a:r>
          </a:p>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Offers a robust infrastructure framework, including AI Foundry and Azure Machine Learning, to support enterprise-scale AI applications.</a:t>
            </a:r>
          </a:p>
        </p:txBody>
      </p:sp>
      <p:sp>
        <p:nvSpPr>
          <p:cNvPr id="27" name="Rectangle 26">
            <a:extLst>
              <a:ext uri="{FF2B5EF4-FFF2-40B4-BE49-F238E27FC236}">
                <a16:creationId xmlns:a16="http://schemas.microsoft.com/office/drawing/2014/main" id="{9880C330-C83E-2669-A969-05BDC41DB554}"/>
              </a:ext>
            </a:extLst>
          </p:cNvPr>
          <p:cNvSpPr/>
          <p:nvPr/>
        </p:nvSpPr>
        <p:spPr bwMode="auto">
          <a:xfrm>
            <a:off x="9014844" y="3659531"/>
            <a:ext cx="2335288" cy="1862048"/>
          </a:xfrm>
          <a:prstGeom prst="rect">
            <a:avLst/>
          </a:prstGeom>
          <a:noFill/>
          <a:ln w="6350">
            <a:no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t>Unlock AI </a:t>
            </a:r>
            <a:b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br>
            <a: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t>Potential</a:t>
            </a:r>
          </a:p>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AI Transformation offer empowers enterprises to leverage AI effectively, driving meaningful business transformation.</a:t>
            </a:r>
          </a:p>
        </p:txBody>
      </p:sp>
      <p:cxnSp>
        <p:nvCxnSpPr>
          <p:cNvPr id="28" name="Straight Connector 27">
            <a:extLst>
              <a:ext uri="{FF2B5EF4-FFF2-40B4-BE49-F238E27FC236}">
                <a16:creationId xmlns:a16="http://schemas.microsoft.com/office/drawing/2014/main" id="{D5738D60-1B21-5A97-2074-0F91F33755ED}"/>
              </a:ext>
            </a:extLst>
          </p:cNvPr>
          <p:cNvCxnSpPr>
            <a:cxnSpLocks/>
          </p:cNvCxnSpPr>
          <p:nvPr/>
        </p:nvCxnSpPr>
        <p:spPr>
          <a:xfrm>
            <a:off x="3383107" y="3611906"/>
            <a:ext cx="0" cy="2652008"/>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DF8F8E1-8474-1728-BC20-BE66A28240D4}"/>
              </a:ext>
            </a:extLst>
          </p:cNvPr>
          <p:cNvCxnSpPr>
            <a:cxnSpLocks/>
          </p:cNvCxnSpPr>
          <p:nvPr/>
        </p:nvCxnSpPr>
        <p:spPr>
          <a:xfrm>
            <a:off x="6102859" y="3611906"/>
            <a:ext cx="0" cy="2652008"/>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5023129-F9BB-4A98-95C4-B62EDD63A403}"/>
              </a:ext>
            </a:extLst>
          </p:cNvPr>
          <p:cNvCxnSpPr>
            <a:cxnSpLocks/>
          </p:cNvCxnSpPr>
          <p:nvPr/>
        </p:nvCxnSpPr>
        <p:spPr>
          <a:xfrm>
            <a:off x="8822611" y="3611906"/>
            <a:ext cx="0" cy="2652008"/>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36CDC5E2-A8A9-210B-C931-FB778FDEB6E1}"/>
              </a:ext>
            </a:extLst>
          </p:cNvPr>
          <p:cNvGrpSpPr>
            <a:grpSpLocks/>
          </p:cNvGrpSpPr>
          <p:nvPr/>
        </p:nvGrpSpPr>
        <p:grpSpPr>
          <a:xfrm>
            <a:off x="4429450" y="2855118"/>
            <a:ext cx="627066" cy="627062"/>
            <a:chOff x="4605394" y="3881783"/>
            <a:chExt cx="468314" cy="465654"/>
          </a:xfrm>
        </p:grpSpPr>
        <p:sp>
          <p:nvSpPr>
            <p:cNvPr id="45" name="Oval 44">
              <a:extLst>
                <a:ext uri="{FF2B5EF4-FFF2-40B4-BE49-F238E27FC236}">
                  <a16:creationId xmlns:a16="http://schemas.microsoft.com/office/drawing/2014/main" id="{58DEF5E3-8E60-98D2-A03A-E746CB0B77E0}"/>
                </a:ext>
              </a:extLst>
            </p:cNvPr>
            <p:cNvSpPr/>
            <p:nvPr/>
          </p:nvSpPr>
          <p:spPr bwMode="auto">
            <a:xfrm>
              <a:off x="4605394" y="3881783"/>
              <a:ext cx="468314" cy="465654"/>
            </a:xfrm>
            <a:prstGeom prst="ellipse">
              <a:avLst/>
            </a:prstGeom>
            <a:gradFill flip="none" rotWithShape="1">
              <a:gsLst>
                <a:gs pos="0">
                  <a:schemeClr val="accent4">
                    <a:lumMod val="75000"/>
                  </a:schemeClr>
                </a:gs>
                <a:gs pos="100000">
                  <a:schemeClr val="accent3"/>
                </a:gs>
                <a:gs pos="48000">
                  <a:schemeClr val="accent4">
                    <a:lumMod val="20000"/>
                    <a:lumOff val="80000"/>
                  </a:schemeClr>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46" name="Oval 45">
              <a:extLst>
                <a:ext uri="{FF2B5EF4-FFF2-40B4-BE49-F238E27FC236}">
                  <a16:creationId xmlns:a16="http://schemas.microsoft.com/office/drawing/2014/main" id="{8F808AC0-A6B9-F292-D69F-9B7B33E8AC15}"/>
                </a:ext>
              </a:extLst>
            </p:cNvPr>
            <p:cNvSpPr/>
            <p:nvPr/>
          </p:nvSpPr>
          <p:spPr bwMode="auto">
            <a:xfrm>
              <a:off x="4639005" y="3914444"/>
              <a:ext cx="401092" cy="40033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47" name="Group 46">
            <a:extLst>
              <a:ext uri="{FF2B5EF4-FFF2-40B4-BE49-F238E27FC236}">
                <a16:creationId xmlns:a16="http://schemas.microsoft.com/office/drawing/2014/main" id="{2696FE9E-A5F3-7765-F693-1DD91E0DDA41}"/>
              </a:ext>
            </a:extLst>
          </p:cNvPr>
          <p:cNvGrpSpPr>
            <a:grpSpLocks/>
          </p:cNvGrpSpPr>
          <p:nvPr/>
        </p:nvGrpSpPr>
        <p:grpSpPr>
          <a:xfrm>
            <a:off x="7149202" y="2855118"/>
            <a:ext cx="627066" cy="627062"/>
            <a:chOff x="4605394" y="3881783"/>
            <a:chExt cx="468314" cy="465654"/>
          </a:xfrm>
        </p:grpSpPr>
        <p:sp>
          <p:nvSpPr>
            <p:cNvPr id="48" name="Oval 47">
              <a:extLst>
                <a:ext uri="{FF2B5EF4-FFF2-40B4-BE49-F238E27FC236}">
                  <a16:creationId xmlns:a16="http://schemas.microsoft.com/office/drawing/2014/main" id="{9CAE954A-C0DD-39DC-5C9C-16345138B020}"/>
                </a:ext>
              </a:extLst>
            </p:cNvPr>
            <p:cNvSpPr/>
            <p:nvPr/>
          </p:nvSpPr>
          <p:spPr bwMode="auto">
            <a:xfrm>
              <a:off x="4605394" y="3881783"/>
              <a:ext cx="468314" cy="465654"/>
            </a:xfrm>
            <a:prstGeom prst="ellipse">
              <a:avLst/>
            </a:prstGeom>
            <a:gradFill flip="none" rotWithShape="1">
              <a:gsLst>
                <a:gs pos="0">
                  <a:schemeClr val="accent4">
                    <a:lumMod val="75000"/>
                  </a:schemeClr>
                </a:gs>
                <a:gs pos="100000">
                  <a:schemeClr val="accent3"/>
                </a:gs>
                <a:gs pos="48000">
                  <a:schemeClr val="accent4">
                    <a:lumMod val="20000"/>
                    <a:lumOff val="80000"/>
                  </a:schemeClr>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49" name="Oval 48">
              <a:extLst>
                <a:ext uri="{FF2B5EF4-FFF2-40B4-BE49-F238E27FC236}">
                  <a16:creationId xmlns:a16="http://schemas.microsoft.com/office/drawing/2014/main" id="{44C01D5E-F051-1478-4504-FA87FB099B7E}"/>
                </a:ext>
              </a:extLst>
            </p:cNvPr>
            <p:cNvSpPr/>
            <p:nvPr/>
          </p:nvSpPr>
          <p:spPr bwMode="auto">
            <a:xfrm>
              <a:off x="4639005" y="3914444"/>
              <a:ext cx="401092" cy="40033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50" name="Group 49">
            <a:extLst>
              <a:ext uri="{FF2B5EF4-FFF2-40B4-BE49-F238E27FC236}">
                <a16:creationId xmlns:a16="http://schemas.microsoft.com/office/drawing/2014/main" id="{31C98A29-35CC-654B-271B-9FBB57D421E9}"/>
              </a:ext>
            </a:extLst>
          </p:cNvPr>
          <p:cNvGrpSpPr>
            <a:grpSpLocks/>
          </p:cNvGrpSpPr>
          <p:nvPr/>
        </p:nvGrpSpPr>
        <p:grpSpPr>
          <a:xfrm>
            <a:off x="9868955" y="2855118"/>
            <a:ext cx="627066" cy="627062"/>
            <a:chOff x="4605394" y="3881783"/>
            <a:chExt cx="468314" cy="465654"/>
          </a:xfrm>
        </p:grpSpPr>
        <p:sp>
          <p:nvSpPr>
            <p:cNvPr id="51" name="Oval 50">
              <a:extLst>
                <a:ext uri="{FF2B5EF4-FFF2-40B4-BE49-F238E27FC236}">
                  <a16:creationId xmlns:a16="http://schemas.microsoft.com/office/drawing/2014/main" id="{6A7EA261-F7E0-D051-B3AF-D2470E28FC87}"/>
                </a:ext>
              </a:extLst>
            </p:cNvPr>
            <p:cNvSpPr/>
            <p:nvPr/>
          </p:nvSpPr>
          <p:spPr bwMode="auto">
            <a:xfrm>
              <a:off x="4605394" y="3881783"/>
              <a:ext cx="468314" cy="465654"/>
            </a:xfrm>
            <a:prstGeom prst="ellipse">
              <a:avLst/>
            </a:prstGeom>
            <a:gradFill flip="none" rotWithShape="1">
              <a:gsLst>
                <a:gs pos="0">
                  <a:schemeClr val="accent4">
                    <a:lumMod val="75000"/>
                  </a:schemeClr>
                </a:gs>
                <a:gs pos="100000">
                  <a:schemeClr val="accent3"/>
                </a:gs>
                <a:gs pos="48000">
                  <a:schemeClr val="accent4">
                    <a:lumMod val="20000"/>
                    <a:lumOff val="80000"/>
                  </a:schemeClr>
                </a:gs>
              </a:gsLst>
              <a:path path="circle">
                <a:fillToRect l="100000" t="100000"/>
              </a:path>
              <a:tileRect r="-100000" b="-100000"/>
            </a:gradFill>
            <a:ln>
              <a:noFill/>
              <a:headEnd type="none" w="med" len="med"/>
              <a:tailEnd type="none" w="med" len="med"/>
            </a:ln>
            <a:effectLst>
              <a:outerShdw blurRad="139700" dist="38100" dir="2700000" algn="tl" rotWithShape="0">
                <a:schemeClr val="tx1">
                  <a:alpha val="18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52" name="Oval 51">
              <a:extLst>
                <a:ext uri="{FF2B5EF4-FFF2-40B4-BE49-F238E27FC236}">
                  <a16:creationId xmlns:a16="http://schemas.microsoft.com/office/drawing/2014/main" id="{FBE23476-6E78-3604-5D23-08A06055B58E}"/>
                </a:ext>
              </a:extLst>
            </p:cNvPr>
            <p:cNvSpPr/>
            <p:nvPr/>
          </p:nvSpPr>
          <p:spPr bwMode="auto">
            <a:xfrm>
              <a:off x="4639005" y="3914444"/>
              <a:ext cx="401092" cy="400333"/>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91440" tIns="0" rIns="9144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53" name="Freeform: Shape 52" descr="Icon of a chart line of varying heights that ends with an arrow pointing top right">
            <a:extLst>
              <a:ext uri="{FF2B5EF4-FFF2-40B4-BE49-F238E27FC236}">
                <a16:creationId xmlns:a16="http://schemas.microsoft.com/office/drawing/2014/main" id="{F653E703-803F-10A0-AE8C-22A3C7FA2BF7}"/>
              </a:ext>
            </a:extLst>
          </p:cNvPr>
          <p:cNvSpPr>
            <a:spLocks noChangeAspect="1"/>
          </p:cNvSpPr>
          <p:nvPr/>
        </p:nvSpPr>
        <p:spPr>
          <a:xfrm>
            <a:off x="1877454" y="3073910"/>
            <a:ext cx="291554" cy="189478"/>
          </a:xfrm>
          <a:custGeom>
            <a:avLst/>
            <a:gdLst>
              <a:gd name="connsiteX0" fmla="*/ 161327 w 274630"/>
              <a:gd name="connsiteY0" fmla="*/ 0 h 178480"/>
              <a:gd name="connsiteX1" fmla="*/ 265050 w 274630"/>
              <a:gd name="connsiteY1" fmla="*/ 7 h 178480"/>
              <a:gd name="connsiteX2" fmla="*/ 266427 w 274630"/>
              <a:gd name="connsiteY2" fmla="*/ 198 h 178480"/>
              <a:gd name="connsiteX3" fmla="*/ 267784 w 274630"/>
              <a:gd name="connsiteY3" fmla="*/ 577 h 178480"/>
              <a:gd name="connsiteX4" fmla="*/ 268612 w 274630"/>
              <a:gd name="connsiteY4" fmla="*/ 929 h 178480"/>
              <a:gd name="connsiteX5" fmla="*/ 271615 w 274630"/>
              <a:gd name="connsiteY5" fmla="*/ 2998 h 178480"/>
              <a:gd name="connsiteX6" fmla="*/ 272174 w 274630"/>
              <a:gd name="connsiteY6" fmla="*/ 3604 h 178480"/>
              <a:gd name="connsiteX7" fmla="*/ 272771 w 274630"/>
              <a:gd name="connsiteY7" fmla="*/ 4378 h 178480"/>
              <a:gd name="connsiteX8" fmla="*/ 273515 w 274630"/>
              <a:gd name="connsiteY8" fmla="*/ 5615 h 178480"/>
              <a:gd name="connsiteX9" fmla="*/ 274047 w 274630"/>
              <a:gd name="connsiteY9" fmla="*/ 6855 h 178480"/>
              <a:gd name="connsiteX10" fmla="*/ 274309 w 274630"/>
              <a:gd name="connsiteY10" fmla="*/ 7735 h 178480"/>
              <a:gd name="connsiteX11" fmla="*/ 274496 w 274630"/>
              <a:gd name="connsiteY11" fmla="*/ 8614 h 178480"/>
              <a:gd name="connsiteX12" fmla="*/ 274624 w 274630"/>
              <a:gd name="connsiteY12" fmla="*/ 9907 h 178480"/>
              <a:gd name="connsiteX13" fmla="*/ 274630 w 274630"/>
              <a:gd name="connsiteY13" fmla="*/ 113336 h 178480"/>
              <a:gd name="connsiteX14" fmla="*/ 264332 w 274630"/>
              <a:gd name="connsiteY14" fmla="*/ 123634 h 178480"/>
              <a:gd name="connsiteX15" fmla="*/ 254128 w 274630"/>
              <a:gd name="connsiteY15" fmla="*/ 114733 h 178480"/>
              <a:gd name="connsiteX16" fmla="*/ 254033 w 274630"/>
              <a:gd name="connsiteY16" fmla="*/ 113336 h 178480"/>
              <a:gd name="connsiteX17" fmla="*/ 254028 w 274630"/>
              <a:gd name="connsiteY17" fmla="*/ 35138 h 178480"/>
              <a:gd name="connsiteX18" fmla="*/ 148039 w 274630"/>
              <a:gd name="connsiteY18" fmla="*/ 141146 h 178480"/>
              <a:gd name="connsiteX19" fmla="*/ 134629 w 274630"/>
              <a:gd name="connsiteY19" fmla="*/ 142143 h 178480"/>
              <a:gd name="connsiteX20" fmla="*/ 133474 w 274630"/>
              <a:gd name="connsiteY20" fmla="*/ 141147 h 178480"/>
              <a:gd name="connsiteX21" fmla="*/ 92686 w 274630"/>
              <a:gd name="connsiteY21" fmla="*/ 100360 h 178480"/>
              <a:gd name="connsiteX22" fmla="*/ 17581 w 274630"/>
              <a:gd name="connsiteY22" fmla="*/ 175465 h 178480"/>
              <a:gd name="connsiteX23" fmla="*/ 3016 w 274630"/>
              <a:gd name="connsiteY23" fmla="*/ 175465 h 178480"/>
              <a:gd name="connsiteX24" fmla="*/ 2019 w 274630"/>
              <a:gd name="connsiteY24" fmla="*/ 162055 h 178480"/>
              <a:gd name="connsiteX25" fmla="*/ 3016 w 274630"/>
              <a:gd name="connsiteY25" fmla="*/ 160901 h 178480"/>
              <a:gd name="connsiteX26" fmla="*/ 85404 w 274630"/>
              <a:gd name="connsiteY26" fmla="*/ 78514 h 178480"/>
              <a:gd name="connsiteX27" fmla="*/ 98812 w 274630"/>
              <a:gd name="connsiteY27" fmla="*/ 77517 h 178480"/>
              <a:gd name="connsiteX28" fmla="*/ 99968 w 274630"/>
              <a:gd name="connsiteY28" fmla="*/ 78514 h 178480"/>
              <a:gd name="connsiteX29" fmla="*/ 140756 w 274630"/>
              <a:gd name="connsiteY29" fmla="*/ 119300 h 178480"/>
              <a:gd name="connsiteX30" fmla="*/ 239445 w 274630"/>
              <a:gd name="connsiteY30" fmla="*/ 20597 h 178480"/>
              <a:gd name="connsiteX31" fmla="*/ 161327 w 274630"/>
              <a:gd name="connsiteY31" fmla="*/ 20597 h 178480"/>
              <a:gd name="connsiteX32" fmla="*/ 151123 w 274630"/>
              <a:gd name="connsiteY32" fmla="*/ 11696 h 178480"/>
              <a:gd name="connsiteX33" fmla="*/ 151028 w 274630"/>
              <a:gd name="connsiteY33" fmla="*/ 10299 h 178480"/>
              <a:gd name="connsiteX34" fmla="*/ 159931 w 274630"/>
              <a:gd name="connsiteY34" fmla="*/ 94 h 178480"/>
              <a:gd name="connsiteX35" fmla="*/ 161327 w 274630"/>
              <a:gd name="connsiteY35" fmla="*/ 0 h 17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74630" h="178480">
                <a:moveTo>
                  <a:pt x="161327" y="0"/>
                </a:moveTo>
                <a:lnTo>
                  <a:pt x="265050" y="7"/>
                </a:lnTo>
                <a:lnTo>
                  <a:pt x="266427" y="198"/>
                </a:lnTo>
                <a:lnTo>
                  <a:pt x="267784" y="577"/>
                </a:lnTo>
                <a:lnTo>
                  <a:pt x="268612" y="929"/>
                </a:lnTo>
                <a:cubicBezTo>
                  <a:pt x="269699" y="1408"/>
                  <a:pt x="270718" y="2102"/>
                  <a:pt x="271615" y="2998"/>
                </a:cubicBezTo>
                <a:lnTo>
                  <a:pt x="272174" y="3604"/>
                </a:lnTo>
                <a:lnTo>
                  <a:pt x="272771" y="4378"/>
                </a:lnTo>
                <a:lnTo>
                  <a:pt x="273515" y="5615"/>
                </a:lnTo>
                <a:lnTo>
                  <a:pt x="274047" y="6855"/>
                </a:lnTo>
                <a:lnTo>
                  <a:pt x="274309" y="7735"/>
                </a:lnTo>
                <a:lnTo>
                  <a:pt x="274496" y="8614"/>
                </a:lnTo>
                <a:lnTo>
                  <a:pt x="274624" y="9907"/>
                </a:lnTo>
                <a:lnTo>
                  <a:pt x="274630" y="113336"/>
                </a:lnTo>
                <a:cubicBezTo>
                  <a:pt x="274630" y="119023"/>
                  <a:pt x="270021" y="123634"/>
                  <a:pt x="264332" y="123634"/>
                </a:cubicBezTo>
                <a:cubicBezTo>
                  <a:pt x="259119" y="123634"/>
                  <a:pt x="254810" y="119759"/>
                  <a:pt x="254128" y="114733"/>
                </a:cubicBezTo>
                <a:lnTo>
                  <a:pt x="254033" y="113336"/>
                </a:lnTo>
                <a:lnTo>
                  <a:pt x="254028" y="35138"/>
                </a:lnTo>
                <a:lnTo>
                  <a:pt x="148039" y="141146"/>
                </a:lnTo>
                <a:cubicBezTo>
                  <a:pt x="144383" y="144802"/>
                  <a:pt x="138661" y="145135"/>
                  <a:pt x="134629" y="142143"/>
                </a:cubicBezTo>
                <a:lnTo>
                  <a:pt x="133474" y="141147"/>
                </a:lnTo>
                <a:lnTo>
                  <a:pt x="92686" y="100360"/>
                </a:lnTo>
                <a:lnTo>
                  <a:pt x="17581" y="175465"/>
                </a:lnTo>
                <a:cubicBezTo>
                  <a:pt x="13559" y="179486"/>
                  <a:pt x="7038" y="179486"/>
                  <a:pt x="3016" y="175465"/>
                </a:cubicBezTo>
                <a:cubicBezTo>
                  <a:pt x="-640" y="171808"/>
                  <a:pt x="-972" y="166088"/>
                  <a:pt x="2019" y="162055"/>
                </a:cubicBezTo>
                <a:lnTo>
                  <a:pt x="3016" y="160901"/>
                </a:lnTo>
                <a:lnTo>
                  <a:pt x="85404" y="78514"/>
                </a:lnTo>
                <a:cubicBezTo>
                  <a:pt x="89060" y="74858"/>
                  <a:pt x="94781" y="74526"/>
                  <a:pt x="98812" y="77517"/>
                </a:cubicBezTo>
                <a:lnTo>
                  <a:pt x="99968" y="78514"/>
                </a:lnTo>
                <a:lnTo>
                  <a:pt x="140756" y="119300"/>
                </a:lnTo>
                <a:lnTo>
                  <a:pt x="239445" y="20597"/>
                </a:lnTo>
                <a:lnTo>
                  <a:pt x="161327" y="20597"/>
                </a:lnTo>
                <a:cubicBezTo>
                  <a:pt x="156113" y="20597"/>
                  <a:pt x="151804" y="16722"/>
                  <a:pt x="151123" y="11696"/>
                </a:cubicBezTo>
                <a:lnTo>
                  <a:pt x="151028" y="10299"/>
                </a:lnTo>
                <a:cubicBezTo>
                  <a:pt x="151028" y="5085"/>
                  <a:pt x="154904" y="776"/>
                  <a:pt x="159931" y="94"/>
                </a:cubicBezTo>
                <a:lnTo>
                  <a:pt x="161327" y="0"/>
                </a:ln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54" name="Graphic 101" descr="Icon of a packaged box">
            <a:extLst>
              <a:ext uri="{FF2B5EF4-FFF2-40B4-BE49-F238E27FC236}">
                <a16:creationId xmlns:a16="http://schemas.microsoft.com/office/drawing/2014/main" id="{14153F18-90A1-C775-F27F-BB83E9F5A169}"/>
              </a:ext>
            </a:extLst>
          </p:cNvPr>
          <p:cNvSpPr/>
          <p:nvPr/>
        </p:nvSpPr>
        <p:spPr>
          <a:xfrm>
            <a:off x="4592978" y="3022202"/>
            <a:ext cx="300010" cy="292894"/>
          </a:xfrm>
          <a:custGeom>
            <a:avLst/>
            <a:gdLst>
              <a:gd name="connsiteX0" fmla="*/ 131308 w 305683"/>
              <a:gd name="connsiteY0" fmla="*/ 4199 h 298433"/>
              <a:gd name="connsiteX1" fmla="*/ 174376 w 305683"/>
              <a:gd name="connsiteY1" fmla="*/ 4199 h 298433"/>
              <a:gd name="connsiteX2" fmla="*/ 288985 w 305683"/>
              <a:gd name="connsiteY2" fmla="*/ 50662 h 298433"/>
              <a:gd name="connsiteX3" fmla="*/ 305683 w 305683"/>
              <a:gd name="connsiteY3" fmla="*/ 75450 h 298433"/>
              <a:gd name="connsiteX4" fmla="*/ 305683 w 305683"/>
              <a:gd name="connsiteY4" fmla="*/ 222984 h 298433"/>
              <a:gd name="connsiteX5" fmla="*/ 288985 w 305683"/>
              <a:gd name="connsiteY5" fmla="*/ 247772 h 298433"/>
              <a:gd name="connsiteX6" fmla="*/ 174376 w 305683"/>
              <a:gd name="connsiteY6" fmla="*/ 294234 h 298433"/>
              <a:gd name="connsiteX7" fmla="*/ 131308 w 305683"/>
              <a:gd name="connsiteY7" fmla="*/ 294234 h 298433"/>
              <a:gd name="connsiteX8" fmla="*/ 16698 w 305683"/>
              <a:gd name="connsiteY8" fmla="*/ 247772 h 298433"/>
              <a:gd name="connsiteX9" fmla="*/ 0 w 305683"/>
              <a:gd name="connsiteY9" fmla="*/ 222984 h 298433"/>
              <a:gd name="connsiteX10" fmla="*/ 0 w 305683"/>
              <a:gd name="connsiteY10" fmla="*/ 75450 h 298433"/>
              <a:gd name="connsiteX11" fmla="*/ 16698 w 305683"/>
              <a:gd name="connsiteY11" fmla="*/ 50662 h 298433"/>
              <a:gd name="connsiteX12" fmla="*/ 131308 w 305683"/>
              <a:gd name="connsiteY12" fmla="*/ 4199 h 298433"/>
              <a:gd name="connsiteX13" fmla="*/ 165761 w 305683"/>
              <a:gd name="connsiteY13" fmla="*/ 25446 h 298433"/>
              <a:gd name="connsiteX14" fmla="*/ 139922 w 305683"/>
              <a:gd name="connsiteY14" fmla="*/ 25446 h 298433"/>
              <a:gd name="connsiteX15" fmla="*/ 110672 w 305683"/>
              <a:gd name="connsiteY15" fmla="*/ 37303 h 298433"/>
              <a:gd name="connsiteX16" fmla="*/ 225714 w 305683"/>
              <a:gd name="connsiteY16" fmla="*/ 82042 h 298433"/>
              <a:gd name="connsiteX17" fmla="*/ 266510 w 305683"/>
              <a:gd name="connsiteY17" fmla="*/ 66289 h 298433"/>
              <a:gd name="connsiteX18" fmla="*/ 165761 w 305683"/>
              <a:gd name="connsiteY18" fmla="*/ 25446 h 298433"/>
              <a:gd name="connsiteX19" fmla="*/ 193973 w 305683"/>
              <a:gd name="connsiteY19" fmla="*/ 94297 h 298433"/>
              <a:gd name="connsiteX20" fmla="*/ 79703 w 305683"/>
              <a:gd name="connsiteY20" fmla="*/ 49859 h 298433"/>
              <a:gd name="connsiteX21" fmla="*/ 39590 w 305683"/>
              <a:gd name="connsiteY21" fmla="*/ 66120 h 298433"/>
              <a:gd name="connsiteX22" fmla="*/ 152862 w 305683"/>
              <a:gd name="connsiteY22" fmla="*/ 110170 h 298433"/>
              <a:gd name="connsiteX23" fmla="*/ 193973 w 305683"/>
              <a:gd name="connsiteY23" fmla="*/ 94297 h 298433"/>
              <a:gd name="connsiteX24" fmla="*/ 22926 w 305683"/>
              <a:gd name="connsiteY24" fmla="*/ 222984 h 298433"/>
              <a:gd name="connsiteX25" fmla="*/ 25312 w 305683"/>
              <a:gd name="connsiteY25" fmla="*/ 226525 h 298433"/>
              <a:gd name="connsiteX26" fmla="*/ 139922 w 305683"/>
              <a:gd name="connsiteY26" fmla="*/ 272988 h 298433"/>
              <a:gd name="connsiteX27" fmla="*/ 141383 w 305683"/>
              <a:gd name="connsiteY27" fmla="*/ 273543 h 298433"/>
              <a:gd name="connsiteX28" fmla="*/ 141383 w 305683"/>
              <a:gd name="connsiteY28" fmla="*/ 130305 h 298433"/>
              <a:gd name="connsiteX29" fmla="*/ 22926 w 305683"/>
              <a:gd name="connsiteY29" fmla="*/ 84239 h 298433"/>
              <a:gd name="connsiteX30" fmla="*/ 22926 w 305683"/>
              <a:gd name="connsiteY30" fmla="*/ 222984 h 298433"/>
              <a:gd name="connsiteX31" fmla="*/ 165761 w 305683"/>
              <a:gd name="connsiteY31" fmla="*/ 272988 h 298433"/>
              <a:gd name="connsiteX32" fmla="*/ 280371 w 305683"/>
              <a:gd name="connsiteY32" fmla="*/ 226525 h 298433"/>
              <a:gd name="connsiteX33" fmla="*/ 282757 w 305683"/>
              <a:gd name="connsiteY33" fmla="*/ 222984 h 298433"/>
              <a:gd name="connsiteX34" fmla="*/ 282757 w 305683"/>
              <a:gd name="connsiteY34" fmla="*/ 84592 h 298433"/>
              <a:gd name="connsiteX35" fmla="*/ 164309 w 305683"/>
              <a:gd name="connsiteY35" fmla="*/ 130325 h 298433"/>
              <a:gd name="connsiteX36" fmla="*/ 164309 w 305683"/>
              <a:gd name="connsiteY36" fmla="*/ 273539 h 298433"/>
              <a:gd name="connsiteX37" fmla="*/ 165761 w 305683"/>
              <a:gd name="connsiteY37" fmla="*/ 272988 h 298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05683" h="298433">
                <a:moveTo>
                  <a:pt x="131308" y="4199"/>
                </a:moveTo>
                <a:cubicBezTo>
                  <a:pt x="145119" y="-1400"/>
                  <a:pt x="160565" y="-1400"/>
                  <a:pt x="174376" y="4199"/>
                </a:cubicBezTo>
                <a:lnTo>
                  <a:pt x="288985" y="50662"/>
                </a:lnTo>
                <a:cubicBezTo>
                  <a:pt x="299079" y="54754"/>
                  <a:pt x="305683" y="64558"/>
                  <a:pt x="305683" y="75450"/>
                </a:cubicBezTo>
                <a:lnTo>
                  <a:pt x="305683" y="222984"/>
                </a:lnTo>
                <a:cubicBezTo>
                  <a:pt x="305683" y="233876"/>
                  <a:pt x="299079" y="243679"/>
                  <a:pt x="288985" y="247772"/>
                </a:cubicBezTo>
                <a:lnTo>
                  <a:pt x="174376" y="294234"/>
                </a:lnTo>
                <a:cubicBezTo>
                  <a:pt x="160565" y="299833"/>
                  <a:pt x="145119" y="299833"/>
                  <a:pt x="131308" y="294234"/>
                </a:cubicBezTo>
                <a:lnTo>
                  <a:pt x="16698" y="247772"/>
                </a:lnTo>
                <a:cubicBezTo>
                  <a:pt x="6604" y="243679"/>
                  <a:pt x="0" y="233876"/>
                  <a:pt x="0" y="222984"/>
                </a:cubicBezTo>
                <a:lnTo>
                  <a:pt x="0" y="75450"/>
                </a:lnTo>
                <a:cubicBezTo>
                  <a:pt x="0" y="64558"/>
                  <a:pt x="6604" y="54754"/>
                  <a:pt x="16698" y="50662"/>
                </a:cubicBezTo>
                <a:lnTo>
                  <a:pt x="131308" y="4199"/>
                </a:lnTo>
                <a:close/>
                <a:moveTo>
                  <a:pt x="165761" y="25446"/>
                </a:moveTo>
                <a:cubicBezTo>
                  <a:pt x="157476" y="22086"/>
                  <a:pt x="148208" y="22086"/>
                  <a:pt x="139922" y="25446"/>
                </a:cubicBezTo>
                <a:lnTo>
                  <a:pt x="110672" y="37303"/>
                </a:lnTo>
                <a:lnTo>
                  <a:pt x="225714" y="82042"/>
                </a:lnTo>
                <a:lnTo>
                  <a:pt x="266510" y="66289"/>
                </a:lnTo>
                <a:lnTo>
                  <a:pt x="165761" y="25446"/>
                </a:lnTo>
                <a:close/>
                <a:moveTo>
                  <a:pt x="193973" y="94297"/>
                </a:moveTo>
                <a:lnTo>
                  <a:pt x="79703" y="49859"/>
                </a:lnTo>
                <a:lnTo>
                  <a:pt x="39590" y="66120"/>
                </a:lnTo>
                <a:lnTo>
                  <a:pt x="152862" y="110170"/>
                </a:lnTo>
                <a:lnTo>
                  <a:pt x="193973" y="94297"/>
                </a:lnTo>
                <a:close/>
                <a:moveTo>
                  <a:pt x="22926" y="222984"/>
                </a:moveTo>
                <a:cubicBezTo>
                  <a:pt x="22926" y="224540"/>
                  <a:pt x="23870" y="225940"/>
                  <a:pt x="25312" y="226525"/>
                </a:cubicBezTo>
                <a:lnTo>
                  <a:pt x="139922" y="272988"/>
                </a:lnTo>
                <a:cubicBezTo>
                  <a:pt x="140405" y="273185"/>
                  <a:pt x="140894" y="273370"/>
                  <a:pt x="141383" y="273543"/>
                </a:cubicBezTo>
                <a:lnTo>
                  <a:pt x="141383" y="130305"/>
                </a:lnTo>
                <a:lnTo>
                  <a:pt x="22926" y="84239"/>
                </a:lnTo>
                <a:lnTo>
                  <a:pt x="22926" y="222984"/>
                </a:lnTo>
                <a:close/>
                <a:moveTo>
                  <a:pt x="165761" y="272988"/>
                </a:moveTo>
                <a:lnTo>
                  <a:pt x="280371" y="226525"/>
                </a:lnTo>
                <a:cubicBezTo>
                  <a:pt x="281814" y="225940"/>
                  <a:pt x="282757" y="224540"/>
                  <a:pt x="282757" y="222984"/>
                </a:cubicBezTo>
                <a:lnTo>
                  <a:pt x="282757" y="84592"/>
                </a:lnTo>
                <a:lnTo>
                  <a:pt x="164309" y="130325"/>
                </a:lnTo>
                <a:lnTo>
                  <a:pt x="164309" y="273539"/>
                </a:lnTo>
                <a:cubicBezTo>
                  <a:pt x="164797" y="273367"/>
                  <a:pt x="165281" y="273183"/>
                  <a:pt x="165761" y="272988"/>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55" name="Graphic 277" descr="Icon of a power plug showing an A to B connection">
            <a:extLst>
              <a:ext uri="{FF2B5EF4-FFF2-40B4-BE49-F238E27FC236}">
                <a16:creationId xmlns:a16="http://schemas.microsoft.com/office/drawing/2014/main" id="{C792E3A2-8541-EC9E-2D05-6B32EF4A1A07}"/>
              </a:ext>
            </a:extLst>
          </p:cNvPr>
          <p:cNvSpPr/>
          <p:nvPr/>
        </p:nvSpPr>
        <p:spPr>
          <a:xfrm>
            <a:off x="7324754" y="3030669"/>
            <a:ext cx="275962" cy="275960"/>
          </a:xfrm>
          <a:custGeom>
            <a:avLst/>
            <a:gdLst>
              <a:gd name="connsiteX0" fmla="*/ 285057 w 325969"/>
              <a:gd name="connsiteY0" fmla="*/ 58199 h 325969"/>
              <a:gd name="connsiteX1" fmla="*/ 305595 w 325969"/>
              <a:gd name="connsiteY1" fmla="*/ 118164 h 325969"/>
              <a:gd name="connsiteX2" fmla="*/ 254211 w 325969"/>
              <a:gd name="connsiteY2" fmla="*/ 204264 h 325969"/>
              <a:gd name="connsiteX3" fmla="*/ 222400 w 325969"/>
              <a:gd name="connsiteY3" fmla="*/ 197953 h 325969"/>
              <a:gd name="connsiteX4" fmla="*/ 128015 w 325969"/>
              <a:gd name="connsiteY4" fmla="*/ 103569 h 325969"/>
              <a:gd name="connsiteX5" fmla="*/ 121705 w 325969"/>
              <a:gd name="connsiteY5" fmla="*/ 71757 h 325969"/>
              <a:gd name="connsiteX6" fmla="*/ 207804 w 325969"/>
              <a:gd name="connsiteY6" fmla="*/ 20373 h 325969"/>
              <a:gd name="connsiteX7" fmla="*/ 267771 w 325969"/>
              <a:gd name="connsiteY7" fmla="*/ 40912 h 325969"/>
              <a:gd name="connsiteX8" fmla="*/ 305103 w 325969"/>
              <a:gd name="connsiteY8" fmla="*/ 3580 h 325969"/>
              <a:gd name="connsiteX9" fmla="*/ 322389 w 325969"/>
              <a:gd name="connsiteY9" fmla="*/ 3580 h 325969"/>
              <a:gd name="connsiteX10" fmla="*/ 322389 w 325969"/>
              <a:gd name="connsiteY10" fmla="*/ 20867 h 325969"/>
              <a:gd name="connsiteX11" fmla="*/ 285057 w 325969"/>
              <a:gd name="connsiteY11" fmla="*/ 58199 h 325969"/>
              <a:gd name="connsiteX12" fmla="*/ 252190 w 325969"/>
              <a:gd name="connsiteY12" fmla="*/ 176563 h 325969"/>
              <a:gd name="connsiteX13" fmla="*/ 281147 w 325969"/>
              <a:gd name="connsiteY13" fmla="*/ 118164 h 325969"/>
              <a:gd name="connsiteX14" fmla="*/ 207804 w 325969"/>
              <a:gd name="connsiteY14" fmla="*/ 44821 h 325969"/>
              <a:gd name="connsiteX15" fmla="*/ 149405 w 325969"/>
              <a:gd name="connsiteY15" fmla="*/ 73779 h 325969"/>
              <a:gd name="connsiteX16" fmla="*/ 151439 w 325969"/>
              <a:gd name="connsiteY16" fmla="*/ 92418 h 325969"/>
              <a:gd name="connsiteX17" fmla="*/ 233549 w 325969"/>
              <a:gd name="connsiteY17" fmla="*/ 174529 h 325969"/>
              <a:gd name="connsiteX18" fmla="*/ 252190 w 325969"/>
              <a:gd name="connsiteY18" fmla="*/ 176563 h 325969"/>
              <a:gd name="connsiteX19" fmla="*/ 20867 w 325969"/>
              <a:gd name="connsiteY19" fmla="*/ 322389 h 325969"/>
              <a:gd name="connsiteX20" fmla="*/ 58197 w 325969"/>
              <a:gd name="connsiteY20" fmla="*/ 285059 h 325969"/>
              <a:gd name="connsiteX21" fmla="*/ 118162 w 325969"/>
              <a:gd name="connsiteY21" fmla="*/ 305597 h 325969"/>
              <a:gd name="connsiteX22" fmla="*/ 204261 w 325969"/>
              <a:gd name="connsiteY22" fmla="*/ 254213 h 325969"/>
              <a:gd name="connsiteX23" fmla="*/ 197952 w 325969"/>
              <a:gd name="connsiteY23" fmla="*/ 222401 h 325969"/>
              <a:gd name="connsiteX24" fmla="*/ 103567 w 325969"/>
              <a:gd name="connsiteY24" fmla="*/ 128016 h 325969"/>
              <a:gd name="connsiteX25" fmla="*/ 71755 w 325969"/>
              <a:gd name="connsiteY25" fmla="*/ 121706 h 325969"/>
              <a:gd name="connsiteX26" fmla="*/ 20371 w 325969"/>
              <a:gd name="connsiteY26" fmla="*/ 207806 h 325969"/>
              <a:gd name="connsiteX27" fmla="*/ 40910 w 325969"/>
              <a:gd name="connsiteY27" fmla="*/ 267773 h 325969"/>
              <a:gd name="connsiteX28" fmla="*/ 3580 w 325969"/>
              <a:gd name="connsiteY28" fmla="*/ 305103 h 325969"/>
              <a:gd name="connsiteX29" fmla="*/ 3580 w 325969"/>
              <a:gd name="connsiteY29" fmla="*/ 322389 h 325969"/>
              <a:gd name="connsiteX30" fmla="*/ 20867 w 325969"/>
              <a:gd name="connsiteY30" fmla="*/ 322389 h 325969"/>
              <a:gd name="connsiteX31" fmla="*/ 92416 w 325969"/>
              <a:gd name="connsiteY31" fmla="*/ 151441 h 325969"/>
              <a:gd name="connsiteX32" fmla="*/ 174528 w 325969"/>
              <a:gd name="connsiteY32" fmla="*/ 233551 h 325969"/>
              <a:gd name="connsiteX33" fmla="*/ 176562 w 325969"/>
              <a:gd name="connsiteY33" fmla="*/ 252192 h 325969"/>
              <a:gd name="connsiteX34" fmla="*/ 118162 w 325969"/>
              <a:gd name="connsiteY34" fmla="*/ 281149 h 325969"/>
              <a:gd name="connsiteX35" fmla="*/ 44819 w 325969"/>
              <a:gd name="connsiteY35" fmla="*/ 207806 h 325969"/>
              <a:gd name="connsiteX36" fmla="*/ 73777 w 325969"/>
              <a:gd name="connsiteY36" fmla="*/ 149407 h 325969"/>
              <a:gd name="connsiteX37" fmla="*/ 92416 w 325969"/>
              <a:gd name="connsiteY37" fmla="*/ 151441 h 32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5969" h="325969">
                <a:moveTo>
                  <a:pt x="285057" y="58199"/>
                </a:moveTo>
                <a:cubicBezTo>
                  <a:pt x="297930" y="74759"/>
                  <a:pt x="305595" y="95566"/>
                  <a:pt x="305595" y="118164"/>
                </a:cubicBezTo>
                <a:cubicBezTo>
                  <a:pt x="305595" y="155378"/>
                  <a:pt x="284808" y="187737"/>
                  <a:pt x="254211" y="204264"/>
                </a:cubicBezTo>
                <a:cubicBezTo>
                  <a:pt x="243632" y="209978"/>
                  <a:pt x="230902" y="206456"/>
                  <a:pt x="222400" y="197953"/>
                </a:cubicBezTo>
                <a:lnTo>
                  <a:pt x="128015" y="103569"/>
                </a:lnTo>
                <a:cubicBezTo>
                  <a:pt x="119512" y="95066"/>
                  <a:pt x="115990" y="82337"/>
                  <a:pt x="121705" y="71757"/>
                </a:cubicBezTo>
                <a:cubicBezTo>
                  <a:pt x="138231" y="41160"/>
                  <a:pt x="170590" y="20373"/>
                  <a:pt x="207804" y="20373"/>
                </a:cubicBezTo>
                <a:cubicBezTo>
                  <a:pt x="230402" y="20373"/>
                  <a:pt x="251212" y="28039"/>
                  <a:pt x="267771" y="40912"/>
                </a:cubicBezTo>
                <a:lnTo>
                  <a:pt x="305103" y="3580"/>
                </a:lnTo>
                <a:cubicBezTo>
                  <a:pt x="309877" y="-1193"/>
                  <a:pt x="317615" y="-1193"/>
                  <a:pt x="322389" y="3580"/>
                </a:cubicBezTo>
                <a:cubicBezTo>
                  <a:pt x="327163" y="8354"/>
                  <a:pt x="327163" y="16094"/>
                  <a:pt x="322389" y="20867"/>
                </a:cubicBezTo>
                <a:lnTo>
                  <a:pt x="285057" y="58199"/>
                </a:lnTo>
                <a:close/>
                <a:moveTo>
                  <a:pt x="252190" y="176563"/>
                </a:moveTo>
                <a:cubicBezTo>
                  <a:pt x="269796" y="163158"/>
                  <a:pt x="281147" y="141970"/>
                  <a:pt x="281147" y="118164"/>
                </a:cubicBezTo>
                <a:cubicBezTo>
                  <a:pt x="281147" y="77658"/>
                  <a:pt x="248311" y="44821"/>
                  <a:pt x="207804" y="44821"/>
                </a:cubicBezTo>
                <a:cubicBezTo>
                  <a:pt x="183999" y="44821"/>
                  <a:pt x="162811" y="56172"/>
                  <a:pt x="149405" y="73779"/>
                </a:cubicBezTo>
                <a:cubicBezTo>
                  <a:pt x="145070" y="79470"/>
                  <a:pt x="146380" y="87360"/>
                  <a:pt x="151439" y="92418"/>
                </a:cubicBezTo>
                <a:lnTo>
                  <a:pt x="233549" y="174529"/>
                </a:lnTo>
                <a:cubicBezTo>
                  <a:pt x="238608" y="179588"/>
                  <a:pt x="246498" y="180899"/>
                  <a:pt x="252190" y="176563"/>
                </a:cubicBezTo>
                <a:close/>
                <a:moveTo>
                  <a:pt x="20867" y="322389"/>
                </a:moveTo>
                <a:lnTo>
                  <a:pt x="58197" y="285059"/>
                </a:lnTo>
                <a:cubicBezTo>
                  <a:pt x="74757" y="297932"/>
                  <a:pt x="95564" y="305597"/>
                  <a:pt x="118162" y="305597"/>
                </a:cubicBezTo>
                <a:cubicBezTo>
                  <a:pt x="155377" y="305597"/>
                  <a:pt x="187736" y="284810"/>
                  <a:pt x="204261" y="254213"/>
                </a:cubicBezTo>
                <a:cubicBezTo>
                  <a:pt x="209977" y="243633"/>
                  <a:pt x="206455" y="230904"/>
                  <a:pt x="197952" y="222401"/>
                </a:cubicBezTo>
                <a:lnTo>
                  <a:pt x="103567" y="128016"/>
                </a:lnTo>
                <a:cubicBezTo>
                  <a:pt x="95064" y="119513"/>
                  <a:pt x="82335" y="115992"/>
                  <a:pt x="71755" y="121706"/>
                </a:cubicBezTo>
                <a:cubicBezTo>
                  <a:pt x="41158" y="138232"/>
                  <a:pt x="20371" y="170591"/>
                  <a:pt x="20371" y="207806"/>
                </a:cubicBezTo>
                <a:cubicBezTo>
                  <a:pt x="20371" y="230405"/>
                  <a:pt x="28037" y="251214"/>
                  <a:pt x="40910" y="267773"/>
                </a:cubicBezTo>
                <a:lnTo>
                  <a:pt x="3580" y="305103"/>
                </a:lnTo>
                <a:cubicBezTo>
                  <a:pt x="-1193" y="309877"/>
                  <a:pt x="-1193" y="317615"/>
                  <a:pt x="3580" y="322389"/>
                </a:cubicBezTo>
                <a:cubicBezTo>
                  <a:pt x="8354" y="327163"/>
                  <a:pt x="16094" y="327163"/>
                  <a:pt x="20867" y="322389"/>
                </a:cubicBezTo>
                <a:close/>
                <a:moveTo>
                  <a:pt x="92416" y="151441"/>
                </a:moveTo>
                <a:lnTo>
                  <a:pt x="174528" y="233551"/>
                </a:lnTo>
                <a:cubicBezTo>
                  <a:pt x="179587" y="238610"/>
                  <a:pt x="180895" y="246500"/>
                  <a:pt x="176562" y="252192"/>
                </a:cubicBezTo>
                <a:cubicBezTo>
                  <a:pt x="163156" y="269797"/>
                  <a:pt x="141968" y="281149"/>
                  <a:pt x="118162" y="281149"/>
                </a:cubicBezTo>
                <a:cubicBezTo>
                  <a:pt x="77656" y="281149"/>
                  <a:pt x="44819" y="248313"/>
                  <a:pt x="44819" y="207806"/>
                </a:cubicBezTo>
                <a:cubicBezTo>
                  <a:pt x="44819" y="184000"/>
                  <a:pt x="56170" y="162812"/>
                  <a:pt x="73777" y="149407"/>
                </a:cubicBezTo>
                <a:cubicBezTo>
                  <a:pt x="79468" y="145071"/>
                  <a:pt x="87357" y="146382"/>
                  <a:pt x="92416" y="151441"/>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sp>
        <p:nvSpPr>
          <p:cNvPr id="56" name="Graphic 8" descr="Icon of an AI robot">
            <a:extLst>
              <a:ext uri="{FF2B5EF4-FFF2-40B4-BE49-F238E27FC236}">
                <a16:creationId xmlns:a16="http://schemas.microsoft.com/office/drawing/2014/main" id="{3508A86D-5A8C-04DF-8E46-8592A5A65B4F}"/>
              </a:ext>
            </a:extLst>
          </p:cNvPr>
          <p:cNvSpPr>
            <a:spLocks noChangeAspect="1"/>
          </p:cNvSpPr>
          <p:nvPr/>
        </p:nvSpPr>
        <p:spPr>
          <a:xfrm>
            <a:off x="10066761" y="3023980"/>
            <a:ext cx="231456" cy="289338"/>
          </a:xfrm>
          <a:custGeom>
            <a:avLst/>
            <a:gdLst>
              <a:gd name="connsiteX0" fmla="*/ 310304 w 361083"/>
              <a:gd name="connsiteY0" fmla="*/ 270807 h 451381"/>
              <a:gd name="connsiteX1" fmla="*/ 361083 w 361083"/>
              <a:gd name="connsiteY1" fmla="*/ 321586 h 451381"/>
              <a:gd name="connsiteX2" fmla="*/ 361083 w 361083"/>
              <a:gd name="connsiteY2" fmla="*/ 342013 h 451381"/>
              <a:gd name="connsiteX3" fmla="*/ 331579 w 361083"/>
              <a:gd name="connsiteY3" fmla="*/ 406227 h 451381"/>
              <a:gd name="connsiteX4" fmla="*/ 180468 w 361083"/>
              <a:gd name="connsiteY4" fmla="*/ 451382 h 451381"/>
              <a:gd name="connsiteX5" fmla="*/ 29458 w 361083"/>
              <a:gd name="connsiteY5" fmla="*/ 406238 h 451381"/>
              <a:gd name="connsiteX6" fmla="*/ 0 w 361083"/>
              <a:gd name="connsiteY6" fmla="*/ 342063 h 451381"/>
              <a:gd name="connsiteX7" fmla="*/ 0 w 361083"/>
              <a:gd name="connsiteY7" fmla="*/ 321586 h 451381"/>
              <a:gd name="connsiteX8" fmla="*/ 50779 w 361083"/>
              <a:gd name="connsiteY8" fmla="*/ 270807 h 451381"/>
              <a:gd name="connsiteX9" fmla="*/ 310304 w 361083"/>
              <a:gd name="connsiteY9" fmla="*/ 270807 h 451381"/>
              <a:gd name="connsiteX10" fmla="*/ 310304 w 361083"/>
              <a:gd name="connsiteY10" fmla="*/ 304660 h 451381"/>
              <a:gd name="connsiteX11" fmla="*/ 50779 w 361083"/>
              <a:gd name="connsiteY11" fmla="*/ 304660 h 451381"/>
              <a:gd name="connsiteX12" fmla="*/ 33853 w 361083"/>
              <a:gd name="connsiteY12" fmla="*/ 321586 h 451381"/>
              <a:gd name="connsiteX13" fmla="*/ 33853 w 361083"/>
              <a:gd name="connsiteY13" fmla="*/ 342063 h 451381"/>
              <a:gd name="connsiteX14" fmla="*/ 51527 w 361083"/>
              <a:gd name="connsiteY14" fmla="*/ 380569 h 451381"/>
              <a:gd name="connsiteX15" fmla="*/ 180468 w 361083"/>
              <a:gd name="connsiteY15" fmla="*/ 417529 h 451381"/>
              <a:gd name="connsiteX16" fmla="*/ 309530 w 361083"/>
              <a:gd name="connsiteY16" fmla="*/ 380542 h 451381"/>
              <a:gd name="connsiteX17" fmla="*/ 327231 w 361083"/>
              <a:gd name="connsiteY17" fmla="*/ 342013 h 451381"/>
              <a:gd name="connsiteX18" fmla="*/ 327231 w 361083"/>
              <a:gd name="connsiteY18" fmla="*/ 321586 h 451381"/>
              <a:gd name="connsiteX19" fmla="*/ 310304 w 361083"/>
              <a:gd name="connsiteY19" fmla="*/ 304660 h 451381"/>
              <a:gd name="connsiteX20" fmla="*/ 178177 w 361083"/>
              <a:gd name="connsiteY20" fmla="*/ 155 h 451381"/>
              <a:gd name="connsiteX21" fmla="*/ 180475 w 361083"/>
              <a:gd name="connsiteY21" fmla="*/ 0 h 451381"/>
              <a:gd name="connsiteX22" fmla="*/ 197245 w 361083"/>
              <a:gd name="connsiteY22" fmla="*/ 14630 h 451381"/>
              <a:gd name="connsiteX23" fmla="*/ 197401 w 361083"/>
              <a:gd name="connsiteY23" fmla="*/ 16926 h 451381"/>
              <a:gd name="connsiteX24" fmla="*/ 197383 w 361083"/>
              <a:gd name="connsiteY24" fmla="*/ 33830 h 451381"/>
              <a:gd name="connsiteX25" fmla="*/ 276384 w 361083"/>
              <a:gd name="connsiteY25" fmla="*/ 33842 h 451381"/>
              <a:gd name="connsiteX26" fmla="*/ 327163 w 361083"/>
              <a:gd name="connsiteY26" fmla="*/ 84621 h 451381"/>
              <a:gd name="connsiteX27" fmla="*/ 327163 w 361083"/>
              <a:gd name="connsiteY27" fmla="*/ 186282 h 451381"/>
              <a:gd name="connsiteX28" fmla="*/ 276384 w 361083"/>
              <a:gd name="connsiteY28" fmla="*/ 237061 h 451381"/>
              <a:gd name="connsiteX29" fmla="*/ 84551 w 361083"/>
              <a:gd name="connsiteY29" fmla="*/ 237061 h 451381"/>
              <a:gd name="connsiteX30" fmla="*/ 33773 w 361083"/>
              <a:gd name="connsiteY30" fmla="*/ 186282 h 451381"/>
              <a:gd name="connsiteX31" fmla="*/ 33773 w 361083"/>
              <a:gd name="connsiteY31" fmla="*/ 84621 h 451381"/>
              <a:gd name="connsiteX32" fmla="*/ 84551 w 361083"/>
              <a:gd name="connsiteY32" fmla="*/ 33842 h 451381"/>
              <a:gd name="connsiteX33" fmla="*/ 163531 w 361083"/>
              <a:gd name="connsiteY33" fmla="*/ 33830 h 451381"/>
              <a:gd name="connsiteX34" fmla="*/ 163549 w 361083"/>
              <a:gd name="connsiteY34" fmla="*/ 16926 h 451381"/>
              <a:gd name="connsiteX35" fmla="*/ 178177 w 361083"/>
              <a:gd name="connsiteY35" fmla="*/ 155 h 451381"/>
              <a:gd name="connsiteX36" fmla="*/ 180475 w 361083"/>
              <a:gd name="connsiteY36" fmla="*/ 0 h 451381"/>
              <a:gd name="connsiteX37" fmla="*/ 178177 w 361083"/>
              <a:gd name="connsiteY37" fmla="*/ 155 h 451381"/>
              <a:gd name="connsiteX38" fmla="*/ 276384 w 361083"/>
              <a:gd name="connsiteY38" fmla="*/ 67694 h 451381"/>
              <a:gd name="connsiteX39" fmla="*/ 84551 w 361083"/>
              <a:gd name="connsiteY39" fmla="*/ 67694 h 451381"/>
              <a:gd name="connsiteX40" fmla="*/ 67625 w 361083"/>
              <a:gd name="connsiteY40" fmla="*/ 84621 h 451381"/>
              <a:gd name="connsiteX41" fmla="*/ 67625 w 361083"/>
              <a:gd name="connsiteY41" fmla="*/ 186282 h 451381"/>
              <a:gd name="connsiteX42" fmla="*/ 84551 w 361083"/>
              <a:gd name="connsiteY42" fmla="*/ 203208 h 451381"/>
              <a:gd name="connsiteX43" fmla="*/ 276384 w 361083"/>
              <a:gd name="connsiteY43" fmla="*/ 203208 h 451381"/>
              <a:gd name="connsiteX44" fmla="*/ 293310 w 361083"/>
              <a:gd name="connsiteY44" fmla="*/ 186282 h 451381"/>
              <a:gd name="connsiteX45" fmla="*/ 293310 w 361083"/>
              <a:gd name="connsiteY45" fmla="*/ 84621 h 451381"/>
              <a:gd name="connsiteX46" fmla="*/ 276384 w 361083"/>
              <a:gd name="connsiteY46" fmla="*/ 67694 h 451381"/>
              <a:gd name="connsiteX47" fmla="*/ 129672 w 361083"/>
              <a:gd name="connsiteY47" fmla="*/ 101547 h 451381"/>
              <a:gd name="connsiteX48" fmla="*/ 157866 w 361083"/>
              <a:gd name="connsiteY48" fmla="*/ 129741 h 451381"/>
              <a:gd name="connsiteX49" fmla="*/ 129672 w 361083"/>
              <a:gd name="connsiteY49" fmla="*/ 157936 h 451381"/>
              <a:gd name="connsiteX50" fmla="*/ 101478 w 361083"/>
              <a:gd name="connsiteY50" fmla="*/ 129741 h 451381"/>
              <a:gd name="connsiteX51" fmla="*/ 129672 w 361083"/>
              <a:gd name="connsiteY51" fmla="*/ 101547 h 451381"/>
              <a:gd name="connsiteX52" fmla="*/ 231067 w 361083"/>
              <a:gd name="connsiteY52" fmla="*/ 101547 h 451381"/>
              <a:gd name="connsiteX53" fmla="*/ 259261 w 361083"/>
              <a:gd name="connsiteY53" fmla="*/ 129741 h 451381"/>
              <a:gd name="connsiteX54" fmla="*/ 231067 w 361083"/>
              <a:gd name="connsiteY54" fmla="*/ 157936 h 451381"/>
              <a:gd name="connsiteX55" fmla="*/ 202872 w 361083"/>
              <a:gd name="connsiteY55" fmla="*/ 129741 h 451381"/>
              <a:gd name="connsiteX56" fmla="*/ 231067 w 361083"/>
              <a:gd name="connsiteY56" fmla="*/ 101547 h 451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61083" h="451381">
                <a:moveTo>
                  <a:pt x="310304" y="270807"/>
                </a:moveTo>
                <a:cubicBezTo>
                  <a:pt x="338350" y="270807"/>
                  <a:pt x="361083" y="293543"/>
                  <a:pt x="361083" y="321586"/>
                </a:cubicBezTo>
                <a:lnTo>
                  <a:pt x="361083" y="342013"/>
                </a:lnTo>
                <a:cubicBezTo>
                  <a:pt x="361083" y="366696"/>
                  <a:pt x="350309" y="390149"/>
                  <a:pt x="331579" y="406227"/>
                </a:cubicBezTo>
                <a:cubicBezTo>
                  <a:pt x="296251" y="436557"/>
                  <a:pt x="245691" y="451382"/>
                  <a:pt x="180468" y="451382"/>
                </a:cubicBezTo>
                <a:cubicBezTo>
                  <a:pt x="115256" y="451382"/>
                  <a:pt x="64729" y="436563"/>
                  <a:pt x="29458" y="406238"/>
                </a:cubicBezTo>
                <a:cubicBezTo>
                  <a:pt x="10757" y="390161"/>
                  <a:pt x="0" y="366726"/>
                  <a:pt x="0" y="342063"/>
                </a:cubicBezTo>
                <a:lnTo>
                  <a:pt x="0" y="321586"/>
                </a:lnTo>
                <a:cubicBezTo>
                  <a:pt x="0" y="293543"/>
                  <a:pt x="22735" y="270807"/>
                  <a:pt x="50779" y="270807"/>
                </a:cubicBezTo>
                <a:lnTo>
                  <a:pt x="310304" y="270807"/>
                </a:lnTo>
                <a:close/>
                <a:moveTo>
                  <a:pt x="310304" y="304660"/>
                </a:moveTo>
                <a:lnTo>
                  <a:pt x="50779" y="304660"/>
                </a:lnTo>
                <a:cubicBezTo>
                  <a:pt x="41431" y="304660"/>
                  <a:pt x="33853" y="312239"/>
                  <a:pt x="33853" y="321586"/>
                </a:cubicBezTo>
                <a:lnTo>
                  <a:pt x="33853" y="342063"/>
                </a:lnTo>
                <a:cubicBezTo>
                  <a:pt x="33853" y="356861"/>
                  <a:pt x="40307" y="370921"/>
                  <a:pt x="51527" y="380569"/>
                </a:cubicBezTo>
                <a:cubicBezTo>
                  <a:pt x="79920" y="404979"/>
                  <a:pt x="122710" y="417529"/>
                  <a:pt x="180468" y="417529"/>
                </a:cubicBezTo>
                <a:cubicBezTo>
                  <a:pt x="238241" y="417529"/>
                  <a:pt x="281074" y="404972"/>
                  <a:pt x="309530" y="380542"/>
                </a:cubicBezTo>
                <a:cubicBezTo>
                  <a:pt x="320765" y="370894"/>
                  <a:pt x="327231" y="356822"/>
                  <a:pt x="327231" y="342013"/>
                </a:cubicBezTo>
                <a:lnTo>
                  <a:pt x="327231" y="321586"/>
                </a:lnTo>
                <a:cubicBezTo>
                  <a:pt x="327231" y="312239"/>
                  <a:pt x="319652" y="304660"/>
                  <a:pt x="310304" y="304660"/>
                </a:cubicBezTo>
                <a:close/>
                <a:moveTo>
                  <a:pt x="178177" y="155"/>
                </a:moveTo>
                <a:lnTo>
                  <a:pt x="180475" y="0"/>
                </a:lnTo>
                <a:cubicBezTo>
                  <a:pt x="189044" y="0"/>
                  <a:pt x="196126" y="6368"/>
                  <a:pt x="197245" y="14630"/>
                </a:cubicBezTo>
                <a:lnTo>
                  <a:pt x="197401" y="16926"/>
                </a:lnTo>
                <a:lnTo>
                  <a:pt x="197383" y="33830"/>
                </a:lnTo>
                <a:lnTo>
                  <a:pt x="276384" y="33842"/>
                </a:lnTo>
                <a:cubicBezTo>
                  <a:pt x="304427" y="33842"/>
                  <a:pt x="327163" y="56576"/>
                  <a:pt x="327163" y="84621"/>
                </a:cubicBezTo>
                <a:lnTo>
                  <a:pt x="327163" y="186282"/>
                </a:lnTo>
                <a:cubicBezTo>
                  <a:pt x="327163" y="214325"/>
                  <a:pt x="304427" y="237061"/>
                  <a:pt x="276384" y="237061"/>
                </a:cubicBezTo>
                <a:lnTo>
                  <a:pt x="84551" y="237061"/>
                </a:lnTo>
                <a:cubicBezTo>
                  <a:pt x="56507" y="237061"/>
                  <a:pt x="33773" y="214325"/>
                  <a:pt x="33773" y="186282"/>
                </a:cubicBezTo>
                <a:lnTo>
                  <a:pt x="33773" y="84621"/>
                </a:lnTo>
                <a:cubicBezTo>
                  <a:pt x="33773" y="56576"/>
                  <a:pt x="56507" y="33842"/>
                  <a:pt x="84551" y="33842"/>
                </a:cubicBezTo>
                <a:lnTo>
                  <a:pt x="163531" y="33830"/>
                </a:lnTo>
                <a:lnTo>
                  <a:pt x="163549" y="16926"/>
                </a:lnTo>
                <a:cubicBezTo>
                  <a:pt x="163549" y="8357"/>
                  <a:pt x="169915" y="1275"/>
                  <a:pt x="178177" y="155"/>
                </a:cubicBezTo>
                <a:lnTo>
                  <a:pt x="180475" y="0"/>
                </a:lnTo>
                <a:lnTo>
                  <a:pt x="178177" y="155"/>
                </a:lnTo>
                <a:close/>
                <a:moveTo>
                  <a:pt x="276384" y="67694"/>
                </a:moveTo>
                <a:lnTo>
                  <a:pt x="84551" y="67694"/>
                </a:lnTo>
                <a:cubicBezTo>
                  <a:pt x="75203" y="67694"/>
                  <a:pt x="67625" y="75272"/>
                  <a:pt x="67625" y="84621"/>
                </a:cubicBezTo>
                <a:lnTo>
                  <a:pt x="67625" y="186282"/>
                </a:lnTo>
                <a:cubicBezTo>
                  <a:pt x="67625" y="195630"/>
                  <a:pt x="75203" y="203208"/>
                  <a:pt x="84551" y="203208"/>
                </a:cubicBezTo>
                <a:lnTo>
                  <a:pt x="276384" y="203208"/>
                </a:lnTo>
                <a:cubicBezTo>
                  <a:pt x="285732" y="203208"/>
                  <a:pt x="293310" y="195630"/>
                  <a:pt x="293310" y="186282"/>
                </a:cubicBezTo>
                <a:lnTo>
                  <a:pt x="293310" y="84621"/>
                </a:lnTo>
                <a:cubicBezTo>
                  <a:pt x="293310" y="75272"/>
                  <a:pt x="285732" y="67694"/>
                  <a:pt x="276384" y="67694"/>
                </a:cubicBezTo>
                <a:close/>
                <a:moveTo>
                  <a:pt x="129672" y="101547"/>
                </a:moveTo>
                <a:cubicBezTo>
                  <a:pt x="145243" y="101547"/>
                  <a:pt x="157866" y="114170"/>
                  <a:pt x="157866" y="129741"/>
                </a:cubicBezTo>
                <a:cubicBezTo>
                  <a:pt x="157866" y="145313"/>
                  <a:pt x="145243" y="157936"/>
                  <a:pt x="129672" y="157936"/>
                </a:cubicBezTo>
                <a:cubicBezTo>
                  <a:pt x="114101" y="157936"/>
                  <a:pt x="101478" y="145313"/>
                  <a:pt x="101478" y="129741"/>
                </a:cubicBezTo>
                <a:cubicBezTo>
                  <a:pt x="101478" y="114170"/>
                  <a:pt x="114101" y="101547"/>
                  <a:pt x="129672" y="101547"/>
                </a:cubicBezTo>
                <a:close/>
                <a:moveTo>
                  <a:pt x="231067" y="101547"/>
                </a:moveTo>
                <a:cubicBezTo>
                  <a:pt x="246639" y="101547"/>
                  <a:pt x="259261" y="114170"/>
                  <a:pt x="259261" y="129741"/>
                </a:cubicBezTo>
                <a:cubicBezTo>
                  <a:pt x="259261" y="145313"/>
                  <a:pt x="246639" y="157936"/>
                  <a:pt x="231067" y="157936"/>
                </a:cubicBezTo>
                <a:cubicBezTo>
                  <a:pt x="215494" y="157936"/>
                  <a:pt x="202872" y="145313"/>
                  <a:pt x="202872" y="129741"/>
                </a:cubicBezTo>
                <a:cubicBezTo>
                  <a:pt x="202872" y="114170"/>
                  <a:pt x="215494" y="101547"/>
                  <a:pt x="231067" y="101547"/>
                </a:cubicBezTo>
                <a:close/>
              </a:path>
            </a:pathLst>
          </a:cu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57" name="Rectangle 56">
            <a:extLst>
              <a:ext uri="{FF2B5EF4-FFF2-40B4-BE49-F238E27FC236}">
                <a16:creationId xmlns:a16="http://schemas.microsoft.com/office/drawing/2014/main" id="{F70E4698-69E6-ADFA-A5C0-72EC432B7773}"/>
              </a:ext>
            </a:extLst>
          </p:cNvPr>
          <p:cNvSpPr/>
          <p:nvPr/>
        </p:nvSpPr>
        <p:spPr bwMode="auto">
          <a:xfrm>
            <a:off x="855587" y="3659531"/>
            <a:ext cx="2335288" cy="2108269"/>
          </a:xfrm>
          <a:prstGeom prst="rect">
            <a:avLst/>
          </a:prstGeom>
          <a:noFill/>
          <a:ln w="6350">
            <a:no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Sans Display Semibold"/>
                <a:ea typeface="+mn-ea"/>
                <a:cs typeface="+mn-cs"/>
              </a:rPr>
              <a:t> Adoption Strategies for Enterprises</a:t>
            </a:r>
          </a:p>
          <a:p>
            <a:pPr marL="0" marR="0" lvl="1"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Delivers tailored adoption strategies, workshops, and maturity assessments to enable AI implementation and</a:t>
            </a:r>
            <a:br>
              <a:rPr kumimoji="0" lang="en-US" sz="1600" b="0" i="0" u="none" strike="noStrike" kern="1200" cap="none" spc="0" normalizeH="0" baseline="0" noProof="0">
                <a:ln>
                  <a:noFill/>
                </a:ln>
                <a:solidFill>
                  <a:srgbClr val="FFFFFF"/>
                </a:solidFill>
                <a:effectLst/>
                <a:uLnTx/>
                <a:uFillTx/>
                <a:latin typeface="Segoe Sans Display"/>
                <a:ea typeface="+mn-ea"/>
                <a:cs typeface="+mn-cs"/>
              </a:rPr>
            </a:br>
            <a:r>
              <a:rPr kumimoji="0" lang="en-US" sz="1600" b="0" i="0" u="none" strike="noStrike" kern="1200" cap="none" spc="0" normalizeH="0" baseline="0" noProof="0">
                <a:ln>
                  <a:noFill/>
                </a:ln>
                <a:solidFill>
                  <a:srgbClr val="091F2C"/>
                </a:solidFill>
                <a:effectLst/>
                <a:uLnTx/>
                <a:uFillTx/>
                <a:latin typeface="Segoe Sans Display"/>
                <a:ea typeface="+mn-ea"/>
                <a:cs typeface="+mn-cs"/>
              </a:rPr>
              <a:t>long-term sustainability.</a:t>
            </a:r>
            <a:endParaRPr kumimoji="0" lang="en-US" sz="1600" b="0" i="0" u="none" strike="noStrike" kern="1200" cap="none" spc="0" normalizeH="0" baseline="0" noProof="0">
              <a:ln>
                <a:noFill/>
              </a:ln>
              <a:solidFill>
                <a:srgbClr val="091F2C"/>
              </a:solidFill>
              <a:effectLst/>
              <a:uLnTx/>
              <a:uFillTx/>
              <a:latin typeface="Segoe Sans Display"/>
              <a:ea typeface="+mn-ea"/>
              <a:cs typeface="Segoe Sans Display"/>
            </a:endParaRPr>
          </a:p>
        </p:txBody>
      </p:sp>
    </p:spTree>
    <p:extLst>
      <p:ext uri="{BB962C8B-B14F-4D97-AF65-F5344CB8AC3E}">
        <p14:creationId xmlns:p14="http://schemas.microsoft.com/office/powerpoint/2010/main" val="2170087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50"/>
                                        <p:tgtEl>
                                          <p:spTgt spid="3"/>
                                        </p:tgtEl>
                                      </p:cBhvr>
                                    </p:animEffect>
                                  </p:childTnLst>
                                </p:cTn>
                              </p:par>
                              <p:par>
                                <p:cTn id="8" presetID="42" presetClass="path" presetSubtype="0" decel="100000" fill="hold" grpId="1" nodeType="withEffect">
                                  <p:stCondLst>
                                    <p:cond delay="0"/>
                                  </p:stCondLst>
                                  <p:childTnLst>
                                    <p:animMotion origin="layout" path="M 5E-6 -0.03472 L 5E-6 -4.44444E-6 " pathEditMode="relative" rAng="0" ptsTypes="AA">
                                      <p:cBhvr>
                                        <p:cTn id="9" dur="750" fill="hold"/>
                                        <p:tgtEl>
                                          <p:spTgt spid="3"/>
                                        </p:tgtEl>
                                        <p:attrNameLst>
                                          <p:attrName>ppt_x</p:attrName>
                                          <p:attrName>ppt_y</p:attrName>
                                        </p:attrNameLst>
                                      </p:cBhvr>
                                      <p:rCtr x="0" y="1736"/>
                                    </p:animMotion>
                                  </p:childTnLst>
                                </p:cTn>
                              </p:par>
                              <p:par>
                                <p:cTn id="10" presetID="10"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childTnLst>
                                </p:cTn>
                              </p:par>
                              <p:par>
                                <p:cTn id="13" presetID="42" presetClass="path" presetSubtype="0" decel="100000" fill="hold" grpId="1" nodeType="withEffect">
                                  <p:stCondLst>
                                    <p:cond delay="0"/>
                                  </p:stCondLst>
                                  <p:childTnLst>
                                    <p:animMotion origin="layout" path="M -2.08333E-7 0.03889 L -2.08333E-7 -1.48148E-6 " pathEditMode="relative" rAng="0" ptsTypes="AA">
                                      <p:cBhvr>
                                        <p:cTn id="14" dur="750" fill="hold"/>
                                        <p:tgtEl>
                                          <p:spTgt spid="12"/>
                                        </p:tgtEl>
                                        <p:attrNameLst>
                                          <p:attrName>ppt_x</p:attrName>
                                          <p:attrName>ppt_y</p:attrName>
                                        </p:attrNameLst>
                                      </p:cBhvr>
                                      <p:rCtr x="0" y="-1944"/>
                                    </p:animMotion>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50"/>
                                        <p:tgtEl>
                                          <p:spTgt spid="7"/>
                                        </p:tgtEl>
                                      </p:cBhvr>
                                    </p:animEffect>
                                  </p:childTnLst>
                                </p:cTn>
                              </p:par>
                              <p:par>
                                <p:cTn id="18" presetID="42" presetClass="path" presetSubtype="0" decel="100000" fill="hold" grpId="1" nodeType="withEffect">
                                  <p:stCondLst>
                                    <p:cond delay="0"/>
                                  </p:stCondLst>
                                  <p:childTnLst>
                                    <p:animMotion origin="layout" path="M 0 0.03889 L 0 2.22222E-6 " pathEditMode="relative" rAng="0" ptsTypes="AA">
                                      <p:cBhvr>
                                        <p:cTn id="19" dur="750" fill="hold"/>
                                        <p:tgtEl>
                                          <p:spTgt spid="7"/>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750"/>
                                        <p:tgtEl>
                                          <p:spTgt spid="8"/>
                                        </p:tgtEl>
                                      </p:cBhvr>
                                    </p:animEffect>
                                  </p:childTnLst>
                                </p:cTn>
                              </p:par>
                              <p:par>
                                <p:cTn id="23" presetID="42" presetClass="path" presetSubtype="0" decel="100000" fill="hold" grpId="1" nodeType="withEffect">
                                  <p:stCondLst>
                                    <p:cond delay="0"/>
                                  </p:stCondLst>
                                  <p:childTnLst>
                                    <p:animMotion origin="layout" path="M -8.33333E-7 0.03889 L -8.33333E-7 -3.7037E-7 " pathEditMode="relative" rAng="0" ptsTypes="AA">
                                      <p:cBhvr>
                                        <p:cTn id="24" dur="750" fill="hold"/>
                                        <p:tgtEl>
                                          <p:spTgt spid="8"/>
                                        </p:tgtEl>
                                        <p:attrNameLst>
                                          <p:attrName>ppt_x</p:attrName>
                                          <p:attrName>ppt_y</p:attrName>
                                        </p:attrNameLst>
                                      </p:cBhvr>
                                      <p:rCtr x="0" y="-1944"/>
                                    </p:animMotion>
                                  </p:childTnLst>
                                </p:cTn>
                              </p:par>
                              <p:par>
                                <p:cTn id="25" presetID="10" presetClass="entr" presetSubtype="0" fill="hold" grpId="0" nodeType="withEffect">
                                  <p:stCondLst>
                                    <p:cond delay="5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1000"/>
                                        <p:tgtEl>
                                          <p:spTgt spid="53"/>
                                        </p:tgtEl>
                                      </p:cBhvr>
                                    </p:animEffect>
                                  </p:childTnLst>
                                </p:cTn>
                              </p:par>
                              <p:par>
                                <p:cTn id="28" presetID="42" presetClass="path" presetSubtype="0" decel="100000" fill="hold" grpId="1" nodeType="withEffect">
                                  <p:stCondLst>
                                    <p:cond delay="50"/>
                                  </p:stCondLst>
                                  <p:childTnLst>
                                    <p:animMotion origin="layout" path="M -4.16667E-7 0.03889 L -4.16667E-7 -3.7037E-7 " pathEditMode="relative" rAng="0" ptsTypes="AA">
                                      <p:cBhvr>
                                        <p:cTn id="29" dur="1000" fill="hold"/>
                                        <p:tgtEl>
                                          <p:spTgt spid="53"/>
                                        </p:tgtEl>
                                        <p:attrNameLst>
                                          <p:attrName>ppt_x</p:attrName>
                                          <p:attrName>ppt_y</p:attrName>
                                        </p:attrNameLst>
                                      </p:cBhvr>
                                      <p:rCtr x="0" y="-1944"/>
                                    </p:animMotion>
                                  </p:childTnLst>
                                </p:cTn>
                              </p:par>
                              <p:par>
                                <p:cTn id="30" presetID="10" presetClass="entr" presetSubtype="0" fill="hold" nodeType="withEffect">
                                  <p:stCondLst>
                                    <p:cond delay="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childTnLst>
                                </p:cTn>
                              </p:par>
                              <p:par>
                                <p:cTn id="33" presetID="42" presetClass="path" presetSubtype="0" decel="100000" fill="hold" nodeType="withEffect">
                                  <p:stCondLst>
                                    <p:cond delay="50"/>
                                  </p:stCondLst>
                                  <p:childTnLst>
                                    <p:animMotion origin="layout" path="M -4.16667E-7 0.03889 L -4.16667E-7 -3.7037E-7 " pathEditMode="relative" rAng="0" ptsTypes="AA">
                                      <p:cBhvr>
                                        <p:cTn id="34" dur="1000" fill="hold"/>
                                        <p:tgtEl>
                                          <p:spTgt spid="9"/>
                                        </p:tgtEl>
                                        <p:attrNameLst>
                                          <p:attrName>ppt_x</p:attrName>
                                          <p:attrName>ppt_y</p:attrName>
                                        </p:attrNameLst>
                                      </p:cBhvr>
                                      <p:rCtr x="0" y="-1944"/>
                                    </p:animMotion>
                                  </p:childTnLst>
                                </p:cTn>
                              </p:par>
                              <p:par>
                                <p:cTn id="35" presetID="10"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750"/>
                                        <p:tgtEl>
                                          <p:spTgt spid="28"/>
                                        </p:tgtEl>
                                      </p:cBhvr>
                                    </p:animEffect>
                                  </p:childTnLst>
                                </p:cTn>
                              </p:par>
                              <p:par>
                                <p:cTn id="38" presetID="42" presetClass="path" presetSubtype="0" decel="100000" fill="hold" nodeType="withEffect">
                                  <p:stCondLst>
                                    <p:cond delay="0"/>
                                  </p:stCondLst>
                                  <p:childTnLst>
                                    <p:animMotion origin="layout" path="M 0 0.03889 L 0 -1.11111E-6 " pathEditMode="relative" rAng="0" ptsTypes="AA">
                                      <p:cBhvr>
                                        <p:cTn id="39" dur="750" fill="hold"/>
                                        <p:tgtEl>
                                          <p:spTgt spid="28"/>
                                        </p:tgtEl>
                                        <p:attrNameLst>
                                          <p:attrName>ppt_x</p:attrName>
                                          <p:attrName>ppt_y</p:attrName>
                                        </p:attrNameLst>
                                      </p:cBhvr>
                                      <p:rCtr x="0" y="-1944"/>
                                    </p:animMotion>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750"/>
                                        <p:tgtEl>
                                          <p:spTgt spid="29"/>
                                        </p:tgtEl>
                                      </p:cBhvr>
                                    </p:animEffect>
                                  </p:childTnLst>
                                </p:cTn>
                              </p:par>
                              <p:par>
                                <p:cTn id="43" presetID="42" presetClass="path" presetSubtype="0" decel="100000" fill="hold" nodeType="withEffect">
                                  <p:stCondLst>
                                    <p:cond delay="0"/>
                                  </p:stCondLst>
                                  <p:childTnLst>
                                    <p:animMotion origin="layout" path="M 0 0.03889 L 0 -1.11111E-6 " pathEditMode="relative" rAng="0" ptsTypes="AA">
                                      <p:cBhvr>
                                        <p:cTn id="44" dur="750" fill="hold"/>
                                        <p:tgtEl>
                                          <p:spTgt spid="29"/>
                                        </p:tgtEl>
                                        <p:attrNameLst>
                                          <p:attrName>ppt_x</p:attrName>
                                          <p:attrName>ppt_y</p:attrName>
                                        </p:attrNameLst>
                                      </p:cBhvr>
                                      <p:rCtr x="0" y="-1944"/>
                                    </p:animMotion>
                                  </p:childTnLst>
                                </p:cTn>
                              </p:par>
                              <p:par>
                                <p:cTn id="45" presetID="10" presetClass="entr" presetSubtype="0" fill="hold"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750"/>
                                        <p:tgtEl>
                                          <p:spTgt spid="43"/>
                                        </p:tgtEl>
                                      </p:cBhvr>
                                    </p:animEffect>
                                  </p:childTnLst>
                                </p:cTn>
                              </p:par>
                              <p:par>
                                <p:cTn id="48" presetID="42" presetClass="path" presetSubtype="0" decel="100000" fill="hold" nodeType="withEffect">
                                  <p:stCondLst>
                                    <p:cond delay="0"/>
                                  </p:stCondLst>
                                  <p:childTnLst>
                                    <p:animMotion origin="layout" path="M 0 0.03889 L 0 -1.11111E-6 " pathEditMode="relative" rAng="0" ptsTypes="AA">
                                      <p:cBhvr>
                                        <p:cTn id="49" dur="750" fill="hold"/>
                                        <p:tgtEl>
                                          <p:spTgt spid="43"/>
                                        </p:tgtEl>
                                        <p:attrNameLst>
                                          <p:attrName>ppt_x</p:attrName>
                                          <p:attrName>ppt_y</p:attrName>
                                        </p:attrNameLst>
                                      </p:cBhvr>
                                      <p:rCtr x="0" y="-1944"/>
                                    </p:animMotion>
                                  </p:childTnLst>
                                </p:cTn>
                              </p:par>
                              <p:par>
                                <p:cTn id="50" presetID="10" presetClass="entr" presetSubtype="0" fill="hold" grpId="0" nodeType="withEffect">
                                  <p:stCondLst>
                                    <p:cond delay="200"/>
                                  </p:stCondLst>
                                  <p:childTnLst>
                                    <p:set>
                                      <p:cBhvr>
                                        <p:cTn id="51" dur="1" fill="hold">
                                          <p:stCondLst>
                                            <p:cond delay="0"/>
                                          </p:stCondLst>
                                        </p:cTn>
                                        <p:tgtEl>
                                          <p:spTgt spid="54"/>
                                        </p:tgtEl>
                                        <p:attrNameLst>
                                          <p:attrName>style.visibility</p:attrName>
                                        </p:attrNameLst>
                                      </p:cBhvr>
                                      <p:to>
                                        <p:strVal val="visible"/>
                                      </p:to>
                                    </p:set>
                                    <p:animEffect transition="in" filter="fade">
                                      <p:cBhvr>
                                        <p:cTn id="52" dur="1000"/>
                                        <p:tgtEl>
                                          <p:spTgt spid="54"/>
                                        </p:tgtEl>
                                      </p:cBhvr>
                                    </p:animEffect>
                                  </p:childTnLst>
                                </p:cTn>
                              </p:par>
                              <p:par>
                                <p:cTn id="53" presetID="42" presetClass="path" presetSubtype="0" decel="100000" fill="hold" grpId="1" nodeType="withEffect">
                                  <p:stCondLst>
                                    <p:cond delay="200"/>
                                  </p:stCondLst>
                                  <p:childTnLst>
                                    <p:animMotion origin="layout" path="M 2.08333E-6 0.03889 L 2.08333E-6 -3.7037E-7 " pathEditMode="relative" rAng="0" ptsTypes="AA">
                                      <p:cBhvr>
                                        <p:cTn id="54" dur="1000" fill="hold"/>
                                        <p:tgtEl>
                                          <p:spTgt spid="54"/>
                                        </p:tgtEl>
                                        <p:attrNameLst>
                                          <p:attrName>ppt_x</p:attrName>
                                          <p:attrName>ppt_y</p:attrName>
                                        </p:attrNameLst>
                                      </p:cBhvr>
                                      <p:rCtr x="0" y="-1944"/>
                                    </p:animMotion>
                                  </p:childTnLst>
                                </p:cTn>
                              </p:par>
                              <p:par>
                                <p:cTn id="55" presetID="10" presetClass="entr" presetSubtype="0" fill="hold" nodeType="withEffect">
                                  <p:stCondLst>
                                    <p:cond delay="20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1000"/>
                                        <p:tgtEl>
                                          <p:spTgt spid="44"/>
                                        </p:tgtEl>
                                      </p:cBhvr>
                                    </p:animEffect>
                                  </p:childTnLst>
                                </p:cTn>
                              </p:par>
                              <p:par>
                                <p:cTn id="58" presetID="42" presetClass="path" presetSubtype="0" decel="100000" fill="hold" nodeType="withEffect">
                                  <p:stCondLst>
                                    <p:cond delay="200"/>
                                  </p:stCondLst>
                                  <p:childTnLst>
                                    <p:animMotion origin="layout" path="M 2.08333E-6 0.03889 L 2.08333E-6 -3.7037E-7 " pathEditMode="relative" rAng="0" ptsTypes="AA">
                                      <p:cBhvr>
                                        <p:cTn id="59" dur="1000" fill="hold"/>
                                        <p:tgtEl>
                                          <p:spTgt spid="44"/>
                                        </p:tgtEl>
                                        <p:attrNameLst>
                                          <p:attrName>ppt_x</p:attrName>
                                          <p:attrName>ppt_y</p:attrName>
                                        </p:attrNameLst>
                                      </p:cBhvr>
                                      <p:rCtr x="0" y="-1944"/>
                                    </p:animMotion>
                                  </p:childTnLst>
                                </p:cTn>
                              </p:par>
                              <p:par>
                                <p:cTn id="60" presetID="10" presetClass="entr" presetSubtype="0" fill="hold" grpId="0" nodeType="withEffect">
                                  <p:stCondLst>
                                    <p:cond delay="2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childTnLst>
                                </p:cTn>
                              </p:par>
                              <p:par>
                                <p:cTn id="63" presetID="42" presetClass="path" presetSubtype="0" decel="100000" fill="hold" grpId="1" nodeType="withEffect">
                                  <p:stCondLst>
                                    <p:cond delay="200"/>
                                  </p:stCondLst>
                                  <p:childTnLst>
                                    <p:animMotion origin="layout" path="M 2.08333E-6 0.03889 L 2.08333E-6 -3.7037E-7 " pathEditMode="relative" rAng="0" ptsTypes="AA">
                                      <p:cBhvr>
                                        <p:cTn id="64" dur="1000" fill="hold"/>
                                        <p:tgtEl>
                                          <p:spTgt spid="21"/>
                                        </p:tgtEl>
                                        <p:attrNameLst>
                                          <p:attrName>ppt_x</p:attrName>
                                          <p:attrName>ppt_y</p:attrName>
                                        </p:attrNameLst>
                                      </p:cBhvr>
                                      <p:rCtr x="0" y="-1944"/>
                                    </p:animMotion>
                                  </p:childTnLst>
                                </p:cTn>
                              </p:par>
                              <p:par>
                                <p:cTn id="65" presetID="10" presetClass="entr" presetSubtype="0" fill="hold" grpId="0" nodeType="withEffect">
                                  <p:stCondLst>
                                    <p:cond delay="40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1000"/>
                                        <p:tgtEl>
                                          <p:spTgt spid="55"/>
                                        </p:tgtEl>
                                      </p:cBhvr>
                                    </p:animEffect>
                                  </p:childTnLst>
                                </p:cTn>
                              </p:par>
                              <p:par>
                                <p:cTn id="68" presetID="42" presetClass="path" presetSubtype="0" decel="100000" fill="hold" grpId="1" nodeType="withEffect">
                                  <p:stCondLst>
                                    <p:cond delay="400"/>
                                  </p:stCondLst>
                                  <p:childTnLst>
                                    <p:animMotion origin="layout" path="M 4.58333E-6 0.03889 L 4.58333E-6 -3.7037E-7 " pathEditMode="relative" rAng="0" ptsTypes="AA">
                                      <p:cBhvr>
                                        <p:cTn id="69" dur="1000" fill="hold"/>
                                        <p:tgtEl>
                                          <p:spTgt spid="55"/>
                                        </p:tgtEl>
                                        <p:attrNameLst>
                                          <p:attrName>ppt_x</p:attrName>
                                          <p:attrName>ppt_y</p:attrName>
                                        </p:attrNameLst>
                                      </p:cBhvr>
                                      <p:rCtr x="0" y="-1944"/>
                                    </p:animMotion>
                                  </p:childTnLst>
                                </p:cTn>
                              </p:par>
                              <p:par>
                                <p:cTn id="70" presetID="10" presetClass="entr" presetSubtype="0" fill="hold" nodeType="withEffect">
                                  <p:stCondLst>
                                    <p:cond delay="40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1000"/>
                                        <p:tgtEl>
                                          <p:spTgt spid="47"/>
                                        </p:tgtEl>
                                      </p:cBhvr>
                                    </p:animEffect>
                                  </p:childTnLst>
                                </p:cTn>
                              </p:par>
                              <p:par>
                                <p:cTn id="73" presetID="42" presetClass="path" presetSubtype="0" decel="100000" fill="hold" nodeType="withEffect">
                                  <p:stCondLst>
                                    <p:cond delay="400"/>
                                  </p:stCondLst>
                                  <p:childTnLst>
                                    <p:animMotion origin="layout" path="M 4.58333E-6 0.03889 L 4.58333E-6 -3.7037E-7 " pathEditMode="relative" rAng="0" ptsTypes="AA">
                                      <p:cBhvr>
                                        <p:cTn id="74" dur="1000" fill="hold"/>
                                        <p:tgtEl>
                                          <p:spTgt spid="47"/>
                                        </p:tgtEl>
                                        <p:attrNameLst>
                                          <p:attrName>ppt_x</p:attrName>
                                          <p:attrName>ppt_y</p:attrName>
                                        </p:attrNameLst>
                                      </p:cBhvr>
                                      <p:rCtr x="0" y="-1944"/>
                                    </p:animMotion>
                                  </p:childTnLst>
                                </p:cTn>
                              </p:par>
                              <p:par>
                                <p:cTn id="75" presetID="10" presetClass="entr" presetSubtype="0" fill="hold" grpId="0" nodeType="withEffect">
                                  <p:stCondLst>
                                    <p:cond delay="4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1000"/>
                                        <p:tgtEl>
                                          <p:spTgt spid="22"/>
                                        </p:tgtEl>
                                      </p:cBhvr>
                                    </p:animEffect>
                                  </p:childTnLst>
                                </p:cTn>
                              </p:par>
                              <p:par>
                                <p:cTn id="78" presetID="42" presetClass="path" presetSubtype="0" decel="100000" fill="hold" grpId="1" nodeType="withEffect">
                                  <p:stCondLst>
                                    <p:cond delay="400"/>
                                  </p:stCondLst>
                                  <p:childTnLst>
                                    <p:animMotion origin="layout" path="M 6.25E-7 0.03889 L 6.25E-7 1.11022E-16 " pathEditMode="relative" rAng="0" ptsTypes="AA">
                                      <p:cBhvr>
                                        <p:cTn id="79" dur="1000" fill="hold"/>
                                        <p:tgtEl>
                                          <p:spTgt spid="22"/>
                                        </p:tgtEl>
                                        <p:attrNameLst>
                                          <p:attrName>ppt_x</p:attrName>
                                          <p:attrName>ppt_y</p:attrName>
                                        </p:attrNameLst>
                                      </p:cBhvr>
                                      <p:rCtr x="0" y="-1944"/>
                                    </p:animMotion>
                                  </p:childTnLst>
                                </p:cTn>
                              </p:par>
                              <p:par>
                                <p:cTn id="80" presetID="10" presetClass="entr" presetSubtype="0" fill="hold" grpId="0" nodeType="withEffect">
                                  <p:stCondLst>
                                    <p:cond delay="60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1000"/>
                                        <p:tgtEl>
                                          <p:spTgt spid="56"/>
                                        </p:tgtEl>
                                      </p:cBhvr>
                                    </p:animEffect>
                                  </p:childTnLst>
                                </p:cTn>
                              </p:par>
                              <p:par>
                                <p:cTn id="83" presetID="42" presetClass="path" presetSubtype="0" decel="100000" fill="hold" grpId="1" nodeType="withEffect">
                                  <p:stCondLst>
                                    <p:cond delay="600"/>
                                  </p:stCondLst>
                                  <p:childTnLst>
                                    <p:animMotion origin="layout" path="M -3.125E-6 0.03889 L -3.125E-6 -3.7037E-7 " pathEditMode="relative" rAng="0" ptsTypes="AA">
                                      <p:cBhvr>
                                        <p:cTn id="84" dur="1000" fill="hold"/>
                                        <p:tgtEl>
                                          <p:spTgt spid="56"/>
                                        </p:tgtEl>
                                        <p:attrNameLst>
                                          <p:attrName>ppt_x</p:attrName>
                                          <p:attrName>ppt_y</p:attrName>
                                        </p:attrNameLst>
                                      </p:cBhvr>
                                      <p:rCtr x="0" y="-1944"/>
                                    </p:animMotion>
                                  </p:childTnLst>
                                </p:cTn>
                              </p:par>
                              <p:par>
                                <p:cTn id="85" presetID="10" presetClass="entr" presetSubtype="0" fill="hold" nodeType="withEffect">
                                  <p:stCondLst>
                                    <p:cond delay="600"/>
                                  </p:stCondLst>
                                  <p:childTnLst>
                                    <p:set>
                                      <p:cBhvr>
                                        <p:cTn id="86" dur="1" fill="hold">
                                          <p:stCondLst>
                                            <p:cond delay="0"/>
                                          </p:stCondLst>
                                        </p:cTn>
                                        <p:tgtEl>
                                          <p:spTgt spid="50"/>
                                        </p:tgtEl>
                                        <p:attrNameLst>
                                          <p:attrName>style.visibility</p:attrName>
                                        </p:attrNameLst>
                                      </p:cBhvr>
                                      <p:to>
                                        <p:strVal val="visible"/>
                                      </p:to>
                                    </p:set>
                                    <p:animEffect transition="in" filter="fade">
                                      <p:cBhvr>
                                        <p:cTn id="87" dur="1000"/>
                                        <p:tgtEl>
                                          <p:spTgt spid="50"/>
                                        </p:tgtEl>
                                      </p:cBhvr>
                                    </p:animEffect>
                                  </p:childTnLst>
                                </p:cTn>
                              </p:par>
                              <p:par>
                                <p:cTn id="88" presetID="42" presetClass="path" presetSubtype="0" decel="100000" fill="hold" nodeType="withEffect">
                                  <p:stCondLst>
                                    <p:cond delay="600"/>
                                  </p:stCondLst>
                                  <p:childTnLst>
                                    <p:animMotion origin="layout" path="M -3.125E-6 0.03889 L -3.125E-6 -3.7037E-7 " pathEditMode="relative" rAng="0" ptsTypes="AA">
                                      <p:cBhvr>
                                        <p:cTn id="89" dur="1000" fill="hold"/>
                                        <p:tgtEl>
                                          <p:spTgt spid="50"/>
                                        </p:tgtEl>
                                        <p:attrNameLst>
                                          <p:attrName>ppt_x</p:attrName>
                                          <p:attrName>ppt_y</p:attrName>
                                        </p:attrNameLst>
                                      </p:cBhvr>
                                      <p:rCtr x="0" y="-1944"/>
                                    </p:animMotion>
                                  </p:childTnLst>
                                </p:cTn>
                              </p:par>
                              <p:par>
                                <p:cTn id="90" presetID="10" presetClass="entr" presetSubtype="0" fill="hold" grpId="0" nodeType="withEffect">
                                  <p:stCondLst>
                                    <p:cond delay="60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1000"/>
                                        <p:tgtEl>
                                          <p:spTgt spid="27"/>
                                        </p:tgtEl>
                                      </p:cBhvr>
                                    </p:animEffect>
                                  </p:childTnLst>
                                </p:cTn>
                              </p:par>
                              <p:par>
                                <p:cTn id="93" presetID="42" presetClass="path" presetSubtype="0" decel="100000" fill="hold" grpId="1" nodeType="withEffect">
                                  <p:stCondLst>
                                    <p:cond delay="600"/>
                                  </p:stCondLst>
                                  <p:childTnLst>
                                    <p:animMotion origin="layout" path="M -3.125E-6 0.03889 L -3.125E-6 -3.7037E-7 " pathEditMode="relative" rAng="0" ptsTypes="AA">
                                      <p:cBhvr>
                                        <p:cTn id="94" dur="1000" fill="hold"/>
                                        <p:tgtEl>
                                          <p:spTgt spid="27"/>
                                        </p:tgtEl>
                                        <p:attrNameLst>
                                          <p:attrName>ppt_x</p:attrName>
                                          <p:attrName>ppt_y</p:attrName>
                                        </p:attrNameLst>
                                      </p:cBhvr>
                                      <p:rCtr x="0" y="-1944"/>
                                    </p:animMotion>
                                  </p:childTnLst>
                                </p:cTn>
                              </p:par>
                              <p:par>
                                <p:cTn id="95" presetID="10" presetClass="entr" presetSubtype="0" fill="hold" grpId="0" nodeType="withEffect">
                                  <p:stCondLst>
                                    <p:cond delay="50"/>
                                  </p:stCondLst>
                                  <p:childTnLst>
                                    <p:set>
                                      <p:cBhvr>
                                        <p:cTn id="96" dur="1" fill="hold">
                                          <p:stCondLst>
                                            <p:cond delay="0"/>
                                          </p:stCondLst>
                                        </p:cTn>
                                        <p:tgtEl>
                                          <p:spTgt spid="57"/>
                                        </p:tgtEl>
                                        <p:attrNameLst>
                                          <p:attrName>style.visibility</p:attrName>
                                        </p:attrNameLst>
                                      </p:cBhvr>
                                      <p:to>
                                        <p:strVal val="visible"/>
                                      </p:to>
                                    </p:set>
                                    <p:animEffect transition="in" filter="fade">
                                      <p:cBhvr>
                                        <p:cTn id="97" dur="1000"/>
                                        <p:tgtEl>
                                          <p:spTgt spid="57"/>
                                        </p:tgtEl>
                                      </p:cBhvr>
                                    </p:animEffect>
                                  </p:childTnLst>
                                </p:cTn>
                              </p:par>
                              <p:par>
                                <p:cTn id="98" presetID="42" presetClass="path" presetSubtype="0" decel="100000" fill="hold" grpId="1" nodeType="withEffect">
                                  <p:stCondLst>
                                    <p:cond delay="50"/>
                                  </p:stCondLst>
                                  <p:childTnLst>
                                    <p:animMotion origin="layout" path="M 4.58333E-6 0.03889 L 4.58333E-6 1.11022E-16 " pathEditMode="relative" rAng="0" ptsTypes="AA">
                                      <p:cBhvr>
                                        <p:cTn id="99" dur="1000" fill="hold"/>
                                        <p:tgtEl>
                                          <p:spTgt spid="57"/>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7" grpId="0" animBg="1"/>
      <p:bldP spid="7" grpId="1" animBg="1"/>
      <p:bldP spid="8" grpId="0" animBg="1"/>
      <p:bldP spid="8" grpId="1" animBg="1"/>
      <p:bldP spid="12" grpId="0"/>
      <p:bldP spid="12" grpId="1"/>
      <p:bldP spid="21" grpId="0"/>
      <p:bldP spid="21" grpId="1"/>
      <p:bldP spid="22" grpId="0"/>
      <p:bldP spid="22" grpId="1"/>
      <p:bldP spid="27" grpId="0"/>
      <p:bldP spid="27" grpId="1"/>
      <p:bldP spid="53" grpId="0" animBg="1"/>
      <p:bldP spid="53" grpId="1" animBg="1"/>
      <p:bldP spid="54" grpId="0" animBg="1"/>
      <p:bldP spid="54" grpId="1" animBg="1"/>
      <p:bldP spid="55" grpId="0" animBg="1"/>
      <p:bldP spid="55" grpId="1" animBg="1"/>
      <p:bldP spid="56" grpId="0" animBg="1"/>
      <p:bldP spid="56" grpId="1" animBg="1"/>
      <p:bldP spid="57" grpId="0"/>
      <p:bldP spid="5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5A6DC-BF76-C71D-5C63-D914D158269D}"/>
              </a:ext>
            </a:extLst>
          </p:cNvPr>
          <p:cNvSpPr>
            <a:spLocks noGrp="1"/>
          </p:cNvSpPr>
          <p:nvPr>
            <p:ph type="title"/>
          </p:nvPr>
        </p:nvSpPr>
        <p:spPr>
          <a:xfrm>
            <a:off x="588263" y="457200"/>
            <a:ext cx="11018520" cy="553998"/>
          </a:xfrm>
        </p:spPr>
        <p:txBody>
          <a:bodyPr vert="horz" wrap="square" lIns="0" tIns="0" rIns="0" bIns="0" rtlCol="0" anchor="t">
            <a:spAutoFit/>
          </a:bodyPr>
          <a:lstStyle/>
          <a:p>
            <a:r>
              <a:rPr lang="en-GB">
                <a:solidFill>
                  <a:schemeClr val="accent1"/>
                </a:solidFill>
              </a:rPr>
              <a:t>The Market Imperative</a:t>
            </a:r>
            <a:endParaRPr lang="en-DE">
              <a:solidFill>
                <a:schemeClr val="accent1"/>
              </a:solidFill>
            </a:endParaRPr>
          </a:p>
        </p:txBody>
      </p:sp>
      <p:pic>
        <p:nvPicPr>
          <p:cNvPr id="8" name="Content Placeholder 7" descr="Close up photo of colourful graph data">
            <a:extLst>
              <a:ext uri="{FF2B5EF4-FFF2-40B4-BE49-F238E27FC236}">
                <a16:creationId xmlns:a16="http://schemas.microsoft.com/office/drawing/2014/main" id="{64FE4092-B090-B765-702B-4E93FEE5BEAA}"/>
              </a:ext>
            </a:extLst>
          </p:cNvPr>
          <p:cNvPicPr>
            <a:picLocks noGrp="1" noChangeAspect="1"/>
          </p:cNvPicPr>
          <p:nvPr>
            <p:ph sz="quarter" idx="12"/>
          </p:nvPr>
        </p:nvPicPr>
        <p:blipFill>
          <a:blip r:embed="rId4" cstate="email">
            <a:extLst>
              <a:ext uri="{28A0092B-C50C-407E-A947-70E740481C1C}">
                <a14:useLocalDpi xmlns:a14="http://schemas.microsoft.com/office/drawing/2010/main"/>
              </a:ext>
            </a:extLst>
          </a:blip>
          <a:stretch>
            <a:fillRect/>
          </a:stretch>
        </p:blipFill>
        <p:spPr>
          <a:xfrm>
            <a:off x="584200" y="2114140"/>
            <a:ext cx="5211763" cy="3475857"/>
          </a:xfrm>
        </p:spPr>
      </p:pic>
      <p:graphicFrame>
        <p:nvGraphicFramePr>
          <p:cNvPr id="6" name="Content Placeholder 2">
            <a:extLst>
              <a:ext uri="{FF2B5EF4-FFF2-40B4-BE49-F238E27FC236}">
                <a16:creationId xmlns:a16="http://schemas.microsoft.com/office/drawing/2014/main" id="{76274B52-2DF6-5241-92C1-B06160AAACA8}"/>
              </a:ext>
            </a:extLst>
          </p:cNvPr>
          <p:cNvGraphicFramePr>
            <a:graphicFrameLocks noGrp="1"/>
          </p:cNvGraphicFramePr>
          <p:nvPr>
            <p:ph sz="quarter" idx="13"/>
          </p:nvPr>
        </p:nvGraphicFramePr>
        <p:xfrm>
          <a:off x="6389688" y="1435100"/>
          <a:ext cx="5510212" cy="483393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997351900"/>
      </p:ext>
    </p:extLst>
  </p:cSld>
  <p:clrMapOvr>
    <a:masterClrMapping/>
  </p:clrMapOvr>
  <p:transition>
    <p:fade/>
  </p:transition>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01E811A-A2C5-F0F5-13BD-7EB2AA72487C}"/>
              </a:ext>
              <a:ext uri="{C183D7F6-B498-43B3-948B-1728B52AA6E4}">
                <adec:decorative xmlns:adec="http://schemas.microsoft.com/office/drawing/2017/decorative" val="1"/>
              </a:ext>
            </a:extLst>
          </p:cNvPr>
          <p:cNvSpPr>
            <a:spLocks/>
          </p:cNvSpPr>
          <p:nvPr/>
        </p:nvSpPr>
        <p:spPr bwMode="auto">
          <a:xfrm>
            <a:off x="588263" y="1444178"/>
            <a:ext cx="5318698" cy="4761359"/>
          </a:xfrm>
          <a:prstGeom prst="roundRect">
            <a:avLst>
              <a:gd name="adj" fmla="val 4098"/>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Rounded Corners 4">
            <a:extLst>
              <a:ext uri="{FF2B5EF4-FFF2-40B4-BE49-F238E27FC236}">
                <a16:creationId xmlns:a16="http://schemas.microsoft.com/office/drawing/2014/main" id="{1F078B79-9B29-D905-57A6-5109CE8F67FD}"/>
              </a:ext>
              <a:ext uri="{C183D7F6-B498-43B3-948B-1728B52AA6E4}">
                <adec:decorative xmlns:adec="http://schemas.microsoft.com/office/drawing/2017/decorative" val="1"/>
              </a:ext>
            </a:extLst>
          </p:cNvPr>
          <p:cNvSpPr>
            <a:spLocks/>
          </p:cNvSpPr>
          <p:nvPr/>
        </p:nvSpPr>
        <p:spPr bwMode="auto">
          <a:xfrm>
            <a:off x="6285039" y="1444178"/>
            <a:ext cx="5318698" cy="4761359"/>
          </a:xfrm>
          <a:prstGeom prst="roundRect">
            <a:avLst>
              <a:gd name="adj" fmla="val 4098"/>
            </a:avLst>
          </a:prstGeom>
          <a:solidFill>
            <a:schemeClr val="bg1"/>
          </a:solidFill>
          <a:ln>
            <a:noFill/>
          </a:ln>
          <a:effectLst>
            <a:outerShdw blurRad="4445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Oval 5">
            <a:extLst>
              <a:ext uri="{FF2B5EF4-FFF2-40B4-BE49-F238E27FC236}">
                <a16:creationId xmlns:a16="http://schemas.microsoft.com/office/drawing/2014/main" id="{45801618-E42E-AA07-D138-8C76D80B4C56}"/>
              </a:ext>
              <a:ext uri="{C183D7F6-B498-43B3-948B-1728B52AA6E4}">
                <adec:decorative xmlns:adec="http://schemas.microsoft.com/office/drawing/2017/decorative" val="1"/>
              </a:ext>
            </a:extLst>
          </p:cNvPr>
          <p:cNvSpPr/>
          <p:nvPr/>
        </p:nvSpPr>
        <p:spPr bwMode="auto">
          <a:xfrm>
            <a:off x="2781043" y="1661531"/>
            <a:ext cx="790450" cy="781818"/>
          </a:xfrm>
          <a:prstGeom prst="ellipse">
            <a:avLst/>
          </a:prstGeom>
          <a:gradFill flip="none" rotWithShape="1">
            <a:gsLst>
              <a:gs pos="26000">
                <a:schemeClr val="accent1">
                  <a:lumMod val="94000"/>
                </a:schemeClr>
              </a:gs>
              <a:gs pos="92000">
                <a:schemeClr val="accent5">
                  <a:lumMod val="90000"/>
                </a:schemeClr>
              </a:gs>
            </a:gsLst>
            <a:lin ang="18900000" scaled="1"/>
            <a:tileRect/>
          </a:gradFill>
          <a:ln w="63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27627" fontAlgn="base"/>
            <a:endParaRPr lang="en-US" sz="1400" b="1" kern="0" err="1">
              <a:solidFill>
                <a:schemeClr val="bg1"/>
              </a:solidFill>
              <a:ea typeface="Segoe UI Black" panose="020B0A02040204020203" pitchFamily="34" charset="0"/>
              <a:cs typeface="Segoe UI Light" panose="020B0502040204020203" pitchFamily="34" charset="0"/>
            </a:endParaRPr>
          </a:p>
        </p:txBody>
      </p:sp>
      <p:sp>
        <p:nvSpPr>
          <p:cNvPr id="10" name="Oval 9">
            <a:extLst>
              <a:ext uri="{FF2B5EF4-FFF2-40B4-BE49-F238E27FC236}">
                <a16:creationId xmlns:a16="http://schemas.microsoft.com/office/drawing/2014/main" id="{AC9FAC99-94D6-D67B-CA97-378CA5F2E9E8}"/>
              </a:ext>
              <a:ext uri="{C183D7F6-B498-43B3-948B-1728B52AA6E4}">
                <adec:decorative xmlns:adec="http://schemas.microsoft.com/office/drawing/2017/decorative" val="1"/>
              </a:ext>
            </a:extLst>
          </p:cNvPr>
          <p:cNvSpPr/>
          <p:nvPr/>
        </p:nvSpPr>
        <p:spPr bwMode="auto">
          <a:xfrm>
            <a:off x="8549163" y="1661531"/>
            <a:ext cx="790450" cy="781818"/>
          </a:xfrm>
          <a:prstGeom prst="ellipse">
            <a:avLst/>
          </a:prstGeom>
          <a:gradFill flip="none" rotWithShape="1">
            <a:gsLst>
              <a:gs pos="26000">
                <a:schemeClr val="accent1">
                  <a:lumMod val="94000"/>
                </a:schemeClr>
              </a:gs>
              <a:gs pos="92000">
                <a:schemeClr val="accent5">
                  <a:lumMod val="90000"/>
                </a:schemeClr>
              </a:gs>
            </a:gsLst>
            <a:lin ang="18900000" scaled="1"/>
            <a:tileRect/>
          </a:gradFill>
          <a:ln w="63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27627" fontAlgn="base"/>
            <a:endParaRPr lang="en-US" sz="1400" b="1" kern="0" err="1">
              <a:solidFill>
                <a:schemeClr val="bg1"/>
              </a:solidFill>
              <a:ea typeface="Segoe UI Black" panose="020B0A02040204020203" pitchFamily="34" charset="0"/>
              <a:cs typeface="Segoe UI Light" panose="020B0502040204020203" pitchFamily="34" charset="0"/>
            </a:endParaRPr>
          </a:p>
        </p:txBody>
      </p:sp>
      <p:sp>
        <p:nvSpPr>
          <p:cNvPr id="8" name="Graphic 5">
            <a:extLst>
              <a:ext uri="{FF2B5EF4-FFF2-40B4-BE49-F238E27FC236}">
                <a16:creationId xmlns:a16="http://schemas.microsoft.com/office/drawing/2014/main" id="{264D1DC6-E67A-0F56-8338-C6254231D13F}"/>
              </a:ext>
              <a:ext uri="{C183D7F6-B498-43B3-948B-1728B52AA6E4}">
                <adec:decorative xmlns:adec="http://schemas.microsoft.com/office/drawing/2017/decorative" val="1"/>
              </a:ext>
            </a:extLst>
          </p:cNvPr>
          <p:cNvSpPr>
            <a:spLocks noChangeAspect="1"/>
          </p:cNvSpPr>
          <p:nvPr/>
        </p:nvSpPr>
        <p:spPr>
          <a:xfrm>
            <a:off x="8735249" y="1843266"/>
            <a:ext cx="418276" cy="418348"/>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sp>
        <p:nvSpPr>
          <p:cNvPr id="11" name="Graphic 39">
            <a:extLst>
              <a:ext uri="{FF2B5EF4-FFF2-40B4-BE49-F238E27FC236}">
                <a16:creationId xmlns:a16="http://schemas.microsoft.com/office/drawing/2014/main" id="{FAABD605-6820-C21B-AF25-E604AE3E0BC4}"/>
              </a:ext>
              <a:ext uri="{C183D7F6-B498-43B3-948B-1728B52AA6E4}">
                <adec:decorative xmlns:adec="http://schemas.microsoft.com/office/drawing/2017/decorative" val="1"/>
              </a:ext>
            </a:extLst>
          </p:cNvPr>
          <p:cNvSpPr/>
          <p:nvPr/>
        </p:nvSpPr>
        <p:spPr>
          <a:xfrm>
            <a:off x="3001887" y="1868885"/>
            <a:ext cx="348762" cy="367110"/>
          </a:xfrm>
          <a:custGeom>
            <a:avLst/>
            <a:gdLst>
              <a:gd name="connsiteX0" fmla="*/ 195609 w 270323"/>
              <a:gd name="connsiteY0" fmla="*/ 0 h 284545"/>
              <a:gd name="connsiteX1" fmla="*/ 260397 w 270323"/>
              <a:gd name="connsiteY1" fmla="*/ 7 h 284545"/>
              <a:gd name="connsiteX2" fmla="*/ 261824 w 270323"/>
              <a:gd name="connsiteY2" fmla="*/ 205 h 284545"/>
              <a:gd name="connsiteX3" fmla="*/ 263230 w 270323"/>
              <a:gd name="connsiteY3" fmla="*/ 598 h 284545"/>
              <a:gd name="connsiteX4" fmla="*/ 264088 w 270323"/>
              <a:gd name="connsiteY4" fmla="*/ 962 h 284545"/>
              <a:gd name="connsiteX5" fmla="*/ 267199 w 270323"/>
              <a:gd name="connsiteY5" fmla="*/ 3107 h 284545"/>
              <a:gd name="connsiteX6" fmla="*/ 267778 w 270323"/>
              <a:gd name="connsiteY6" fmla="*/ 3733 h 284545"/>
              <a:gd name="connsiteX7" fmla="*/ 268397 w 270323"/>
              <a:gd name="connsiteY7" fmla="*/ 4535 h 284545"/>
              <a:gd name="connsiteX8" fmla="*/ 269168 w 270323"/>
              <a:gd name="connsiteY8" fmla="*/ 5818 h 284545"/>
              <a:gd name="connsiteX9" fmla="*/ 269719 w 270323"/>
              <a:gd name="connsiteY9" fmla="*/ 7103 h 284545"/>
              <a:gd name="connsiteX10" fmla="*/ 269991 w 270323"/>
              <a:gd name="connsiteY10" fmla="*/ 8014 h 284545"/>
              <a:gd name="connsiteX11" fmla="*/ 270184 w 270323"/>
              <a:gd name="connsiteY11" fmla="*/ 8925 h 284545"/>
              <a:gd name="connsiteX12" fmla="*/ 270318 w 270323"/>
              <a:gd name="connsiteY12" fmla="*/ 10265 h 284545"/>
              <a:gd name="connsiteX13" fmla="*/ 270323 w 270323"/>
              <a:gd name="connsiteY13" fmla="*/ 74748 h 284545"/>
              <a:gd name="connsiteX14" fmla="*/ 259653 w 270323"/>
              <a:gd name="connsiteY14" fmla="*/ 85419 h 284545"/>
              <a:gd name="connsiteX15" fmla="*/ 249081 w 270323"/>
              <a:gd name="connsiteY15" fmla="*/ 76196 h 284545"/>
              <a:gd name="connsiteX16" fmla="*/ 248983 w 270323"/>
              <a:gd name="connsiteY16" fmla="*/ 74748 h 284545"/>
              <a:gd name="connsiteX17" fmla="*/ 248977 w 270323"/>
              <a:gd name="connsiteY17" fmla="*/ 36408 h 284545"/>
              <a:gd name="connsiteX18" fmla="*/ 157363 w 270323"/>
              <a:gd name="connsiteY18" fmla="*/ 128041 h 284545"/>
              <a:gd name="connsiteX19" fmla="*/ 143469 w 270323"/>
              <a:gd name="connsiteY19" fmla="*/ 129075 h 284545"/>
              <a:gd name="connsiteX20" fmla="*/ 142273 w 270323"/>
              <a:gd name="connsiteY20" fmla="*/ 128042 h 284545"/>
              <a:gd name="connsiteX21" fmla="*/ 99160 w 270323"/>
              <a:gd name="connsiteY21" fmla="*/ 86633 h 284545"/>
              <a:gd name="connsiteX22" fmla="*/ 18216 w 270323"/>
              <a:gd name="connsiteY22" fmla="*/ 167577 h 284545"/>
              <a:gd name="connsiteX23" fmla="*/ 3125 w 270323"/>
              <a:gd name="connsiteY23" fmla="*/ 167577 h 284545"/>
              <a:gd name="connsiteX24" fmla="*/ 2092 w 270323"/>
              <a:gd name="connsiteY24" fmla="*/ 153684 h 284545"/>
              <a:gd name="connsiteX25" fmla="*/ 3125 w 270323"/>
              <a:gd name="connsiteY25" fmla="*/ 152486 h 284545"/>
              <a:gd name="connsiteX26" fmla="*/ 91614 w 270323"/>
              <a:gd name="connsiteY26" fmla="*/ 63998 h 284545"/>
              <a:gd name="connsiteX27" fmla="*/ 105508 w 270323"/>
              <a:gd name="connsiteY27" fmla="*/ 62965 h 284545"/>
              <a:gd name="connsiteX28" fmla="*/ 106704 w 270323"/>
              <a:gd name="connsiteY28" fmla="*/ 63998 h 284545"/>
              <a:gd name="connsiteX29" fmla="*/ 149817 w 270323"/>
              <a:gd name="connsiteY29" fmla="*/ 105406 h 284545"/>
              <a:gd name="connsiteX30" fmla="*/ 233868 w 270323"/>
              <a:gd name="connsiteY30" fmla="*/ 21341 h 284545"/>
              <a:gd name="connsiteX31" fmla="*/ 195609 w 270323"/>
              <a:gd name="connsiteY31" fmla="*/ 21341 h 284545"/>
              <a:gd name="connsiteX32" fmla="*/ 185037 w 270323"/>
              <a:gd name="connsiteY32" fmla="*/ 12118 h 284545"/>
              <a:gd name="connsiteX33" fmla="*/ 184939 w 270323"/>
              <a:gd name="connsiteY33" fmla="*/ 10670 h 284545"/>
              <a:gd name="connsiteX34" fmla="*/ 194162 w 270323"/>
              <a:gd name="connsiteY34" fmla="*/ 97 h 284545"/>
              <a:gd name="connsiteX35" fmla="*/ 195609 w 270323"/>
              <a:gd name="connsiteY35" fmla="*/ 0 h 284545"/>
              <a:gd name="connsiteX36" fmla="*/ 10670 w 270323"/>
              <a:gd name="connsiteY36" fmla="*/ 213409 h 284545"/>
              <a:gd name="connsiteX37" fmla="*/ 21341 w 270323"/>
              <a:gd name="connsiteY37" fmla="*/ 224079 h 284545"/>
              <a:gd name="connsiteX38" fmla="*/ 21341 w 270323"/>
              <a:gd name="connsiteY38" fmla="*/ 273875 h 284545"/>
              <a:gd name="connsiteX39" fmla="*/ 10670 w 270323"/>
              <a:gd name="connsiteY39" fmla="*/ 284545 h 284545"/>
              <a:gd name="connsiteX40" fmla="*/ 0 w 270323"/>
              <a:gd name="connsiteY40" fmla="*/ 273875 h 284545"/>
              <a:gd name="connsiteX41" fmla="*/ 0 w 270323"/>
              <a:gd name="connsiteY41" fmla="*/ 224079 h 284545"/>
              <a:gd name="connsiteX42" fmla="*/ 10670 w 270323"/>
              <a:gd name="connsiteY42" fmla="*/ 213409 h 284545"/>
              <a:gd name="connsiteX43" fmla="*/ 92477 w 270323"/>
              <a:gd name="connsiteY43" fmla="*/ 167170 h 284545"/>
              <a:gd name="connsiteX44" fmla="*/ 81807 w 270323"/>
              <a:gd name="connsiteY44" fmla="*/ 156500 h 284545"/>
              <a:gd name="connsiteX45" fmla="*/ 71136 w 270323"/>
              <a:gd name="connsiteY45" fmla="*/ 167170 h 284545"/>
              <a:gd name="connsiteX46" fmla="*/ 71136 w 270323"/>
              <a:gd name="connsiteY46" fmla="*/ 273875 h 284545"/>
              <a:gd name="connsiteX47" fmla="*/ 81807 w 270323"/>
              <a:gd name="connsiteY47" fmla="*/ 284545 h 284545"/>
              <a:gd name="connsiteX48" fmla="*/ 92477 w 270323"/>
              <a:gd name="connsiteY48" fmla="*/ 273875 h 284545"/>
              <a:gd name="connsiteX49" fmla="*/ 92477 w 270323"/>
              <a:gd name="connsiteY49" fmla="*/ 167170 h 284545"/>
              <a:gd name="connsiteX50" fmla="*/ 152943 w 270323"/>
              <a:gd name="connsiteY50" fmla="*/ 184954 h 284545"/>
              <a:gd name="connsiteX51" fmla="*/ 163613 w 270323"/>
              <a:gd name="connsiteY51" fmla="*/ 195625 h 284545"/>
              <a:gd name="connsiteX52" fmla="*/ 163613 w 270323"/>
              <a:gd name="connsiteY52" fmla="*/ 273875 h 284545"/>
              <a:gd name="connsiteX53" fmla="*/ 152943 w 270323"/>
              <a:gd name="connsiteY53" fmla="*/ 284545 h 284545"/>
              <a:gd name="connsiteX54" fmla="*/ 142273 w 270323"/>
              <a:gd name="connsiteY54" fmla="*/ 273875 h 284545"/>
              <a:gd name="connsiteX55" fmla="*/ 142273 w 270323"/>
              <a:gd name="connsiteY55" fmla="*/ 195625 h 284545"/>
              <a:gd name="connsiteX56" fmla="*/ 152943 w 270323"/>
              <a:gd name="connsiteY56" fmla="*/ 184954 h 284545"/>
              <a:gd name="connsiteX57" fmla="*/ 234750 w 270323"/>
              <a:gd name="connsiteY57" fmla="*/ 124488 h 284545"/>
              <a:gd name="connsiteX58" fmla="*/ 224079 w 270323"/>
              <a:gd name="connsiteY58" fmla="*/ 113818 h 284545"/>
              <a:gd name="connsiteX59" fmla="*/ 213409 w 270323"/>
              <a:gd name="connsiteY59" fmla="*/ 124488 h 284545"/>
              <a:gd name="connsiteX60" fmla="*/ 213409 w 270323"/>
              <a:gd name="connsiteY60" fmla="*/ 273875 h 284545"/>
              <a:gd name="connsiteX61" fmla="*/ 224079 w 270323"/>
              <a:gd name="connsiteY61" fmla="*/ 284545 h 284545"/>
              <a:gd name="connsiteX62" fmla="*/ 234750 w 270323"/>
              <a:gd name="connsiteY62" fmla="*/ 273875 h 284545"/>
              <a:gd name="connsiteX63" fmla="*/ 234750 w 270323"/>
              <a:gd name="connsiteY63" fmla="*/ 124488 h 28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0323" h="284545">
                <a:moveTo>
                  <a:pt x="195609" y="0"/>
                </a:moveTo>
                <a:lnTo>
                  <a:pt x="260397" y="7"/>
                </a:lnTo>
                <a:lnTo>
                  <a:pt x="261824" y="205"/>
                </a:lnTo>
                <a:lnTo>
                  <a:pt x="263230" y="598"/>
                </a:lnTo>
                <a:lnTo>
                  <a:pt x="264088" y="962"/>
                </a:lnTo>
                <a:cubicBezTo>
                  <a:pt x="265214" y="1458"/>
                  <a:pt x="266270" y="2179"/>
                  <a:pt x="267199" y="3107"/>
                </a:cubicBezTo>
                <a:lnTo>
                  <a:pt x="267778" y="3733"/>
                </a:lnTo>
                <a:lnTo>
                  <a:pt x="268397" y="4535"/>
                </a:lnTo>
                <a:lnTo>
                  <a:pt x="269168" y="5818"/>
                </a:lnTo>
                <a:lnTo>
                  <a:pt x="269719" y="7103"/>
                </a:lnTo>
                <a:lnTo>
                  <a:pt x="269991" y="8014"/>
                </a:lnTo>
                <a:lnTo>
                  <a:pt x="270184" y="8925"/>
                </a:lnTo>
                <a:lnTo>
                  <a:pt x="270318" y="10265"/>
                </a:lnTo>
                <a:lnTo>
                  <a:pt x="270323" y="74748"/>
                </a:lnTo>
                <a:cubicBezTo>
                  <a:pt x="270323" y="80641"/>
                  <a:pt x="265547" y="85419"/>
                  <a:pt x="259653" y="85419"/>
                </a:cubicBezTo>
                <a:cubicBezTo>
                  <a:pt x="254252" y="85419"/>
                  <a:pt x="249788" y="81405"/>
                  <a:pt x="249081" y="76196"/>
                </a:cubicBezTo>
                <a:lnTo>
                  <a:pt x="248983" y="74748"/>
                </a:lnTo>
                <a:lnTo>
                  <a:pt x="248977" y="36408"/>
                </a:lnTo>
                <a:lnTo>
                  <a:pt x="157363" y="128041"/>
                </a:lnTo>
                <a:cubicBezTo>
                  <a:pt x="153575" y="131830"/>
                  <a:pt x="147646" y="132174"/>
                  <a:pt x="143469" y="129075"/>
                </a:cubicBezTo>
                <a:lnTo>
                  <a:pt x="142273" y="128042"/>
                </a:lnTo>
                <a:lnTo>
                  <a:pt x="99160" y="86633"/>
                </a:lnTo>
                <a:lnTo>
                  <a:pt x="18216" y="167577"/>
                </a:lnTo>
                <a:cubicBezTo>
                  <a:pt x="14049" y="171744"/>
                  <a:pt x="7292" y="171744"/>
                  <a:pt x="3125" y="167577"/>
                </a:cubicBezTo>
                <a:cubicBezTo>
                  <a:pt x="-663" y="163788"/>
                  <a:pt x="-1007" y="157861"/>
                  <a:pt x="2092" y="153684"/>
                </a:cubicBezTo>
                <a:lnTo>
                  <a:pt x="3125" y="152486"/>
                </a:lnTo>
                <a:lnTo>
                  <a:pt x="91614" y="63998"/>
                </a:lnTo>
                <a:cubicBezTo>
                  <a:pt x="95402" y="60210"/>
                  <a:pt x="101331" y="59865"/>
                  <a:pt x="105508" y="62965"/>
                </a:cubicBezTo>
                <a:lnTo>
                  <a:pt x="106704" y="63998"/>
                </a:lnTo>
                <a:lnTo>
                  <a:pt x="149817" y="105406"/>
                </a:lnTo>
                <a:lnTo>
                  <a:pt x="233868" y="21341"/>
                </a:lnTo>
                <a:lnTo>
                  <a:pt x="195609" y="21341"/>
                </a:lnTo>
                <a:cubicBezTo>
                  <a:pt x="190207" y="21341"/>
                  <a:pt x="185742" y="17327"/>
                  <a:pt x="185037" y="12118"/>
                </a:cubicBezTo>
                <a:lnTo>
                  <a:pt x="184939" y="10670"/>
                </a:lnTo>
                <a:cubicBezTo>
                  <a:pt x="184939" y="5268"/>
                  <a:pt x="188954" y="804"/>
                  <a:pt x="194162" y="97"/>
                </a:cubicBezTo>
                <a:lnTo>
                  <a:pt x="195609" y="0"/>
                </a:lnTo>
                <a:close/>
                <a:moveTo>
                  <a:pt x="10670" y="213409"/>
                </a:moveTo>
                <a:cubicBezTo>
                  <a:pt x="16564" y="213409"/>
                  <a:pt x="21341" y="218186"/>
                  <a:pt x="21341" y="224079"/>
                </a:cubicBezTo>
                <a:lnTo>
                  <a:pt x="21341" y="273875"/>
                </a:lnTo>
                <a:cubicBezTo>
                  <a:pt x="21341" y="279768"/>
                  <a:pt x="16564" y="284545"/>
                  <a:pt x="10670" y="284545"/>
                </a:cubicBezTo>
                <a:cubicBezTo>
                  <a:pt x="4777" y="284545"/>
                  <a:pt x="0" y="279768"/>
                  <a:pt x="0" y="273875"/>
                </a:cubicBezTo>
                <a:lnTo>
                  <a:pt x="0" y="224079"/>
                </a:lnTo>
                <a:cubicBezTo>
                  <a:pt x="0" y="218186"/>
                  <a:pt x="4777" y="213409"/>
                  <a:pt x="10670" y="213409"/>
                </a:cubicBezTo>
                <a:close/>
                <a:moveTo>
                  <a:pt x="92477" y="167170"/>
                </a:moveTo>
                <a:cubicBezTo>
                  <a:pt x="92477" y="161277"/>
                  <a:pt x="87700" y="156500"/>
                  <a:pt x="81807" y="156500"/>
                </a:cubicBezTo>
                <a:cubicBezTo>
                  <a:pt x="75914" y="156500"/>
                  <a:pt x="71136" y="161277"/>
                  <a:pt x="71136" y="167170"/>
                </a:cubicBezTo>
                <a:lnTo>
                  <a:pt x="71136" y="273875"/>
                </a:lnTo>
                <a:cubicBezTo>
                  <a:pt x="71136" y="279768"/>
                  <a:pt x="75914" y="284545"/>
                  <a:pt x="81807" y="284545"/>
                </a:cubicBezTo>
                <a:cubicBezTo>
                  <a:pt x="87700" y="284545"/>
                  <a:pt x="92477" y="279768"/>
                  <a:pt x="92477" y="273875"/>
                </a:cubicBezTo>
                <a:lnTo>
                  <a:pt x="92477" y="167170"/>
                </a:lnTo>
                <a:close/>
                <a:moveTo>
                  <a:pt x="152943" y="184954"/>
                </a:moveTo>
                <a:cubicBezTo>
                  <a:pt x="158836" y="184954"/>
                  <a:pt x="163613" y="189732"/>
                  <a:pt x="163613" y="195625"/>
                </a:cubicBezTo>
                <a:lnTo>
                  <a:pt x="163613" y="273875"/>
                </a:lnTo>
                <a:cubicBezTo>
                  <a:pt x="163613" y="279768"/>
                  <a:pt x="158836" y="284545"/>
                  <a:pt x="152943" y="284545"/>
                </a:cubicBezTo>
                <a:cubicBezTo>
                  <a:pt x="147050" y="284545"/>
                  <a:pt x="142273" y="279768"/>
                  <a:pt x="142273" y="273875"/>
                </a:cubicBezTo>
                <a:lnTo>
                  <a:pt x="142273" y="195625"/>
                </a:lnTo>
                <a:cubicBezTo>
                  <a:pt x="142273" y="189732"/>
                  <a:pt x="147050" y="184954"/>
                  <a:pt x="152943" y="184954"/>
                </a:cubicBezTo>
                <a:close/>
                <a:moveTo>
                  <a:pt x="234750" y="124488"/>
                </a:moveTo>
                <a:cubicBezTo>
                  <a:pt x="234750" y="118596"/>
                  <a:pt x="229972" y="113818"/>
                  <a:pt x="224079" y="113818"/>
                </a:cubicBezTo>
                <a:cubicBezTo>
                  <a:pt x="218186" y="113818"/>
                  <a:pt x="213409" y="118596"/>
                  <a:pt x="213409" y="124488"/>
                </a:cubicBezTo>
                <a:lnTo>
                  <a:pt x="213409" y="273875"/>
                </a:lnTo>
                <a:cubicBezTo>
                  <a:pt x="213409" y="279768"/>
                  <a:pt x="218186" y="284545"/>
                  <a:pt x="224079" y="284545"/>
                </a:cubicBezTo>
                <a:cubicBezTo>
                  <a:pt x="229972" y="284545"/>
                  <a:pt x="234750" y="279768"/>
                  <a:pt x="234750" y="273875"/>
                </a:cubicBezTo>
                <a:lnTo>
                  <a:pt x="234750" y="124488"/>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sp>
        <p:nvSpPr>
          <p:cNvPr id="35" name="Title 34">
            <a:extLst>
              <a:ext uri="{FF2B5EF4-FFF2-40B4-BE49-F238E27FC236}">
                <a16:creationId xmlns:a16="http://schemas.microsoft.com/office/drawing/2014/main" id="{9991EE20-5D23-1C1C-40BB-110E5F9A8A29}"/>
              </a:ext>
            </a:extLst>
          </p:cNvPr>
          <p:cNvSpPr>
            <a:spLocks noGrp="1"/>
          </p:cNvSpPr>
          <p:nvPr>
            <p:ph type="title"/>
          </p:nvPr>
        </p:nvSpPr>
        <p:spPr/>
        <p:txBody>
          <a:bodyPr/>
          <a:lstStyle/>
          <a:p>
            <a:r>
              <a:rPr lang="en-US"/>
              <a:t>What we see </a:t>
            </a:r>
            <a:r>
              <a:rPr lang="en-US" noProof="0"/>
              <a:t>…</a:t>
            </a:r>
            <a:endParaRPr lang="en-IN"/>
          </a:p>
        </p:txBody>
      </p:sp>
      <p:sp>
        <p:nvSpPr>
          <p:cNvPr id="7" name="Rectangle 6">
            <a:extLst>
              <a:ext uri="{FF2B5EF4-FFF2-40B4-BE49-F238E27FC236}">
                <a16:creationId xmlns:a16="http://schemas.microsoft.com/office/drawing/2014/main" id="{97E9E0F2-9951-87EA-FC91-8E3D4846622F}"/>
              </a:ext>
            </a:extLst>
          </p:cNvPr>
          <p:cNvSpPr/>
          <p:nvPr/>
        </p:nvSpPr>
        <p:spPr bwMode="auto">
          <a:xfrm>
            <a:off x="588263" y="2621931"/>
            <a:ext cx="5318698" cy="9144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lang="en-US" sz="2000">
                <a:solidFill>
                  <a:schemeClr val="tx1"/>
                </a:solidFill>
                <a:latin typeface="+mj-lt"/>
                <a:cs typeface="Segoe UI"/>
              </a:rPr>
              <a:t>You’ve invested in AI – and so did many others …</a:t>
            </a:r>
          </a:p>
        </p:txBody>
      </p:sp>
      <p:sp>
        <p:nvSpPr>
          <p:cNvPr id="67" name="TextBox 66">
            <a:extLst>
              <a:ext uri="{FF2B5EF4-FFF2-40B4-BE49-F238E27FC236}">
                <a16:creationId xmlns:a16="http://schemas.microsoft.com/office/drawing/2014/main" id="{D9D1CEF4-D522-9556-B3D8-45938D609BD6}"/>
              </a:ext>
            </a:extLst>
          </p:cNvPr>
          <p:cNvSpPr txBox="1"/>
          <p:nvPr/>
        </p:nvSpPr>
        <p:spPr>
          <a:xfrm>
            <a:off x="905700" y="3815736"/>
            <a:ext cx="4683824" cy="166199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ea typeface="+mn-ea"/>
                <a:cs typeface="Segoe UI" panose="020B0502040204020203" pitchFamily="34" charset="0"/>
              </a:rPr>
              <a:t>AI is everywhere. Most enterprises have launched initiatives and embedded it into key workflows.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ea typeface="+mn-ea"/>
                <a:cs typeface="Segoe UI" panose="020B0502040204020203" pitchFamily="34" charset="0"/>
              </a:rPr>
              <a:t>Leaders aren’t asking if AI matters – they’re asking how fast it can deliver. The tech is ready. Pressure is on. Expectations are high</a:t>
            </a:r>
          </a:p>
        </p:txBody>
      </p:sp>
      <p:sp>
        <p:nvSpPr>
          <p:cNvPr id="9" name="Rectangle 8">
            <a:extLst>
              <a:ext uri="{FF2B5EF4-FFF2-40B4-BE49-F238E27FC236}">
                <a16:creationId xmlns:a16="http://schemas.microsoft.com/office/drawing/2014/main" id="{5DAB93AA-B04F-23B0-7080-8685EB981CB6}"/>
              </a:ext>
            </a:extLst>
          </p:cNvPr>
          <p:cNvSpPr/>
          <p:nvPr/>
        </p:nvSpPr>
        <p:spPr bwMode="auto">
          <a:xfrm>
            <a:off x="6285038" y="2621931"/>
            <a:ext cx="5318698" cy="914400"/>
          </a:xfrm>
          <a:prstGeom prst="rect">
            <a:avLst/>
          </a:prstGeom>
          <a:solidFill>
            <a:schemeClr val="accent1">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kumimoji="0" lang="en-US" sz="2000" b="0" i="0" u="none" strike="noStrike" kern="1200" cap="none" spc="0" normalizeH="0" baseline="0" noProof="0">
                <a:ln>
                  <a:noFill/>
                </a:ln>
                <a:solidFill>
                  <a:schemeClr val="tx1"/>
                </a:solidFill>
                <a:effectLst/>
                <a:uLnTx/>
                <a:uFillTx/>
                <a:latin typeface="+mj-lt"/>
                <a:ea typeface="Segoe UI" pitchFamily="34" charset="0"/>
                <a:cs typeface="Segoe UI"/>
              </a:rPr>
              <a:t>… but now the challenge isn’t building models </a:t>
            </a:r>
            <a:r>
              <a:rPr lang="en-US" sz="2000">
                <a:solidFill>
                  <a:schemeClr val="tx1"/>
                </a:solidFill>
                <a:latin typeface="+mj-lt"/>
                <a:ea typeface="Segoe UI" pitchFamily="34" charset="0"/>
                <a:cs typeface="Segoe UI"/>
              </a:rPr>
              <a:t>– it’s</a:t>
            </a:r>
            <a:r>
              <a:rPr kumimoji="0" lang="en-US" sz="2000" b="0" i="0" u="none" strike="noStrike" kern="1200" cap="none" spc="0" normalizeH="0" baseline="0" noProof="0">
                <a:ln>
                  <a:noFill/>
                </a:ln>
                <a:solidFill>
                  <a:schemeClr val="tx1"/>
                </a:solidFill>
                <a:effectLst/>
                <a:uLnTx/>
                <a:uFillTx/>
                <a:latin typeface="+mj-lt"/>
                <a:ea typeface="Segoe UI" pitchFamily="34" charset="0"/>
                <a:cs typeface="Segoe UI"/>
              </a:rPr>
              <a:t> scaling impact.</a:t>
            </a:r>
          </a:p>
        </p:txBody>
      </p:sp>
      <p:sp>
        <p:nvSpPr>
          <p:cNvPr id="68" name="TextBox 67">
            <a:extLst>
              <a:ext uri="{FF2B5EF4-FFF2-40B4-BE49-F238E27FC236}">
                <a16:creationId xmlns:a16="http://schemas.microsoft.com/office/drawing/2014/main" id="{BCEADBD2-1274-F6BC-0EFD-552F8541EEA5}"/>
              </a:ext>
            </a:extLst>
          </p:cNvPr>
          <p:cNvSpPr txBox="1"/>
          <p:nvPr/>
        </p:nvSpPr>
        <p:spPr>
          <a:xfrm>
            <a:off x="6602475" y="3815736"/>
            <a:ext cx="4683824" cy="166199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ea typeface="+mn-ea"/>
                <a:cs typeface="Segoe UI" panose="020B0502040204020203" pitchFamily="34" charset="0"/>
              </a:rPr>
              <a:t>Despite the momentum, few are breaking through. Pilots are everywhere – but real outcomes are rare. The issue isn’t ambition or vision – it’s execution. Without a way to scale and sustain delivery, progress stalls and value fades.</a:t>
            </a:r>
          </a:p>
        </p:txBody>
      </p:sp>
      <p:sp>
        <p:nvSpPr>
          <p:cNvPr id="32" name="TextBox 31">
            <a:extLst>
              <a:ext uri="{FF2B5EF4-FFF2-40B4-BE49-F238E27FC236}">
                <a16:creationId xmlns:a16="http://schemas.microsoft.com/office/drawing/2014/main" id="{983B8CE2-0BC4-DFF2-76AE-FE396DB2543F}"/>
              </a:ext>
            </a:extLst>
          </p:cNvPr>
          <p:cNvSpPr txBox="1"/>
          <p:nvPr/>
        </p:nvSpPr>
        <p:spPr>
          <a:xfrm>
            <a:off x="588963" y="6409819"/>
            <a:ext cx="280526" cy="153888"/>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Segoe UI"/>
                <a:ea typeface="+mn-ea"/>
                <a:cs typeface="Segoe UI" panose="020B0502040204020203" pitchFamily="34" charset="0"/>
              </a:rPr>
              <a:t>(IDC)</a:t>
            </a:r>
            <a:endParaRPr kumimoji="0" lang="en-US" sz="1000" b="0" i="0" u="none" strike="noStrike" kern="1200" cap="none" spc="0" normalizeH="0" baseline="0" noProof="0">
              <a:ln>
                <a:noFill/>
              </a:ln>
              <a:effectLst/>
              <a:uLnTx/>
              <a:uFillTx/>
              <a:latin typeface="Segoe UI"/>
              <a:ea typeface="+mn-ea"/>
              <a:cs typeface="+mn-cs"/>
            </a:endParaRPr>
          </a:p>
        </p:txBody>
      </p:sp>
    </p:spTree>
    <p:extLst>
      <p:ext uri="{BB962C8B-B14F-4D97-AF65-F5344CB8AC3E}">
        <p14:creationId xmlns:p14="http://schemas.microsoft.com/office/powerpoint/2010/main" val="153807030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0F5C-501B-09CF-B60D-83B19C2C8997}"/>
              </a:ext>
            </a:extLst>
          </p:cNvPr>
          <p:cNvSpPr>
            <a:spLocks noGrp="1"/>
          </p:cNvSpPr>
          <p:nvPr>
            <p:ph type="title"/>
          </p:nvPr>
        </p:nvSpPr>
        <p:spPr/>
        <p:txBody>
          <a:bodyPr/>
          <a:lstStyle/>
          <a:p>
            <a:r>
              <a:rPr lang="en-US"/>
              <a:t>What we’re hearing from our customers</a:t>
            </a:r>
          </a:p>
        </p:txBody>
      </p:sp>
      <p:sp>
        <p:nvSpPr>
          <p:cNvPr id="7" name="Rounded Rectangle 27">
            <a:extLst>
              <a:ext uri="{FF2B5EF4-FFF2-40B4-BE49-F238E27FC236}">
                <a16:creationId xmlns:a16="http://schemas.microsoft.com/office/drawing/2014/main" id="{8F82849D-D320-4A4E-9F15-312FDF371C7C}"/>
              </a:ext>
              <a:ext uri="{C183D7F6-B498-43B3-948B-1728B52AA6E4}">
                <adec:decorative xmlns:adec="http://schemas.microsoft.com/office/drawing/2017/decorative" val="1"/>
              </a:ext>
            </a:extLst>
          </p:cNvPr>
          <p:cNvSpPr/>
          <p:nvPr/>
        </p:nvSpPr>
        <p:spPr bwMode="auto">
          <a:xfrm>
            <a:off x="581024" y="2080260"/>
            <a:ext cx="2658258" cy="3725117"/>
          </a:xfrm>
          <a:prstGeom prst="round2SameRect">
            <a:avLst>
              <a:gd name="adj1" fmla="val 10000"/>
              <a:gd name="adj2" fmla="val 5400"/>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365760" rIns="91440" bIns="45720" numCol="1" spcCol="0" rtlCol="0" fromWordArt="0" anchor="t" anchorCtr="0" forceAA="0" compatLnSpc="1">
            <a:prstTxWarp prst="textNoShape">
              <a:avLst/>
            </a:prstTxWarp>
            <a:noAutofit/>
          </a:bodyPr>
          <a:lstStyle/>
          <a:p>
            <a:pPr algn="ctr" defTabSz="914367">
              <a:spcBef>
                <a:spcPct val="20000"/>
              </a:spcBef>
              <a:buSzPct val="90000"/>
              <a:defRPr/>
            </a:pPr>
            <a:endParaRPr lang="en-US" kern="0">
              <a:solidFill>
                <a:srgbClr val="000000"/>
              </a:solidFill>
              <a:latin typeface="Segoe Sans Text Semilight"/>
            </a:endParaRPr>
          </a:p>
        </p:txBody>
      </p:sp>
      <p:sp>
        <p:nvSpPr>
          <p:cNvPr id="8" name="Rounded Rectangle 27">
            <a:extLst>
              <a:ext uri="{FF2B5EF4-FFF2-40B4-BE49-F238E27FC236}">
                <a16:creationId xmlns:a16="http://schemas.microsoft.com/office/drawing/2014/main" id="{90862B79-5D60-A78A-C194-9804B19D30B1}"/>
              </a:ext>
              <a:ext uri="{C183D7F6-B498-43B3-948B-1728B52AA6E4}">
                <adec:decorative xmlns:adec="http://schemas.microsoft.com/office/drawing/2017/decorative" val="1"/>
              </a:ext>
            </a:extLst>
          </p:cNvPr>
          <p:cNvSpPr/>
          <p:nvPr/>
        </p:nvSpPr>
        <p:spPr bwMode="auto">
          <a:xfrm>
            <a:off x="3371588" y="2080262"/>
            <a:ext cx="2658258" cy="3725116"/>
          </a:xfrm>
          <a:prstGeom prst="round2SameRect">
            <a:avLst>
              <a:gd name="adj1" fmla="val 10000"/>
              <a:gd name="adj2" fmla="val 5400"/>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365760" rIns="91440" bIns="45720" numCol="1" spcCol="0" rtlCol="0" fromWordArt="0" anchor="t" anchorCtr="0" forceAA="0" compatLnSpc="1">
            <a:prstTxWarp prst="textNoShape">
              <a:avLst/>
            </a:prstTxWarp>
            <a:noAutofit/>
          </a:bodyPr>
          <a:lstStyle/>
          <a:p>
            <a:pPr algn="ctr" defTabSz="914367">
              <a:spcBef>
                <a:spcPct val="20000"/>
              </a:spcBef>
              <a:buSzPct val="90000"/>
              <a:defRPr/>
            </a:pPr>
            <a:endParaRPr lang="en-US" kern="0">
              <a:solidFill>
                <a:srgbClr val="000000"/>
              </a:solidFill>
              <a:latin typeface="Segoe Sans Text Semilight"/>
            </a:endParaRPr>
          </a:p>
        </p:txBody>
      </p:sp>
      <p:sp>
        <p:nvSpPr>
          <p:cNvPr id="9" name="Rounded Rectangle 27">
            <a:extLst>
              <a:ext uri="{FF2B5EF4-FFF2-40B4-BE49-F238E27FC236}">
                <a16:creationId xmlns:a16="http://schemas.microsoft.com/office/drawing/2014/main" id="{B2AD59F7-982A-E721-4063-C0BCE0128B38}"/>
              </a:ext>
              <a:ext uri="{C183D7F6-B498-43B3-948B-1728B52AA6E4}">
                <adec:decorative xmlns:adec="http://schemas.microsoft.com/office/drawing/2017/decorative" val="1"/>
              </a:ext>
            </a:extLst>
          </p:cNvPr>
          <p:cNvSpPr/>
          <p:nvPr/>
        </p:nvSpPr>
        <p:spPr bwMode="auto">
          <a:xfrm>
            <a:off x="6162153" y="2080262"/>
            <a:ext cx="2658258" cy="3725116"/>
          </a:xfrm>
          <a:prstGeom prst="round2SameRect">
            <a:avLst>
              <a:gd name="adj1" fmla="val 10000"/>
              <a:gd name="adj2" fmla="val 5400"/>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365760" rIns="91440" bIns="45720" numCol="1" spcCol="0" rtlCol="0" fromWordArt="0" anchor="t" anchorCtr="0" forceAA="0" compatLnSpc="1">
            <a:prstTxWarp prst="textNoShape">
              <a:avLst/>
            </a:prstTxWarp>
            <a:noAutofit/>
          </a:bodyPr>
          <a:lstStyle/>
          <a:p>
            <a:pPr algn="ctr" defTabSz="914367">
              <a:spcBef>
                <a:spcPct val="20000"/>
              </a:spcBef>
              <a:buSzPct val="90000"/>
              <a:defRPr/>
            </a:pPr>
            <a:endParaRPr lang="en-US" kern="0">
              <a:solidFill>
                <a:srgbClr val="000000"/>
              </a:solidFill>
              <a:latin typeface="Segoe Sans Text Semilight"/>
            </a:endParaRPr>
          </a:p>
        </p:txBody>
      </p:sp>
      <p:sp>
        <p:nvSpPr>
          <p:cNvPr id="10" name="Rounded Rectangle 27">
            <a:extLst>
              <a:ext uri="{FF2B5EF4-FFF2-40B4-BE49-F238E27FC236}">
                <a16:creationId xmlns:a16="http://schemas.microsoft.com/office/drawing/2014/main" id="{A64A604E-2A54-9168-385B-A0AED5FF8D4E}"/>
              </a:ext>
              <a:ext uri="{C183D7F6-B498-43B3-948B-1728B52AA6E4}">
                <adec:decorative xmlns:adec="http://schemas.microsoft.com/office/drawing/2017/decorative" val="1"/>
              </a:ext>
            </a:extLst>
          </p:cNvPr>
          <p:cNvSpPr/>
          <p:nvPr/>
        </p:nvSpPr>
        <p:spPr bwMode="auto">
          <a:xfrm>
            <a:off x="8952716" y="2080262"/>
            <a:ext cx="2658258" cy="3725116"/>
          </a:xfrm>
          <a:prstGeom prst="round2SameRect">
            <a:avLst>
              <a:gd name="adj1" fmla="val 10000"/>
              <a:gd name="adj2" fmla="val 5400"/>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365760" rIns="91440" bIns="45720" numCol="1" spcCol="0" rtlCol="0" fromWordArt="0" anchor="t" anchorCtr="0" forceAA="0" compatLnSpc="1">
            <a:prstTxWarp prst="textNoShape">
              <a:avLst/>
            </a:prstTxWarp>
            <a:noAutofit/>
          </a:bodyPr>
          <a:lstStyle/>
          <a:p>
            <a:pPr algn="ctr" defTabSz="914367">
              <a:spcBef>
                <a:spcPct val="20000"/>
              </a:spcBef>
              <a:buSzPct val="90000"/>
              <a:defRPr/>
            </a:pPr>
            <a:endParaRPr lang="en-US" kern="0">
              <a:solidFill>
                <a:srgbClr val="000000"/>
              </a:solidFill>
              <a:latin typeface="Segoe Sans Text Semilight"/>
            </a:endParaRPr>
          </a:p>
        </p:txBody>
      </p:sp>
      <p:sp>
        <p:nvSpPr>
          <p:cNvPr id="11" name="Oval 10">
            <a:extLst>
              <a:ext uri="{FF2B5EF4-FFF2-40B4-BE49-F238E27FC236}">
                <a16:creationId xmlns:a16="http://schemas.microsoft.com/office/drawing/2014/main" id="{53078B9B-9F8A-B9AD-C6CA-C7FE1414C84A}"/>
              </a:ext>
              <a:ext uri="{C183D7F6-B498-43B3-948B-1728B52AA6E4}">
                <adec:decorative xmlns:adec="http://schemas.microsoft.com/office/drawing/2017/decorative" val="1"/>
              </a:ext>
            </a:extLst>
          </p:cNvPr>
          <p:cNvSpPr/>
          <p:nvPr/>
        </p:nvSpPr>
        <p:spPr>
          <a:xfrm>
            <a:off x="1044684" y="1226820"/>
            <a:ext cx="1730936" cy="1725130"/>
          </a:xfrm>
          <a:prstGeom prst="ellipse">
            <a:avLst/>
          </a:prstGeom>
          <a:solidFill>
            <a:srgbClr val="FFFFFF"/>
          </a:solidFill>
          <a:ln w="6350" cap="flat" cmpd="sng" algn="ctr">
            <a:noFill/>
            <a:prstDash val="solid"/>
            <a:miter lim="800000"/>
            <a:headEnd type="none" w="med" len="med"/>
            <a:tailEnd type="none" w="med" len="med"/>
          </a:ln>
          <a:effectLst>
            <a:outerShdw blurRad="50800" dist="38100" dir="8100000" algn="tr" rotWithShape="0">
              <a:prstClr val="black">
                <a:alpha val="1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12" name="Oval 11">
            <a:extLst>
              <a:ext uri="{FF2B5EF4-FFF2-40B4-BE49-F238E27FC236}">
                <a16:creationId xmlns:a16="http://schemas.microsoft.com/office/drawing/2014/main" id="{B79381C2-8460-4EDD-A364-5E078EE9061D}"/>
              </a:ext>
              <a:ext uri="{C183D7F6-B498-43B3-948B-1728B52AA6E4}">
                <adec:decorative xmlns:adec="http://schemas.microsoft.com/office/drawing/2017/decorative" val="1"/>
              </a:ext>
            </a:extLst>
          </p:cNvPr>
          <p:cNvSpPr/>
          <p:nvPr/>
        </p:nvSpPr>
        <p:spPr>
          <a:xfrm>
            <a:off x="1044686" y="1226820"/>
            <a:ext cx="1730936" cy="1725130"/>
          </a:xfrm>
          <a:prstGeom prst="ellipse">
            <a:avLst/>
          </a:prstGeom>
          <a:solidFill>
            <a:srgbClr val="FFFFFF"/>
          </a:solidFill>
          <a:ln w="6350" cap="flat" cmpd="sng" algn="ctr">
            <a:noFill/>
            <a:prstDash val="solid"/>
            <a:miter lim="800000"/>
            <a:headEnd type="none" w="med" len="med"/>
            <a:tailEnd type="none" w="med" len="med"/>
          </a:ln>
          <a:effectLst>
            <a:innerShdw blurRad="25400" dist="25400" dir="18900000">
              <a:srgbClr val="000000">
                <a:lumMod val="50000"/>
                <a:lumOff val="50000"/>
                <a:alpha val="15000"/>
              </a:srgbClr>
            </a:inn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13" name="Oval 12">
            <a:extLst>
              <a:ext uri="{FF2B5EF4-FFF2-40B4-BE49-F238E27FC236}">
                <a16:creationId xmlns:a16="http://schemas.microsoft.com/office/drawing/2014/main" id="{99632119-1A8F-DAAA-D2BD-5A218B0F2129}"/>
              </a:ext>
              <a:ext uri="{C183D7F6-B498-43B3-948B-1728B52AA6E4}">
                <adec:decorative xmlns:adec="http://schemas.microsoft.com/office/drawing/2017/decorative" val="1"/>
              </a:ext>
            </a:extLst>
          </p:cNvPr>
          <p:cNvSpPr/>
          <p:nvPr/>
        </p:nvSpPr>
        <p:spPr>
          <a:xfrm>
            <a:off x="3835248" y="1226820"/>
            <a:ext cx="1730936" cy="1725130"/>
          </a:xfrm>
          <a:prstGeom prst="ellipse">
            <a:avLst/>
          </a:prstGeom>
          <a:solidFill>
            <a:srgbClr val="FFFFFF"/>
          </a:solidFill>
          <a:ln w="6350" cap="flat" cmpd="sng" algn="ctr">
            <a:noFill/>
            <a:prstDash val="solid"/>
            <a:miter lim="800000"/>
            <a:headEnd type="none" w="med" len="med"/>
            <a:tailEnd type="none" w="med" len="med"/>
          </a:ln>
          <a:effectLst>
            <a:outerShdw blurRad="50800" dist="38100" dir="8100000" algn="tr" rotWithShape="0">
              <a:prstClr val="black">
                <a:alpha val="1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14" name="Oval 13">
            <a:extLst>
              <a:ext uri="{FF2B5EF4-FFF2-40B4-BE49-F238E27FC236}">
                <a16:creationId xmlns:a16="http://schemas.microsoft.com/office/drawing/2014/main" id="{C010C0E8-C2EC-0250-6D2D-CB37AD8EEB55}"/>
              </a:ext>
              <a:ext uri="{C183D7F6-B498-43B3-948B-1728B52AA6E4}">
                <adec:decorative xmlns:adec="http://schemas.microsoft.com/office/drawing/2017/decorative" val="1"/>
              </a:ext>
            </a:extLst>
          </p:cNvPr>
          <p:cNvSpPr/>
          <p:nvPr/>
        </p:nvSpPr>
        <p:spPr>
          <a:xfrm>
            <a:off x="3835250" y="1226820"/>
            <a:ext cx="1730936" cy="1725130"/>
          </a:xfrm>
          <a:prstGeom prst="ellipse">
            <a:avLst/>
          </a:prstGeom>
          <a:solidFill>
            <a:srgbClr val="FFFFFF"/>
          </a:solidFill>
          <a:ln w="6350" cap="flat" cmpd="sng" algn="ctr">
            <a:noFill/>
            <a:prstDash val="solid"/>
            <a:miter lim="800000"/>
            <a:headEnd type="none" w="med" len="med"/>
            <a:tailEnd type="none" w="med" len="med"/>
          </a:ln>
          <a:effectLst>
            <a:innerShdw blurRad="25400" dist="25400" dir="18900000">
              <a:srgbClr val="000000">
                <a:lumMod val="50000"/>
                <a:lumOff val="50000"/>
                <a:alpha val="15000"/>
              </a:srgbClr>
            </a:inn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15" name="Oval 14">
            <a:extLst>
              <a:ext uri="{FF2B5EF4-FFF2-40B4-BE49-F238E27FC236}">
                <a16:creationId xmlns:a16="http://schemas.microsoft.com/office/drawing/2014/main" id="{F372E4F1-503E-162F-C8AE-1037C61A2C19}"/>
              </a:ext>
              <a:ext uri="{C183D7F6-B498-43B3-948B-1728B52AA6E4}">
                <adec:decorative xmlns:adec="http://schemas.microsoft.com/office/drawing/2017/decorative" val="1"/>
              </a:ext>
            </a:extLst>
          </p:cNvPr>
          <p:cNvSpPr/>
          <p:nvPr/>
        </p:nvSpPr>
        <p:spPr>
          <a:xfrm>
            <a:off x="6625813" y="1226820"/>
            <a:ext cx="1730936" cy="1725130"/>
          </a:xfrm>
          <a:prstGeom prst="ellipse">
            <a:avLst/>
          </a:prstGeom>
          <a:solidFill>
            <a:srgbClr val="FFFFFF"/>
          </a:solidFill>
          <a:ln w="6350" cap="flat" cmpd="sng" algn="ctr">
            <a:noFill/>
            <a:prstDash val="solid"/>
            <a:miter lim="800000"/>
            <a:headEnd type="none" w="med" len="med"/>
            <a:tailEnd type="none" w="med" len="med"/>
          </a:ln>
          <a:effectLst>
            <a:outerShdw blurRad="50800" dist="38100" dir="8100000" algn="tr" rotWithShape="0">
              <a:prstClr val="black">
                <a:alpha val="1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19" name="Oval 18">
            <a:extLst>
              <a:ext uri="{FF2B5EF4-FFF2-40B4-BE49-F238E27FC236}">
                <a16:creationId xmlns:a16="http://schemas.microsoft.com/office/drawing/2014/main" id="{9E7DF926-2716-8FA1-787D-BEB47EADCD50}"/>
              </a:ext>
              <a:ext uri="{C183D7F6-B498-43B3-948B-1728B52AA6E4}">
                <adec:decorative xmlns:adec="http://schemas.microsoft.com/office/drawing/2017/decorative" val="1"/>
              </a:ext>
            </a:extLst>
          </p:cNvPr>
          <p:cNvSpPr/>
          <p:nvPr/>
        </p:nvSpPr>
        <p:spPr>
          <a:xfrm>
            <a:off x="6625815" y="1226820"/>
            <a:ext cx="1730936" cy="1725130"/>
          </a:xfrm>
          <a:prstGeom prst="ellipse">
            <a:avLst/>
          </a:prstGeom>
          <a:solidFill>
            <a:srgbClr val="FFFFFF"/>
          </a:solidFill>
          <a:ln w="6350" cap="flat" cmpd="sng" algn="ctr">
            <a:noFill/>
            <a:prstDash val="solid"/>
            <a:miter lim="800000"/>
            <a:headEnd type="none" w="med" len="med"/>
            <a:tailEnd type="none" w="med" len="med"/>
          </a:ln>
          <a:effectLst>
            <a:innerShdw blurRad="25400" dist="25400" dir="18900000">
              <a:srgbClr val="000000">
                <a:lumMod val="50000"/>
                <a:lumOff val="50000"/>
                <a:alpha val="15000"/>
              </a:srgbClr>
            </a:inn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23" name="Oval 22">
            <a:extLst>
              <a:ext uri="{FF2B5EF4-FFF2-40B4-BE49-F238E27FC236}">
                <a16:creationId xmlns:a16="http://schemas.microsoft.com/office/drawing/2014/main" id="{8A7B7D31-D91B-AE11-1B6C-37752731A0CC}"/>
              </a:ext>
              <a:ext uri="{C183D7F6-B498-43B3-948B-1728B52AA6E4}">
                <adec:decorative xmlns:adec="http://schemas.microsoft.com/office/drawing/2017/decorative" val="1"/>
              </a:ext>
            </a:extLst>
          </p:cNvPr>
          <p:cNvSpPr/>
          <p:nvPr/>
        </p:nvSpPr>
        <p:spPr>
          <a:xfrm>
            <a:off x="9416376" y="1226820"/>
            <a:ext cx="1730936" cy="1725130"/>
          </a:xfrm>
          <a:prstGeom prst="ellipse">
            <a:avLst/>
          </a:prstGeom>
          <a:solidFill>
            <a:srgbClr val="FFFFFF"/>
          </a:solidFill>
          <a:ln w="6350" cap="flat" cmpd="sng" algn="ctr">
            <a:noFill/>
            <a:prstDash val="solid"/>
            <a:miter lim="800000"/>
            <a:headEnd type="none" w="med" len="med"/>
            <a:tailEnd type="none" w="med" len="med"/>
          </a:ln>
          <a:effectLst>
            <a:outerShdw blurRad="50800" dist="38100" dir="8100000" algn="tr" rotWithShape="0">
              <a:prstClr val="black">
                <a:alpha val="10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sp>
        <p:nvSpPr>
          <p:cNvPr id="27" name="Oval 26">
            <a:extLst>
              <a:ext uri="{FF2B5EF4-FFF2-40B4-BE49-F238E27FC236}">
                <a16:creationId xmlns:a16="http://schemas.microsoft.com/office/drawing/2014/main" id="{839F64CB-42DD-1ED3-6D2B-D8B135C1C142}"/>
              </a:ext>
              <a:ext uri="{C183D7F6-B498-43B3-948B-1728B52AA6E4}">
                <adec:decorative xmlns:adec="http://schemas.microsoft.com/office/drawing/2017/decorative" val="1"/>
              </a:ext>
            </a:extLst>
          </p:cNvPr>
          <p:cNvSpPr/>
          <p:nvPr/>
        </p:nvSpPr>
        <p:spPr>
          <a:xfrm>
            <a:off x="9416378" y="1226820"/>
            <a:ext cx="1730936" cy="1725130"/>
          </a:xfrm>
          <a:prstGeom prst="ellipse">
            <a:avLst/>
          </a:prstGeom>
          <a:solidFill>
            <a:srgbClr val="FFFFFF"/>
          </a:solidFill>
          <a:ln w="6350" cap="flat" cmpd="sng" algn="ctr">
            <a:noFill/>
            <a:prstDash val="solid"/>
            <a:miter lim="800000"/>
            <a:headEnd type="none" w="med" len="med"/>
            <a:tailEnd type="none" w="med" len="med"/>
          </a:ln>
          <a:effectLst>
            <a:innerShdw blurRad="25400" dist="25400" dir="18900000">
              <a:srgbClr val="000000">
                <a:lumMod val="50000"/>
                <a:lumOff val="50000"/>
                <a:alpha val="15000"/>
              </a:srgbClr>
            </a:inn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14367">
              <a:spcBef>
                <a:spcPct val="20000"/>
              </a:spcBef>
              <a:buSzPct val="90000"/>
              <a:defRPr/>
            </a:pPr>
            <a:endParaRPr lang="en-US" sz="1100" kern="0">
              <a:gradFill>
                <a:gsLst>
                  <a:gs pos="2874">
                    <a:srgbClr val="FFFFFF"/>
                  </a:gs>
                  <a:gs pos="17978">
                    <a:srgbClr val="FFFFFF"/>
                  </a:gs>
                </a:gsLst>
                <a:lin ang="2700000" scaled="0"/>
              </a:gradFill>
              <a:latin typeface="Segoe Sans Display Semibold" pitchFamily="2" charset="0"/>
              <a:cs typeface="Segoe Sans Display Semibold" pitchFamily="2" charset="0"/>
            </a:endParaRPr>
          </a:p>
        </p:txBody>
      </p:sp>
      <p:pic>
        <p:nvPicPr>
          <p:cNvPr id="31" name="Picture Placeholder 23" descr="A portrait of ">
            <a:extLst>
              <a:ext uri="{FF2B5EF4-FFF2-40B4-BE49-F238E27FC236}">
                <a16:creationId xmlns:a16="http://schemas.microsoft.com/office/drawing/2014/main" id="{BD64A4CC-E3D3-F46F-F119-39E8EBBC90F0}"/>
              </a:ext>
            </a:extLst>
          </p:cNvPr>
          <p:cNvPicPr>
            <a:picLocks/>
          </p:cNvPicPr>
          <p:nvPr/>
        </p:nvPicPr>
        <p:blipFill rotWithShape="1">
          <a:blip r:embed="rId3" cstate="email">
            <a:extLst>
              <a:ext uri="{28A0092B-C50C-407E-A947-70E740481C1C}">
                <a14:useLocalDpi xmlns:a14="http://schemas.microsoft.com/office/drawing/2010/main"/>
              </a:ext>
            </a:extLst>
          </a:blip>
          <a:srcRect/>
          <a:stretch/>
        </p:blipFill>
        <p:spPr>
          <a:xfrm>
            <a:off x="1144182" y="1325985"/>
            <a:ext cx="1531943" cy="1526803"/>
          </a:xfrm>
          <a:prstGeom prst="ellipse">
            <a:avLst/>
          </a:prstGeom>
          <a:solidFill>
            <a:srgbClr val="FFFFFF"/>
          </a:solidFill>
          <a:ln w="38100">
            <a:gradFill flip="none" rotWithShape="1">
              <a:gsLst>
                <a:gs pos="0">
                  <a:srgbClr val="225B61"/>
                </a:gs>
                <a:gs pos="100000">
                  <a:srgbClr val="49C5B1">
                    <a:lumMod val="75000"/>
                  </a:srgbClr>
                </a:gs>
              </a:gsLst>
              <a:lin ang="2700000" scaled="1"/>
              <a:tileRect/>
            </a:gradFill>
            <a:headEnd type="none" w="med" len="med"/>
            <a:tailEnd type="none" w="med" len="med"/>
          </a:ln>
          <a:effectLst/>
        </p:spPr>
      </p:pic>
      <p:sp>
        <p:nvSpPr>
          <p:cNvPr id="32" name="Rounded Rectangle 27">
            <a:extLst>
              <a:ext uri="{FF2B5EF4-FFF2-40B4-BE49-F238E27FC236}">
                <a16:creationId xmlns:a16="http://schemas.microsoft.com/office/drawing/2014/main" id="{71994A69-1B34-6B23-9B6C-B97827985D98}"/>
              </a:ext>
            </a:extLst>
          </p:cNvPr>
          <p:cNvSpPr/>
          <p:nvPr/>
        </p:nvSpPr>
        <p:spPr bwMode="auto">
          <a:xfrm>
            <a:off x="667270" y="3097159"/>
            <a:ext cx="248576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Chief Executive Officer</a:t>
            </a:r>
            <a:endParaRPr lang="en-CA" sz="1600" kern="0">
              <a:solidFill>
                <a:srgbClr val="FFFFFF"/>
              </a:solidFill>
              <a:latin typeface="Segoe Sans Display Semibold" pitchFamily="2" charset="0"/>
              <a:cs typeface="Segoe Sans Display Semibold" pitchFamily="2" charset="0"/>
            </a:endParaRPr>
          </a:p>
        </p:txBody>
      </p:sp>
      <p:sp>
        <p:nvSpPr>
          <p:cNvPr id="33" name="Graphic 11" descr="Icon of a column chart with three varying lines inside a box with a pen">
            <a:extLst>
              <a:ext uri="{FF2B5EF4-FFF2-40B4-BE49-F238E27FC236}">
                <a16:creationId xmlns:a16="http://schemas.microsoft.com/office/drawing/2014/main" id="{B09801DF-D962-FA54-7E2C-B06912505415}"/>
              </a:ext>
            </a:extLst>
          </p:cNvPr>
          <p:cNvSpPr/>
          <p:nvPr/>
        </p:nvSpPr>
        <p:spPr>
          <a:xfrm>
            <a:off x="1713719" y="3833180"/>
            <a:ext cx="467506" cy="468128"/>
          </a:xfrm>
          <a:custGeom>
            <a:avLst/>
            <a:gdLst>
              <a:gd name="connsiteX0" fmla="*/ 304038 w 354319"/>
              <a:gd name="connsiteY0" fmla="*/ 46450 h 354790"/>
              <a:gd name="connsiteX1" fmla="*/ 257588 w 354319"/>
              <a:gd name="connsiteY1" fmla="*/ 0 h 354790"/>
              <a:gd name="connsiteX2" fmla="*/ 46450 w 354319"/>
              <a:gd name="connsiteY2" fmla="*/ 0 h 354790"/>
              <a:gd name="connsiteX3" fmla="*/ 0 w 354319"/>
              <a:gd name="connsiteY3" fmla="*/ 46450 h 354790"/>
              <a:gd name="connsiteX4" fmla="*/ 0 w 354319"/>
              <a:gd name="connsiteY4" fmla="*/ 257588 h 354790"/>
              <a:gd name="connsiteX5" fmla="*/ 46450 w 354319"/>
              <a:gd name="connsiteY5" fmla="*/ 304038 h 354790"/>
              <a:gd name="connsiteX6" fmla="*/ 159046 w 354319"/>
              <a:gd name="connsiteY6" fmla="*/ 304038 h 354790"/>
              <a:gd name="connsiteX7" fmla="*/ 160819 w 354319"/>
              <a:gd name="connsiteY7" fmla="*/ 296944 h 354790"/>
              <a:gd name="connsiteX8" fmla="*/ 168640 w 354319"/>
              <a:gd name="connsiteY8" fmla="*/ 278702 h 354790"/>
              <a:gd name="connsiteX9" fmla="*/ 46450 w 354319"/>
              <a:gd name="connsiteY9" fmla="*/ 278702 h 354790"/>
              <a:gd name="connsiteX10" fmla="*/ 25337 w 354319"/>
              <a:gd name="connsiteY10" fmla="*/ 257588 h 354790"/>
              <a:gd name="connsiteX11" fmla="*/ 25337 w 354319"/>
              <a:gd name="connsiteY11" fmla="*/ 46450 h 354790"/>
              <a:gd name="connsiteX12" fmla="*/ 46450 w 354319"/>
              <a:gd name="connsiteY12" fmla="*/ 25337 h 354790"/>
              <a:gd name="connsiteX13" fmla="*/ 257588 w 354319"/>
              <a:gd name="connsiteY13" fmla="*/ 25337 h 354790"/>
              <a:gd name="connsiteX14" fmla="*/ 278702 w 354319"/>
              <a:gd name="connsiteY14" fmla="*/ 46450 h 354790"/>
              <a:gd name="connsiteX15" fmla="*/ 278702 w 354319"/>
              <a:gd name="connsiteY15" fmla="*/ 166596 h 354790"/>
              <a:gd name="connsiteX16" fmla="*/ 304038 w 354319"/>
              <a:gd name="connsiteY16" fmla="*/ 153404 h 354790"/>
              <a:gd name="connsiteX17" fmla="*/ 304038 w 354319"/>
              <a:gd name="connsiteY17" fmla="*/ 46450 h 354790"/>
              <a:gd name="connsiteX18" fmla="*/ 236474 w 354319"/>
              <a:gd name="connsiteY18" fmla="*/ 208739 h 354790"/>
              <a:gd name="connsiteX19" fmla="*/ 236474 w 354319"/>
              <a:gd name="connsiteY19" fmla="*/ 79928 h 354790"/>
              <a:gd name="connsiteX20" fmla="*/ 236356 w 354319"/>
              <a:gd name="connsiteY20" fmla="*/ 78256 h 354790"/>
              <a:gd name="connsiteX21" fmla="*/ 223806 w 354319"/>
              <a:gd name="connsiteY21" fmla="*/ 67615 h 354790"/>
              <a:gd name="connsiteX22" fmla="*/ 211138 w 354319"/>
              <a:gd name="connsiteY22" fmla="*/ 79943 h 354790"/>
              <a:gd name="connsiteX23" fmla="*/ 211138 w 354319"/>
              <a:gd name="connsiteY23" fmla="*/ 79945 h 354790"/>
              <a:gd name="connsiteX24" fmla="*/ 211138 w 354319"/>
              <a:gd name="connsiteY24" fmla="*/ 224194 h 354790"/>
              <a:gd name="connsiteX25" fmla="*/ 211256 w 354319"/>
              <a:gd name="connsiteY25" fmla="*/ 225883 h 354790"/>
              <a:gd name="connsiteX26" fmla="*/ 213654 w 354319"/>
              <a:gd name="connsiteY26" fmla="*/ 231559 h 354790"/>
              <a:gd name="connsiteX27" fmla="*/ 236474 w 354319"/>
              <a:gd name="connsiteY27" fmla="*/ 208739 h 354790"/>
              <a:gd name="connsiteX28" fmla="*/ 92782 w 354319"/>
              <a:gd name="connsiteY28" fmla="*/ 112291 h 354790"/>
              <a:gd name="connsiteX29" fmla="*/ 80232 w 354319"/>
              <a:gd name="connsiteY29" fmla="*/ 101397 h 354790"/>
              <a:gd name="connsiteX30" fmla="*/ 67564 w 354319"/>
              <a:gd name="connsiteY30" fmla="*/ 113997 h 354790"/>
              <a:gd name="connsiteX31" fmla="*/ 67564 w 354319"/>
              <a:gd name="connsiteY31" fmla="*/ 114014 h 354790"/>
              <a:gd name="connsiteX32" fmla="*/ 67564 w 354319"/>
              <a:gd name="connsiteY32" fmla="*/ 223907 h 354790"/>
              <a:gd name="connsiteX33" fmla="*/ 67682 w 354319"/>
              <a:gd name="connsiteY33" fmla="*/ 225613 h 354790"/>
              <a:gd name="connsiteX34" fmla="*/ 80232 w 354319"/>
              <a:gd name="connsiteY34" fmla="*/ 236525 h 354790"/>
              <a:gd name="connsiteX35" fmla="*/ 92901 w 354319"/>
              <a:gd name="connsiteY35" fmla="*/ 223907 h 354790"/>
              <a:gd name="connsiteX36" fmla="*/ 92901 w 354319"/>
              <a:gd name="connsiteY36" fmla="*/ 114014 h 354790"/>
              <a:gd name="connsiteX37" fmla="*/ 92782 w 354319"/>
              <a:gd name="connsiteY37" fmla="*/ 112291 h 354790"/>
              <a:gd name="connsiteX38" fmla="*/ 163961 w 354319"/>
              <a:gd name="connsiteY38" fmla="*/ 162491 h 354790"/>
              <a:gd name="connsiteX39" fmla="*/ 151597 w 354319"/>
              <a:gd name="connsiteY39" fmla="*/ 152019 h 354790"/>
              <a:gd name="connsiteX40" fmla="*/ 139351 w 354319"/>
              <a:gd name="connsiteY40" fmla="*/ 164400 h 354790"/>
              <a:gd name="connsiteX41" fmla="*/ 139942 w 354319"/>
              <a:gd name="connsiteY41" fmla="*/ 224312 h 354790"/>
              <a:gd name="connsiteX42" fmla="*/ 140077 w 354319"/>
              <a:gd name="connsiteY42" fmla="*/ 225985 h 354790"/>
              <a:gd name="connsiteX43" fmla="*/ 152441 w 354319"/>
              <a:gd name="connsiteY43" fmla="*/ 236457 h 354790"/>
              <a:gd name="connsiteX44" fmla="*/ 164687 w 354319"/>
              <a:gd name="connsiteY44" fmla="*/ 224076 h 354790"/>
              <a:gd name="connsiteX45" fmla="*/ 164096 w 354319"/>
              <a:gd name="connsiteY45" fmla="*/ 164164 h 354790"/>
              <a:gd name="connsiteX46" fmla="*/ 163961 w 354319"/>
              <a:gd name="connsiteY46" fmla="*/ 162491 h 354790"/>
              <a:gd name="connsiteX47" fmla="*/ 288836 w 354319"/>
              <a:gd name="connsiteY47" fmla="*/ 180278 h 354790"/>
              <a:gd name="connsiteX48" fmla="*/ 189129 w 354319"/>
              <a:gd name="connsiteY48" fmla="*/ 279985 h 354790"/>
              <a:gd name="connsiteX49" fmla="*/ 177203 w 354319"/>
              <a:gd name="connsiteY49" fmla="*/ 301048 h 354790"/>
              <a:gd name="connsiteX50" fmla="*/ 169467 w 354319"/>
              <a:gd name="connsiteY50" fmla="*/ 331976 h 354790"/>
              <a:gd name="connsiteX51" fmla="*/ 182827 w 354319"/>
              <a:gd name="connsiteY51" fmla="*/ 354241 h 354790"/>
              <a:gd name="connsiteX52" fmla="*/ 191747 w 354319"/>
              <a:gd name="connsiteY52" fmla="*/ 354238 h 354790"/>
              <a:gd name="connsiteX53" fmla="*/ 222657 w 354319"/>
              <a:gd name="connsiteY53" fmla="*/ 346519 h 354790"/>
              <a:gd name="connsiteX54" fmla="*/ 243737 w 354319"/>
              <a:gd name="connsiteY54" fmla="*/ 334577 h 354790"/>
              <a:gd name="connsiteX55" fmla="*/ 343428 w 354319"/>
              <a:gd name="connsiteY55" fmla="*/ 234886 h 354790"/>
              <a:gd name="connsiteX56" fmla="*/ 342585 w 354319"/>
              <a:gd name="connsiteY56" fmla="*/ 180286 h 354790"/>
              <a:gd name="connsiteX57" fmla="*/ 288836 w 354319"/>
              <a:gd name="connsiteY57" fmla="*/ 180278 h 35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4319" h="354790">
                <a:moveTo>
                  <a:pt x="304038" y="46450"/>
                </a:moveTo>
                <a:cubicBezTo>
                  <a:pt x="304038" y="20797"/>
                  <a:pt x="283242" y="0"/>
                  <a:pt x="257588" y="0"/>
                </a:cubicBezTo>
                <a:lnTo>
                  <a:pt x="46450" y="0"/>
                </a:lnTo>
                <a:cubicBezTo>
                  <a:pt x="20797" y="0"/>
                  <a:pt x="0" y="20797"/>
                  <a:pt x="0" y="46450"/>
                </a:cubicBezTo>
                <a:lnTo>
                  <a:pt x="0" y="257588"/>
                </a:lnTo>
                <a:cubicBezTo>
                  <a:pt x="0" y="283242"/>
                  <a:pt x="20797" y="304038"/>
                  <a:pt x="46450" y="304038"/>
                </a:cubicBezTo>
                <a:lnTo>
                  <a:pt x="159046" y="304038"/>
                </a:lnTo>
                <a:lnTo>
                  <a:pt x="160819" y="296944"/>
                </a:lnTo>
                <a:cubicBezTo>
                  <a:pt x="162441" y="290458"/>
                  <a:pt x="165093" y="284292"/>
                  <a:pt x="168640" y="278702"/>
                </a:cubicBezTo>
                <a:lnTo>
                  <a:pt x="46450" y="278702"/>
                </a:lnTo>
                <a:cubicBezTo>
                  <a:pt x="34795" y="278702"/>
                  <a:pt x="25337" y="269243"/>
                  <a:pt x="25337" y="257588"/>
                </a:cubicBezTo>
                <a:lnTo>
                  <a:pt x="25337" y="46450"/>
                </a:lnTo>
                <a:cubicBezTo>
                  <a:pt x="25337" y="34795"/>
                  <a:pt x="34795" y="25337"/>
                  <a:pt x="46450" y="25337"/>
                </a:cubicBezTo>
                <a:lnTo>
                  <a:pt x="257588" y="25337"/>
                </a:lnTo>
                <a:cubicBezTo>
                  <a:pt x="269243" y="25337"/>
                  <a:pt x="278702" y="34795"/>
                  <a:pt x="278702" y="46450"/>
                </a:cubicBezTo>
                <a:lnTo>
                  <a:pt x="278702" y="166596"/>
                </a:lnTo>
                <a:cubicBezTo>
                  <a:pt x="286083" y="159840"/>
                  <a:pt x="294849" y="155448"/>
                  <a:pt x="304038" y="153404"/>
                </a:cubicBezTo>
                <a:lnTo>
                  <a:pt x="304038" y="46450"/>
                </a:lnTo>
                <a:close/>
                <a:moveTo>
                  <a:pt x="236474" y="208739"/>
                </a:moveTo>
                <a:lnTo>
                  <a:pt x="236474" y="79928"/>
                </a:lnTo>
                <a:lnTo>
                  <a:pt x="236356" y="78256"/>
                </a:lnTo>
                <a:cubicBezTo>
                  <a:pt x="235398" y="72083"/>
                  <a:pt x="230052" y="67549"/>
                  <a:pt x="223806" y="67615"/>
                </a:cubicBezTo>
                <a:cubicBezTo>
                  <a:pt x="216902" y="67521"/>
                  <a:pt x="211232" y="73040"/>
                  <a:pt x="211138" y="79943"/>
                </a:cubicBezTo>
                <a:cubicBezTo>
                  <a:pt x="211138" y="79944"/>
                  <a:pt x="211138" y="79944"/>
                  <a:pt x="211138" y="79945"/>
                </a:cubicBezTo>
                <a:lnTo>
                  <a:pt x="211138" y="224194"/>
                </a:lnTo>
                <a:lnTo>
                  <a:pt x="211256" y="225883"/>
                </a:lnTo>
                <a:cubicBezTo>
                  <a:pt x="211543" y="227995"/>
                  <a:pt x="212387" y="229937"/>
                  <a:pt x="213654" y="231559"/>
                </a:cubicBezTo>
                <a:lnTo>
                  <a:pt x="236474" y="208739"/>
                </a:lnTo>
                <a:close/>
                <a:moveTo>
                  <a:pt x="92782" y="112291"/>
                </a:moveTo>
                <a:cubicBezTo>
                  <a:pt x="91898" y="106040"/>
                  <a:pt x="86546" y="101393"/>
                  <a:pt x="80232" y="101397"/>
                </a:cubicBezTo>
                <a:cubicBezTo>
                  <a:pt x="73254" y="101378"/>
                  <a:pt x="67583" y="107020"/>
                  <a:pt x="67564" y="113997"/>
                </a:cubicBezTo>
                <a:cubicBezTo>
                  <a:pt x="67564" y="114003"/>
                  <a:pt x="67564" y="114009"/>
                  <a:pt x="67564" y="114014"/>
                </a:cubicBezTo>
                <a:lnTo>
                  <a:pt x="67564" y="223907"/>
                </a:lnTo>
                <a:lnTo>
                  <a:pt x="67682" y="225613"/>
                </a:lnTo>
                <a:cubicBezTo>
                  <a:pt x="68527" y="231778"/>
                  <a:pt x="73814" y="236525"/>
                  <a:pt x="80232" y="236525"/>
                </a:cubicBezTo>
                <a:cubicBezTo>
                  <a:pt x="87225" y="236525"/>
                  <a:pt x="92901" y="230883"/>
                  <a:pt x="92901" y="223907"/>
                </a:cubicBezTo>
                <a:lnTo>
                  <a:pt x="92901" y="114014"/>
                </a:lnTo>
                <a:lnTo>
                  <a:pt x="92782" y="112291"/>
                </a:lnTo>
                <a:close/>
                <a:moveTo>
                  <a:pt x="163961" y="162491"/>
                </a:moveTo>
                <a:cubicBezTo>
                  <a:pt x="163034" y="156402"/>
                  <a:pt x="157755" y="151931"/>
                  <a:pt x="151597" y="152019"/>
                </a:cubicBezTo>
                <a:cubicBezTo>
                  <a:pt x="144800" y="152066"/>
                  <a:pt x="139322" y="157603"/>
                  <a:pt x="139351" y="164400"/>
                </a:cubicBezTo>
                <a:lnTo>
                  <a:pt x="139942" y="224312"/>
                </a:lnTo>
                <a:lnTo>
                  <a:pt x="140077" y="225985"/>
                </a:lnTo>
                <a:cubicBezTo>
                  <a:pt x="141011" y="232071"/>
                  <a:pt x="146286" y="236537"/>
                  <a:pt x="152441" y="236457"/>
                </a:cubicBezTo>
                <a:cubicBezTo>
                  <a:pt x="159238" y="236410"/>
                  <a:pt x="164716" y="230873"/>
                  <a:pt x="164687" y="224076"/>
                </a:cubicBezTo>
                <a:lnTo>
                  <a:pt x="164096" y="164164"/>
                </a:lnTo>
                <a:lnTo>
                  <a:pt x="163961" y="162491"/>
                </a:lnTo>
                <a:close/>
                <a:moveTo>
                  <a:pt x="288836" y="180278"/>
                </a:moveTo>
                <a:lnTo>
                  <a:pt x="189129" y="279985"/>
                </a:lnTo>
                <a:cubicBezTo>
                  <a:pt x="183320" y="285797"/>
                  <a:pt x="179198" y="293077"/>
                  <a:pt x="177203" y="301048"/>
                </a:cubicBezTo>
                <a:lnTo>
                  <a:pt x="169467" y="331976"/>
                </a:lnTo>
                <a:cubicBezTo>
                  <a:pt x="167008" y="341813"/>
                  <a:pt x="172989" y="351782"/>
                  <a:pt x="182827" y="354241"/>
                </a:cubicBezTo>
                <a:cubicBezTo>
                  <a:pt x="185755" y="354975"/>
                  <a:pt x="188819" y="354973"/>
                  <a:pt x="191747" y="354238"/>
                </a:cubicBezTo>
                <a:lnTo>
                  <a:pt x="222657" y="346519"/>
                </a:lnTo>
                <a:cubicBezTo>
                  <a:pt x="230636" y="344522"/>
                  <a:pt x="237923" y="340394"/>
                  <a:pt x="243737" y="334577"/>
                </a:cubicBezTo>
                <a:lnTo>
                  <a:pt x="343428" y="234886"/>
                </a:lnTo>
                <a:cubicBezTo>
                  <a:pt x="358273" y="219576"/>
                  <a:pt x="357895" y="195132"/>
                  <a:pt x="342585" y="180286"/>
                </a:cubicBezTo>
                <a:cubicBezTo>
                  <a:pt x="327611" y="165767"/>
                  <a:pt x="303815" y="165763"/>
                  <a:pt x="288836" y="180278"/>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defRPr/>
            </a:pPr>
            <a:endParaRPr lang="en-US" kern="0">
              <a:solidFill>
                <a:srgbClr val="000000"/>
              </a:solidFill>
              <a:latin typeface="Segoe Sans Text Semilight"/>
            </a:endParaRPr>
          </a:p>
        </p:txBody>
      </p:sp>
      <p:sp>
        <p:nvSpPr>
          <p:cNvPr id="34" name="Rounded Rectangle 27">
            <a:extLst>
              <a:ext uri="{FF2B5EF4-FFF2-40B4-BE49-F238E27FC236}">
                <a16:creationId xmlns:a16="http://schemas.microsoft.com/office/drawing/2014/main" id="{3C5CAABE-A5C4-2848-8CCA-93C9CBA48756}"/>
              </a:ext>
            </a:extLst>
          </p:cNvPr>
          <p:cNvSpPr/>
          <p:nvPr/>
        </p:nvSpPr>
        <p:spPr bwMode="auto">
          <a:xfrm>
            <a:off x="787174" y="4422435"/>
            <a:ext cx="2412702" cy="1292662"/>
          </a:xfrm>
          <a:prstGeom prst="rect">
            <a:avLst/>
          </a:prstGeom>
          <a:noFill/>
          <a:ln w="317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14367">
              <a:spcBef>
                <a:spcPct val="20000"/>
              </a:spcBef>
              <a:buSzPct val="90000"/>
              <a:defRPr/>
            </a:pPr>
            <a:r>
              <a:rPr lang="en-US" sz="1400" kern="0">
                <a:solidFill>
                  <a:srgbClr val="000000"/>
                </a:solidFill>
                <a:latin typeface="Segoe Sans Text Semilight"/>
              </a:rPr>
              <a:t>“We've invested heavily in AI, but it’s not moving the needle on revenue or margin. I need this to become a company-wide advantage - not another siloed tech initiative”</a:t>
            </a:r>
          </a:p>
        </p:txBody>
      </p:sp>
      <p:pic>
        <p:nvPicPr>
          <p:cNvPr id="35" name="Picture Placeholder 25" descr="A portrait of ">
            <a:extLst>
              <a:ext uri="{FF2B5EF4-FFF2-40B4-BE49-F238E27FC236}">
                <a16:creationId xmlns:a16="http://schemas.microsoft.com/office/drawing/2014/main" id="{22C9CC3E-F507-4386-BA12-07DDE08373E1}"/>
              </a:ext>
            </a:extLst>
          </p:cNvPr>
          <p:cNvPicPr>
            <a:picLocks/>
          </p:cNvPicPr>
          <p:nvPr/>
        </p:nvPicPr>
        <p:blipFill rotWithShape="1">
          <a:blip r:embed="rId4" cstate="email">
            <a:extLst>
              <a:ext uri="{28A0092B-C50C-407E-A947-70E740481C1C}">
                <a14:useLocalDpi xmlns:a14="http://schemas.microsoft.com/office/drawing/2010/main"/>
              </a:ext>
            </a:extLst>
          </a:blip>
          <a:srcRect/>
          <a:stretch/>
        </p:blipFill>
        <p:spPr>
          <a:xfrm>
            <a:off x="3934748" y="1325987"/>
            <a:ext cx="1531943" cy="1526803"/>
          </a:xfrm>
          <a:prstGeom prst="ellipse">
            <a:avLst/>
          </a:prstGeom>
          <a:solidFill>
            <a:srgbClr val="FFFFFF"/>
          </a:solidFill>
          <a:ln w="38100">
            <a:gradFill flip="none" rotWithShape="1">
              <a:gsLst>
                <a:gs pos="0">
                  <a:srgbClr val="225B61"/>
                </a:gs>
                <a:gs pos="100000">
                  <a:srgbClr val="49C5B1">
                    <a:lumMod val="75000"/>
                  </a:srgbClr>
                </a:gs>
              </a:gsLst>
              <a:lin ang="2700000" scaled="1"/>
              <a:tileRect/>
            </a:gradFill>
            <a:headEnd type="none" w="med" len="med"/>
            <a:tailEnd type="none" w="med" len="med"/>
          </a:ln>
          <a:effectLst/>
        </p:spPr>
      </p:pic>
      <p:sp>
        <p:nvSpPr>
          <p:cNvPr id="36" name="Rounded Rectangle 27">
            <a:extLst>
              <a:ext uri="{FF2B5EF4-FFF2-40B4-BE49-F238E27FC236}">
                <a16:creationId xmlns:a16="http://schemas.microsoft.com/office/drawing/2014/main" id="{D8EB1E3E-0BFA-AC11-32A6-4466ADE7437F}"/>
              </a:ext>
            </a:extLst>
          </p:cNvPr>
          <p:cNvSpPr/>
          <p:nvPr/>
        </p:nvSpPr>
        <p:spPr bwMode="auto">
          <a:xfrm>
            <a:off x="3457834" y="3097159"/>
            <a:ext cx="248576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r>
              <a:rPr lang="en-US" sz="1600" kern="0">
                <a:solidFill>
                  <a:srgbClr val="FFFFFF"/>
                </a:solidFill>
                <a:latin typeface="Segoe Sans Display Semibold" pitchFamily="2" charset="0"/>
                <a:cs typeface="Segoe Sans Display Semibold" pitchFamily="2" charset="0"/>
              </a:rPr>
              <a:t>Chief Information Officer</a:t>
            </a:r>
            <a:endParaRPr lang="en-CA" sz="1600" kern="0">
              <a:solidFill>
                <a:srgbClr val="FFFFFF"/>
              </a:solidFill>
              <a:latin typeface="Segoe Sans Display Semibold" pitchFamily="2" charset="0"/>
              <a:cs typeface="Segoe Sans Display Semibold" pitchFamily="2" charset="0"/>
            </a:endParaRPr>
          </a:p>
        </p:txBody>
      </p:sp>
      <p:sp>
        <p:nvSpPr>
          <p:cNvPr id="37" name="Graphic 186" descr="Icon of a shield">
            <a:extLst>
              <a:ext uri="{FF2B5EF4-FFF2-40B4-BE49-F238E27FC236}">
                <a16:creationId xmlns:a16="http://schemas.microsoft.com/office/drawing/2014/main" id="{C48620DA-D1D5-DD85-4AF8-68396D49D003}"/>
              </a:ext>
            </a:extLst>
          </p:cNvPr>
          <p:cNvSpPr/>
          <p:nvPr/>
        </p:nvSpPr>
        <p:spPr>
          <a:xfrm>
            <a:off x="4477009" y="3818680"/>
            <a:ext cx="447416" cy="497128"/>
          </a:xfrm>
          <a:custGeom>
            <a:avLst/>
            <a:gdLst>
              <a:gd name="connsiteX0" fmla="*/ 0 w 296704"/>
              <a:gd name="connsiteY0" fmla="*/ 61813 h 329671"/>
              <a:gd name="connsiteX1" fmla="*/ 12363 w 296704"/>
              <a:gd name="connsiteY1" fmla="*/ 49451 h 329671"/>
              <a:gd name="connsiteX2" fmla="*/ 140935 w 296704"/>
              <a:gd name="connsiteY2" fmla="*/ 2473 h 329671"/>
              <a:gd name="connsiteX3" fmla="*/ 155770 w 296704"/>
              <a:gd name="connsiteY3" fmla="*/ 2473 h 329671"/>
              <a:gd name="connsiteX4" fmla="*/ 284342 w 296704"/>
              <a:gd name="connsiteY4" fmla="*/ 49451 h 329671"/>
              <a:gd name="connsiteX5" fmla="*/ 296705 w 296704"/>
              <a:gd name="connsiteY5" fmla="*/ 61813 h 329671"/>
              <a:gd name="connsiteX6" fmla="*/ 296705 w 296704"/>
              <a:gd name="connsiteY6" fmla="*/ 148352 h 329671"/>
              <a:gd name="connsiteX7" fmla="*/ 152884 w 296704"/>
              <a:gd name="connsiteY7" fmla="*/ 328811 h 329671"/>
              <a:gd name="connsiteX8" fmla="*/ 143821 w 296704"/>
              <a:gd name="connsiteY8" fmla="*/ 328811 h 329671"/>
              <a:gd name="connsiteX9" fmla="*/ 0 w 296704"/>
              <a:gd name="connsiteY9" fmla="*/ 148352 h 329671"/>
              <a:gd name="connsiteX10" fmla="*/ 0 w 296704"/>
              <a:gd name="connsiteY10" fmla="*/ 61813 h 329671"/>
              <a:gd name="connsiteX11" fmla="*/ 24725 w 296704"/>
              <a:gd name="connsiteY11" fmla="*/ 73812 h 329671"/>
              <a:gd name="connsiteX12" fmla="*/ 24725 w 296704"/>
              <a:gd name="connsiteY12" fmla="*/ 148352 h 329671"/>
              <a:gd name="connsiteX13" fmla="*/ 148352 w 296704"/>
              <a:gd name="connsiteY13" fmla="*/ 303989 h 329671"/>
              <a:gd name="connsiteX14" fmla="*/ 271979 w 296704"/>
              <a:gd name="connsiteY14" fmla="*/ 148352 h 329671"/>
              <a:gd name="connsiteX15" fmla="*/ 271979 w 296704"/>
              <a:gd name="connsiteY15" fmla="*/ 73812 h 329671"/>
              <a:gd name="connsiteX16" fmla="*/ 148352 w 296704"/>
              <a:gd name="connsiteY16" fmla="*/ 27656 h 329671"/>
              <a:gd name="connsiteX17" fmla="*/ 24725 w 296704"/>
              <a:gd name="connsiteY17" fmla="*/ 73812 h 3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704" h="329671">
                <a:moveTo>
                  <a:pt x="0" y="61813"/>
                </a:moveTo>
                <a:cubicBezTo>
                  <a:pt x="0" y="54986"/>
                  <a:pt x="5535" y="49451"/>
                  <a:pt x="12363" y="49451"/>
                </a:cubicBezTo>
                <a:cubicBezTo>
                  <a:pt x="56265" y="49451"/>
                  <a:pt x="99033" y="33899"/>
                  <a:pt x="140935" y="2473"/>
                </a:cubicBezTo>
                <a:cubicBezTo>
                  <a:pt x="145331" y="-824"/>
                  <a:pt x="151374" y="-824"/>
                  <a:pt x="155770" y="2473"/>
                </a:cubicBezTo>
                <a:cubicBezTo>
                  <a:pt x="197671" y="33899"/>
                  <a:pt x="240439" y="49451"/>
                  <a:pt x="284342" y="49451"/>
                </a:cubicBezTo>
                <a:cubicBezTo>
                  <a:pt x="291169" y="49451"/>
                  <a:pt x="296705" y="54986"/>
                  <a:pt x="296705" y="61813"/>
                </a:cubicBezTo>
                <a:lnTo>
                  <a:pt x="296705" y="148352"/>
                </a:lnTo>
                <a:cubicBezTo>
                  <a:pt x="296705" y="230790"/>
                  <a:pt x="247953" y="291359"/>
                  <a:pt x="152884" y="328811"/>
                </a:cubicBezTo>
                <a:cubicBezTo>
                  <a:pt x="149971" y="329959"/>
                  <a:pt x="146734" y="329959"/>
                  <a:pt x="143821" y="328811"/>
                </a:cubicBezTo>
                <a:cubicBezTo>
                  <a:pt x="48751" y="291359"/>
                  <a:pt x="0" y="230790"/>
                  <a:pt x="0" y="148352"/>
                </a:cubicBezTo>
                <a:lnTo>
                  <a:pt x="0" y="61813"/>
                </a:lnTo>
                <a:close/>
                <a:moveTo>
                  <a:pt x="24725" y="73812"/>
                </a:moveTo>
                <a:lnTo>
                  <a:pt x="24725" y="148352"/>
                </a:lnTo>
                <a:cubicBezTo>
                  <a:pt x="24725" y="218500"/>
                  <a:pt x="65166" y="269983"/>
                  <a:pt x="148352" y="303989"/>
                </a:cubicBezTo>
                <a:cubicBezTo>
                  <a:pt x="231538" y="269983"/>
                  <a:pt x="271979" y="218500"/>
                  <a:pt x="271979" y="148352"/>
                </a:cubicBezTo>
                <a:lnTo>
                  <a:pt x="271979" y="73812"/>
                </a:lnTo>
                <a:cubicBezTo>
                  <a:pt x="229496" y="71306"/>
                  <a:pt x="188229" y="55851"/>
                  <a:pt x="148352" y="27656"/>
                </a:cubicBezTo>
                <a:cubicBezTo>
                  <a:pt x="108476" y="55851"/>
                  <a:pt x="67209" y="71306"/>
                  <a:pt x="24725" y="73812"/>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defRPr/>
            </a:pPr>
            <a:endParaRPr lang="en-US" kern="0">
              <a:solidFill>
                <a:srgbClr val="000000"/>
              </a:solidFill>
              <a:latin typeface="Segoe Sans Text Semilight"/>
            </a:endParaRPr>
          </a:p>
        </p:txBody>
      </p:sp>
      <p:sp>
        <p:nvSpPr>
          <p:cNvPr id="42" name="Rounded Rectangle 27">
            <a:extLst>
              <a:ext uri="{FF2B5EF4-FFF2-40B4-BE49-F238E27FC236}">
                <a16:creationId xmlns:a16="http://schemas.microsoft.com/office/drawing/2014/main" id="{FBCB34C5-7E5F-B9C3-BB5C-F8879094B192}"/>
              </a:ext>
            </a:extLst>
          </p:cNvPr>
          <p:cNvSpPr/>
          <p:nvPr/>
        </p:nvSpPr>
        <p:spPr bwMode="auto">
          <a:xfrm>
            <a:off x="3534297" y="4394715"/>
            <a:ext cx="2409305" cy="1292662"/>
          </a:xfrm>
          <a:prstGeom prst="rect">
            <a:avLst/>
          </a:prstGeom>
          <a:noFill/>
          <a:ln w="317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14367">
              <a:spcBef>
                <a:spcPct val="20000"/>
              </a:spcBef>
              <a:buSzPct val="90000"/>
              <a:defRPr/>
            </a:pPr>
            <a:r>
              <a:rPr lang="en-US" sz="1400" kern="0">
                <a:solidFill>
                  <a:srgbClr val="000000"/>
                </a:solidFill>
                <a:latin typeface="Segoe Sans Text Semilight"/>
              </a:rPr>
              <a:t>“I’m getting pulled in ten directions by the business, but we don’t have a scalable architecture for AI. We need to stop redoing the plumbing for every new pilot." </a:t>
            </a:r>
            <a:endParaRPr lang="en-US" sz="1400" strike="sngStrike" kern="0">
              <a:solidFill>
                <a:srgbClr val="000000"/>
              </a:solidFill>
              <a:latin typeface="Segoe Sans Text Semilight"/>
            </a:endParaRPr>
          </a:p>
        </p:txBody>
      </p:sp>
      <p:pic>
        <p:nvPicPr>
          <p:cNvPr id="43" name="Picture Placeholder 27" descr="A portrait of ">
            <a:extLst>
              <a:ext uri="{FF2B5EF4-FFF2-40B4-BE49-F238E27FC236}">
                <a16:creationId xmlns:a16="http://schemas.microsoft.com/office/drawing/2014/main" id="{02B76BB1-2933-11D1-B3B6-8440639A884D}"/>
              </a:ext>
            </a:extLst>
          </p:cNvPr>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6725312" y="1325986"/>
            <a:ext cx="1531943" cy="1526803"/>
          </a:xfrm>
          <a:prstGeom prst="ellipse">
            <a:avLst/>
          </a:prstGeom>
          <a:solidFill>
            <a:srgbClr val="FFFFFF"/>
          </a:solidFill>
          <a:ln w="38100">
            <a:gradFill flip="none" rotWithShape="1">
              <a:gsLst>
                <a:gs pos="0">
                  <a:srgbClr val="225B61"/>
                </a:gs>
                <a:gs pos="100000">
                  <a:srgbClr val="49C5B1">
                    <a:lumMod val="75000"/>
                  </a:srgbClr>
                </a:gs>
              </a:gsLst>
              <a:lin ang="2700000" scaled="1"/>
              <a:tileRect/>
            </a:gradFill>
            <a:headEnd type="none" w="med" len="med"/>
            <a:tailEnd type="none" w="med" len="med"/>
          </a:ln>
          <a:effectLst/>
        </p:spPr>
      </p:pic>
      <p:sp>
        <p:nvSpPr>
          <p:cNvPr id="44" name="Rounded Rectangle 27">
            <a:extLst>
              <a:ext uri="{FF2B5EF4-FFF2-40B4-BE49-F238E27FC236}">
                <a16:creationId xmlns:a16="http://schemas.microsoft.com/office/drawing/2014/main" id="{D18DBA68-A85D-FFC1-F321-250DF66F3E2F}"/>
              </a:ext>
            </a:extLst>
          </p:cNvPr>
          <p:cNvSpPr/>
          <p:nvPr/>
        </p:nvSpPr>
        <p:spPr bwMode="auto">
          <a:xfrm>
            <a:off x="6248398" y="3097159"/>
            <a:ext cx="248576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r>
              <a:rPr lang="en-US" sz="1600" kern="0">
                <a:solidFill>
                  <a:srgbClr val="FFFFFF"/>
                </a:solidFill>
                <a:latin typeface="Segoe Sans Display Semibold" pitchFamily="2" charset="0"/>
                <a:cs typeface="Segoe Sans Display Semibold" pitchFamily="2" charset="0"/>
              </a:rPr>
              <a:t>Line of Business Manager</a:t>
            </a:r>
            <a:endParaRPr lang="en-CA" sz="1600" kern="0">
              <a:solidFill>
                <a:srgbClr val="FFFFFF"/>
              </a:solidFill>
              <a:latin typeface="Segoe Sans Display Semibold" pitchFamily="2" charset="0"/>
              <a:cs typeface="Segoe Sans Display Semibold" pitchFamily="2" charset="0"/>
            </a:endParaRPr>
          </a:p>
        </p:txBody>
      </p:sp>
      <p:sp>
        <p:nvSpPr>
          <p:cNvPr id="45" name="Graphic 116" descr="Icon of a magnifying glass over a rectangle with contents inside">
            <a:extLst>
              <a:ext uri="{FF2B5EF4-FFF2-40B4-BE49-F238E27FC236}">
                <a16:creationId xmlns:a16="http://schemas.microsoft.com/office/drawing/2014/main" id="{0E31D5D1-8817-C1E7-9540-22D256BA6D6C}"/>
              </a:ext>
            </a:extLst>
          </p:cNvPr>
          <p:cNvSpPr/>
          <p:nvPr/>
        </p:nvSpPr>
        <p:spPr>
          <a:xfrm>
            <a:off x="7251895" y="3862056"/>
            <a:ext cx="478774" cy="410376"/>
          </a:xfrm>
          <a:custGeom>
            <a:avLst/>
            <a:gdLst>
              <a:gd name="connsiteX0" fmla="*/ 68461 w 383381"/>
              <a:gd name="connsiteY0" fmla="*/ 0 h 328612"/>
              <a:gd name="connsiteX1" fmla="*/ 18256 w 383381"/>
              <a:gd name="connsiteY1" fmla="*/ 50205 h 328612"/>
              <a:gd name="connsiteX2" fmla="*/ 18256 w 383381"/>
              <a:gd name="connsiteY2" fmla="*/ 132489 h 328612"/>
              <a:gd name="connsiteX3" fmla="*/ 45641 w 383381"/>
              <a:gd name="connsiteY3" fmla="*/ 116382 h 328612"/>
              <a:gd name="connsiteX4" fmla="*/ 45641 w 383381"/>
              <a:gd name="connsiteY4" fmla="*/ 50205 h 328612"/>
              <a:gd name="connsiteX5" fmla="*/ 68461 w 383381"/>
              <a:gd name="connsiteY5" fmla="*/ 27384 h 328612"/>
              <a:gd name="connsiteX6" fmla="*/ 333177 w 383381"/>
              <a:gd name="connsiteY6" fmla="*/ 27384 h 328612"/>
              <a:gd name="connsiteX7" fmla="*/ 355997 w 383381"/>
              <a:gd name="connsiteY7" fmla="*/ 50205 h 328612"/>
              <a:gd name="connsiteX8" fmla="*/ 355997 w 383381"/>
              <a:gd name="connsiteY8" fmla="*/ 241895 h 328612"/>
              <a:gd name="connsiteX9" fmla="*/ 333177 w 383381"/>
              <a:gd name="connsiteY9" fmla="*/ 264716 h 328612"/>
              <a:gd name="connsiteX10" fmla="*/ 182104 w 383381"/>
              <a:gd name="connsiteY10" fmla="*/ 264716 h 328612"/>
              <a:gd name="connsiteX11" fmla="*/ 209489 w 383381"/>
              <a:gd name="connsiteY11" fmla="*/ 292100 h 328612"/>
              <a:gd name="connsiteX12" fmla="*/ 333177 w 383381"/>
              <a:gd name="connsiteY12" fmla="*/ 292100 h 328612"/>
              <a:gd name="connsiteX13" fmla="*/ 383381 w 383381"/>
              <a:gd name="connsiteY13" fmla="*/ 241895 h 328612"/>
              <a:gd name="connsiteX14" fmla="*/ 383381 w 383381"/>
              <a:gd name="connsiteY14" fmla="*/ 50205 h 328612"/>
              <a:gd name="connsiteX15" fmla="*/ 333177 w 383381"/>
              <a:gd name="connsiteY15" fmla="*/ 0 h 328612"/>
              <a:gd name="connsiteX16" fmla="*/ 68461 w 383381"/>
              <a:gd name="connsiteY16" fmla="*/ 0 h 328612"/>
              <a:gd name="connsiteX17" fmla="*/ 139899 w 383381"/>
              <a:gd name="connsiteY17" fmla="*/ 127794 h 328612"/>
              <a:gd name="connsiteX18" fmla="*/ 166324 w 383381"/>
              <a:gd name="connsiteY18" fmla="*/ 155178 h 328612"/>
              <a:gd name="connsiteX19" fmla="*/ 296664 w 383381"/>
              <a:gd name="connsiteY19" fmla="*/ 155178 h 328612"/>
              <a:gd name="connsiteX20" fmla="*/ 310356 w 383381"/>
              <a:gd name="connsiteY20" fmla="*/ 141486 h 328612"/>
              <a:gd name="connsiteX21" fmla="*/ 296664 w 383381"/>
              <a:gd name="connsiteY21" fmla="*/ 127794 h 328612"/>
              <a:gd name="connsiteX22" fmla="*/ 139899 w 383381"/>
              <a:gd name="connsiteY22" fmla="*/ 127794 h 328612"/>
              <a:gd name="connsiteX23" fmla="*/ 260152 w 383381"/>
              <a:gd name="connsiteY23" fmla="*/ 209947 h 328612"/>
              <a:gd name="connsiteX24" fmla="*/ 182563 w 383381"/>
              <a:gd name="connsiteY24" fmla="*/ 209947 h 328612"/>
              <a:gd name="connsiteX25" fmla="*/ 178783 w 383381"/>
              <a:gd name="connsiteY25" fmla="*/ 182563 h 328612"/>
              <a:gd name="connsiteX26" fmla="*/ 260152 w 383381"/>
              <a:gd name="connsiteY26" fmla="*/ 182563 h 328612"/>
              <a:gd name="connsiteX27" fmla="*/ 273844 w 383381"/>
              <a:gd name="connsiteY27" fmla="*/ 196255 h 328612"/>
              <a:gd name="connsiteX28" fmla="*/ 260152 w 383381"/>
              <a:gd name="connsiteY28" fmla="*/ 209947 h 328612"/>
              <a:gd name="connsiteX29" fmla="*/ 104973 w 383381"/>
              <a:gd name="connsiteY29" fmla="*/ 73025 h 328612"/>
              <a:gd name="connsiteX30" fmla="*/ 91281 w 383381"/>
              <a:gd name="connsiteY30" fmla="*/ 86717 h 328612"/>
              <a:gd name="connsiteX31" fmla="*/ 104973 w 383381"/>
              <a:gd name="connsiteY31" fmla="*/ 100409 h 328612"/>
              <a:gd name="connsiteX32" fmla="*/ 223639 w 383381"/>
              <a:gd name="connsiteY32" fmla="*/ 100409 h 328612"/>
              <a:gd name="connsiteX33" fmla="*/ 237331 w 383381"/>
              <a:gd name="connsiteY33" fmla="*/ 86717 h 328612"/>
              <a:gd name="connsiteX34" fmla="*/ 223639 w 383381"/>
              <a:gd name="connsiteY34" fmla="*/ 73025 h 328612"/>
              <a:gd name="connsiteX35" fmla="*/ 104973 w 383381"/>
              <a:gd name="connsiteY35" fmla="*/ 73025 h 328612"/>
              <a:gd name="connsiteX36" fmla="*/ 82153 w 383381"/>
              <a:gd name="connsiteY36" fmla="*/ 292100 h 328612"/>
              <a:gd name="connsiteX37" fmla="*/ 129754 w 383381"/>
              <a:gd name="connsiteY37" fmla="*/ 276913 h 328612"/>
              <a:gd name="connsiteX38" fmla="*/ 177445 w 383381"/>
              <a:gd name="connsiteY38" fmla="*/ 324602 h 328612"/>
              <a:gd name="connsiteX39" fmla="*/ 196808 w 383381"/>
              <a:gd name="connsiteY39" fmla="*/ 324602 h 328612"/>
              <a:gd name="connsiteX40" fmla="*/ 196808 w 383381"/>
              <a:gd name="connsiteY40" fmla="*/ 305239 h 328612"/>
              <a:gd name="connsiteX41" fmla="*/ 149118 w 383381"/>
              <a:gd name="connsiteY41" fmla="*/ 257548 h 328612"/>
              <a:gd name="connsiteX42" fmla="*/ 164306 w 383381"/>
              <a:gd name="connsiteY42" fmla="*/ 209947 h 328612"/>
              <a:gd name="connsiteX43" fmla="*/ 82153 w 383381"/>
              <a:gd name="connsiteY43" fmla="*/ 127794 h 328612"/>
              <a:gd name="connsiteX44" fmla="*/ 0 w 383381"/>
              <a:gd name="connsiteY44" fmla="*/ 209947 h 328612"/>
              <a:gd name="connsiteX45" fmla="*/ 82153 w 383381"/>
              <a:gd name="connsiteY45" fmla="*/ 292100 h 328612"/>
              <a:gd name="connsiteX46" fmla="*/ 82153 w 383381"/>
              <a:gd name="connsiteY46" fmla="*/ 264716 h 328612"/>
              <a:gd name="connsiteX47" fmla="*/ 27384 w 383381"/>
              <a:gd name="connsiteY47" fmla="*/ 209947 h 328612"/>
              <a:gd name="connsiteX48" fmla="*/ 82153 w 383381"/>
              <a:gd name="connsiteY48" fmla="*/ 155178 h 328612"/>
              <a:gd name="connsiteX49" fmla="*/ 136922 w 383381"/>
              <a:gd name="connsiteY49" fmla="*/ 209947 h 328612"/>
              <a:gd name="connsiteX50" fmla="*/ 82153 w 383381"/>
              <a:gd name="connsiteY50" fmla="*/ 264716 h 3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83381" h="328612">
                <a:moveTo>
                  <a:pt x="68461" y="0"/>
                </a:moveTo>
                <a:cubicBezTo>
                  <a:pt x="40734" y="0"/>
                  <a:pt x="18256" y="22477"/>
                  <a:pt x="18256" y="50205"/>
                </a:cubicBezTo>
                <a:lnTo>
                  <a:pt x="18256" y="132489"/>
                </a:lnTo>
                <a:cubicBezTo>
                  <a:pt x="26404" y="125760"/>
                  <a:pt x="35632" y="120290"/>
                  <a:pt x="45641" y="116382"/>
                </a:cubicBezTo>
                <a:lnTo>
                  <a:pt x="45641" y="50205"/>
                </a:lnTo>
                <a:cubicBezTo>
                  <a:pt x="45641" y="37601"/>
                  <a:pt x="55858" y="27384"/>
                  <a:pt x="68461" y="27384"/>
                </a:cubicBezTo>
                <a:lnTo>
                  <a:pt x="333177" y="27384"/>
                </a:lnTo>
                <a:cubicBezTo>
                  <a:pt x="345781" y="27384"/>
                  <a:pt x="355997" y="37601"/>
                  <a:pt x="355997" y="50205"/>
                </a:cubicBezTo>
                <a:lnTo>
                  <a:pt x="355997" y="241895"/>
                </a:lnTo>
                <a:cubicBezTo>
                  <a:pt x="355997" y="254499"/>
                  <a:pt x="345781" y="264716"/>
                  <a:pt x="333177" y="264716"/>
                </a:cubicBezTo>
                <a:lnTo>
                  <a:pt x="182104" y="264716"/>
                </a:lnTo>
                <a:lnTo>
                  <a:pt x="209489" y="292100"/>
                </a:lnTo>
                <a:lnTo>
                  <a:pt x="333177" y="292100"/>
                </a:lnTo>
                <a:cubicBezTo>
                  <a:pt x="360904" y="292100"/>
                  <a:pt x="383381" y="269623"/>
                  <a:pt x="383381" y="241895"/>
                </a:cubicBezTo>
                <a:lnTo>
                  <a:pt x="383381" y="50205"/>
                </a:lnTo>
                <a:cubicBezTo>
                  <a:pt x="383381" y="22477"/>
                  <a:pt x="360904" y="0"/>
                  <a:pt x="333177" y="0"/>
                </a:cubicBezTo>
                <a:lnTo>
                  <a:pt x="68461" y="0"/>
                </a:lnTo>
                <a:close/>
                <a:moveTo>
                  <a:pt x="139899" y="127794"/>
                </a:moveTo>
                <a:cubicBezTo>
                  <a:pt x="150350" y="135153"/>
                  <a:pt x="159334" y="144456"/>
                  <a:pt x="166324" y="155178"/>
                </a:cubicBezTo>
                <a:lnTo>
                  <a:pt x="296664" y="155178"/>
                </a:lnTo>
                <a:cubicBezTo>
                  <a:pt x="304226" y="155178"/>
                  <a:pt x="310356" y="149048"/>
                  <a:pt x="310356" y="141486"/>
                </a:cubicBezTo>
                <a:cubicBezTo>
                  <a:pt x="310356" y="133924"/>
                  <a:pt x="304226" y="127794"/>
                  <a:pt x="296664" y="127794"/>
                </a:cubicBezTo>
                <a:lnTo>
                  <a:pt x="139899" y="127794"/>
                </a:lnTo>
                <a:close/>
                <a:moveTo>
                  <a:pt x="260152" y="209947"/>
                </a:moveTo>
                <a:lnTo>
                  <a:pt x="182563" y="209947"/>
                </a:lnTo>
                <a:cubicBezTo>
                  <a:pt x="182563" y="200454"/>
                  <a:pt x="181244" y="191267"/>
                  <a:pt x="178783" y="182563"/>
                </a:cubicBezTo>
                <a:lnTo>
                  <a:pt x="260152" y="182563"/>
                </a:lnTo>
                <a:cubicBezTo>
                  <a:pt x="267713" y="182563"/>
                  <a:pt x="273844" y="188693"/>
                  <a:pt x="273844" y="196255"/>
                </a:cubicBezTo>
                <a:cubicBezTo>
                  <a:pt x="273844" y="203816"/>
                  <a:pt x="267713" y="209947"/>
                  <a:pt x="260152" y="209947"/>
                </a:cubicBezTo>
                <a:close/>
                <a:moveTo>
                  <a:pt x="104973" y="73025"/>
                </a:moveTo>
                <a:cubicBezTo>
                  <a:pt x="97412" y="73025"/>
                  <a:pt x="91281" y="79155"/>
                  <a:pt x="91281" y="86717"/>
                </a:cubicBezTo>
                <a:cubicBezTo>
                  <a:pt x="91281" y="94279"/>
                  <a:pt x="97412" y="100409"/>
                  <a:pt x="104973" y="100409"/>
                </a:cubicBezTo>
                <a:lnTo>
                  <a:pt x="223639" y="100409"/>
                </a:lnTo>
                <a:cubicBezTo>
                  <a:pt x="231201" y="100409"/>
                  <a:pt x="237331" y="94279"/>
                  <a:pt x="237331" y="86717"/>
                </a:cubicBezTo>
                <a:cubicBezTo>
                  <a:pt x="237331" y="79155"/>
                  <a:pt x="231201" y="73025"/>
                  <a:pt x="223639" y="73025"/>
                </a:cubicBezTo>
                <a:lnTo>
                  <a:pt x="104973" y="73025"/>
                </a:lnTo>
                <a:close/>
                <a:moveTo>
                  <a:pt x="82153" y="292100"/>
                </a:moveTo>
                <a:cubicBezTo>
                  <a:pt x="99896" y="292100"/>
                  <a:pt x="116325" y="286475"/>
                  <a:pt x="129754" y="276913"/>
                </a:cubicBezTo>
                <a:lnTo>
                  <a:pt x="177445" y="324602"/>
                </a:lnTo>
                <a:cubicBezTo>
                  <a:pt x="182793" y="329949"/>
                  <a:pt x="191461" y="329949"/>
                  <a:pt x="196808" y="324602"/>
                </a:cubicBezTo>
                <a:cubicBezTo>
                  <a:pt x="202155" y="319254"/>
                  <a:pt x="202155" y="310586"/>
                  <a:pt x="196808" y="305239"/>
                </a:cubicBezTo>
                <a:lnTo>
                  <a:pt x="149118" y="257548"/>
                </a:lnTo>
                <a:cubicBezTo>
                  <a:pt x="158682" y="244119"/>
                  <a:pt x="164306" y="227690"/>
                  <a:pt x="164306" y="209947"/>
                </a:cubicBezTo>
                <a:cubicBezTo>
                  <a:pt x="164306" y="164575"/>
                  <a:pt x="127525" y="127794"/>
                  <a:pt x="82153" y="127794"/>
                </a:cubicBezTo>
                <a:cubicBezTo>
                  <a:pt x="36781" y="127794"/>
                  <a:pt x="0" y="164575"/>
                  <a:pt x="0" y="209947"/>
                </a:cubicBezTo>
                <a:cubicBezTo>
                  <a:pt x="0" y="255319"/>
                  <a:pt x="36781" y="292100"/>
                  <a:pt x="82153" y="292100"/>
                </a:cubicBezTo>
                <a:close/>
                <a:moveTo>
                  <a:pt x="82153" y="264716"/>
                </a:moveTo>
                <a:cubicBezTo>
                  <a:pt x="51905" y="264716"/>
                  <a:pt x="27384" y="240196"/>
                  <a:pt x="27384" y="209947"/>
                </a:cubicBezTo>
                <a:cubicBezTo>
                  <a:pt x="27384" y="179698"/>
                  <a:pt x="51905" y="155178"/>
                  <a:pt x="82153" y="155178"/>
                </a:cubicBezTo>
                <a:cubicBezTo>
                  <a:pt x="112401" y="155178"/>
                  <a:pt x="136922" y="179698"/>
                  <a:pt x="136922" y="209947"/>
                </a:cubicBezTo>
                <a:cubicBezTo>
                  <a:pt x="136922" y="240196"/>
                  <a:pt x="112401" y="264716"/>
                  <a:pt x="82153" y="264716"/>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defRPr/>
            </a:pPr>
            <a:endParaRPr lang="en-US" kern="0">
              <a:solidFill>
                <a:srgbClr val="000000"/>
              </a:solidFill>
              <a:latin typeface="Segoe Sans Text Semilight"/>
            </a:endParaRPr>
          </a:p>
        </p:txBody>
      </p:sp>
      <p:sp>
        <p:nvSpPr>
          <p:cNvPr id="46" name="Rounded Rectangle 27">
            <a:extLst>
              <a:ext uri="{FF2B5EF4-FFF2-40B4-BE49-F238E27FC236}">
                <a16:creationId xmlns:a16="http://schemas.microsoft.com/office/drawing/2014/main" id="{3869DE3A-5364-D204-0982-8F58A651F43E}"/>
              </a:ext>
            </a:extLst>
          </p:cNvPr>
          <p:cNvSpPr/>
          <p:nvPr/>
        </p:nvSpPr>
        <p:spPr bwMode="auto">
          <a:xfrm>
            <a:off x="6524626" y="4422435"/>
            <a:ext cx="2209538" cy="861774"/>
          </a:xfrm>
          <a:prstGeom prst="rect">
            <a:avLst/>
          </a:prstGeom>
          <a:noFill/>
          <a:ln w="317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14367">
              <a:spcBef>
                <a:spcPct val="20000"/>
              </a:spcBef>
              <a:buSzPct val="90000"/>
              <a:defRPr/>
            </a:pPr>
            <a:r>
              <a:rPr lang="en-US" sz="1400" kern="0">
                <a:solidFill>
                  <a:srgbClr val="000000"/>
                </a:solidFill>
                <a:latin typeface="Segoe Sans Text Semilight"/>
              </a:rPr>
              <a:t>“We have a clear use case. I just want to solve this problem now – not wait a year for IT to figure it out.”</a:t>
            </a:r>
          </a:p>
        </p:txBody>
      </p:sp>
      <p:pic>
        <p:nvPicPr>
          <p:cNvPr id="47" name="Picture Placeholder 27" descr="A portrait of ">
            <a:extLst>
              <a:ext uri="{FF2B5EF4-FFF2-40B4-BE49-F238E27FC236}">
                <a16:creationId xmlns:a16="http://schemas.microsoft.com/office/drawing/2014/main" id="{DFDFFDCF-4283-5051-2F7C-967DE64C69B1}"/>
              </a:ext>
            </a:extLst>
          </p:cNvPr>
          <p:cNvPicPr>
            <a:picLocks/>
          </p:cNvPicPr>
          <p:nvPr/>
        </p:nvPicPr>
        <p:blipFill rotWithShape="1">
          <a:blip r:embed="rId6" cstate="email">
            <a:extLst>
              <a:ext uri="{28A0092B-C50C-407E-A947-70E740481C1C}">
                <a14:useLocalDpi xmlns:a14="http://schemas.microsoft.com/office/drawing/2010/main"/>
              </a:ext>
            </a:extLst>
          </a:blip>
          <a:srcRect/>
          <a:stretch/>
        </p:blipFill>
        <p:spPr>
          <a:xfrm>
            <a:off x="9515875" y="1325986"/>
            <a:ext cx="1531943" cy="1526803"/>
          </a:xfrm>
          <a:prstGeom prst="ellipse">
            <a:avLst/>
          </a:prstGeom>
          <a:solidFill>
            <a:srgbClr val="FFFFFF"/>
          </a:solidFill>
          <a:ln w="38100">
            <a:gradFill flip="none" rotWithShape="1">
              <a:gsLst>
                <a:gs pos="0">
                  <a:srgbClr val="225B61"/>
                </a:gs>
                <a:gs pos="100000">
                  <a:srgbClr val="49C5B1">
                    <a:lumMod val="75000"/>
                  </a:srgbClr>
                </a:gs>
              </a:gsLst>
              <a:lin ang="2700000" scaled="1"/>
              <a:tileRect/>
            </a:gradFill>
            <a:headEnd type="none" w="med" len="med"/>
            <a:tailEnd type="none" w="med" len="med"/>
          </a:ln>
          <a:effectLst/>
        </p:spPr>
      </p:pic>
      <p:sp>
        <p:nvSpPr>
          <p:cNvPr id="48" name="Rounded Rectangle 27">
            <a:extLst>
              <a:ext uri="{FF2B5EF4-FFF2-40B4-BE49-F238E27FC236}">
                <a16:creationId xmlns:a16="http://schemas.microsoft.com/office/drawing/2014/main" id="{20888531-6D3F-3601-2683-24D7ED1BA9D3}"/>
              </a:ext>
            </a:extLst>
          </p:cNvPr>
          <p:cNvSpPr/>
          <p:nvPr/>
        </p:nvSpPr>
        <p:spPr bwMode="auto">
          <a:xfrm>
            <a:off x="9038962" y="3097159"/>
            <a:ext cx="248576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r>
              <a:rPr lang="en-US" sz="1600" kern="0">
                <a:solidFill>
                  <a:srgbClr val="FFFFFF"/>
                </a:solidFill>
                <a:latin typeface="Segoe Sans Display Semibold" pitchFamily="2" charset="0"/>
                <a:cs typeface="Segoe Sans Display Semibold" pitchFamily="2" charset="0"/>
              </a:rPr>
              <a:t>Chief Innovation Officer</a:t>
            </a:r>
            <a:endParaRPr lang="en-CA" sz="1600" kern="0">
              <a:solidFill>
                <a:srgbClr val="FFFFFF"/>
              </a:solidFill>
              <a:latin typeface="Segoe Sans Display Semibold" pitchFamily="2" charset="0"/>
              <a:cs typeface="Segoe Sans Display Semibold" pitchFamily="2" charset="0"/>
            </a:endParaRPr>
          </a:p>
        </p:txBody>
      </p:sp>
      <p:sp>
        <p:nvSpPr>
          <p:cNvPr id="49" name="Graphic 36" descr="Icon of a person with a headset">
            <a:extLst>
              <a:ext uri="{FF2B5EF4-FFF2-40B4-BE49-F238E27FC236}">
                <a16:creationId xmlns:a16="http://schemas.microsoft.com/office/drawing/2014/main" id="{737878F0-4CD3-CD7A-5CB3-85EE0E548117}"/>
              </a:ext>
            </a:extLst>
          </p:cNvPr>
          <p:cNvSpPr/>
          <p:nvPr/>
        </p:nvSpPr>
        <p:spPr>
          <a:xfrm>
            <a:off x="10083015" y="3818745"/>
            <a:ext cx="397660" cy="496998"/>
          </a:xfrm>
          <a:custGeom>
            <a:avLst/>
            <a:gdLst>
              <a:gd name="connsiteX0" fmla="*/ 274311 w 274311"/>
              <a:gd name="connsiteY0" fmla="*/ 244216 h 342839"/>
              <a:gd name="connsiteX1" fmla="*/ 235754 w 274311"/>
              <a:gd name="connsiteY1" fmla="*/ 205659 h 342839"/>
              <a:gd name="connsiteX2" fmla="*/ 38557 w 274311"/>
              <a:gd name="connsiteY2" fmla="*/ 205659 h 342839"/>
              <a:gd name="connsiteX3" fmla="*/ 0 w 274311"/>
              <a:gd name="connsiteY3" fmla="*/ 244216 h 342839"/>
              <a:gd name="connsiteX4" fmla="*/ 0 w 274311"/>
              <a:gd name="connsiteY4" fmla="*/ 254121 h 342839"/>
              <a:gd name="connsiteX5" fmla="*/ 15401 w 274311"/>
              <a:gd name="connsiteY5" fmla="*/ 295872 h 342839"/>
              <a:gd name="connsiteX6" fmla="*/ 137100 w 274311"/>
              <a:gd name="connsiteY6" fmla="*/ 342839 h 342839"/>
              <a:gd name="connsiteX7" fmla="*/ 258862 w 274311"/>
              <a:gd name="connsiteY7" fmla="*/ 295889 h 342839"/>
              <a:gd name="connsiteX8" fmla="*/ 274311 w 274311"/>
              <a:gd name="connsiteY8" fmla="*/ 254081 h 342839"/>
              <a:gd name="connsiteX9" fmla="*/ 274311 w 274311"/>
              <a:gd name="connsiteY9" fmla="*/ 244216 h 342839"/>
              <a:gd name="connsiteX10" fmla="*/ 38557 w 274311"/>
              <a:gd name="connsiteY10" fmla="*/ 231376 h 342839"/>
              <a:gd name="connsiteX11" fmla="*/ 235754 w 274311"/>
              <a:gd name="connsiteY11" fmla="*/ 231376 h 342839"/>
              <a:gd name="connsiteX12" fmla="*/ 248594 w 274311"/>
              <a:gd name="connsiteY12" fmla="*/ 244216 h 342839"/>
              <a:gd name="connsiteX13" fmla="*/ 248594 w 274311"/>
              <a:gd name="connsiteY13" fmla="*/ 254081 h 342839"/>
              <a:gd name="connsiteX14" fmla="*/ 239324 w 274311"/>
              <a:gd name="connsiteY14" fmla="*/ 279166 h 342839"/>
              <a:gd name="connsiteX15" fmla="*/ 137100 w 274311"/>
              <a:gd name="connsiteY15" fmla="*/ 317122 h 342839"/>
              <a:gd name="connsiteX16" fmla="*/ 34958 w 274311"/>
              <a:gd name="connsiteY16" fmla="*/ 279171 h 342839"/>
              <a:gd name="connsiteX17" fmla="*/ 25718 w 274311"/>
              <a:gd name="connsiteY17" fmla="*/ 254121 h 342839"/>
              <a:gd name="connsiteX18" fmla="*/ 25718 w 274311"/>
              <a:gd name="connsiteY18" fmla="*/ 244216 h 342839"/>
              <a:gd name="connsiteX19" fmla="*/ 38557 w 274311"/>
              <a:gd name="connsiteY19" fmla="*/ 231376 h 342839"/>
              <a:gd name="connsiteX20" fmla="*/ 222825 w 274311"/>
              <a:gd name="connsiteY20" fmla="*/ 85725 h 342839"/>
              <a:gd name="connsiteX21" fmla="*/ 137100 w 274311"/>
              <a:gd name="connsiteY21" fmla="*/ 0 h 342839"/>
              <a:gd name="connsiteX22" fmla="*/ 68094 w 274311"/>
              <a:gd name="connsiteY22" fmla="*/ 34853 h 342839"/>
              <a:gd name="connsiteX23" fmla="*/ 64252 w 274311"/>
              <a:gd name="connsiteY23" fmla="*/ 34269 h 342839"/>
              <a:gd name="connsiteX24" fmla="*/ 21427 w 274311"/>
              <a:gd name="connsiteY24" fmla="*/ 34269 h 342839"/>
              <a:gd name="connsiteX25" fmla="*/ 8568 w 274311"/>
              <a:gd name="connsiteY25" fmla="*/ 47127 h 342839"/>
              <a:gd name="connsiteX26" fmla="*/ 8568 w 274311"/>
              <a:gd name="connsiteY26" fmla="*/ 141404 h 342839"/>
              <a:gd name="connsiteX27" fmla="*/ 55718 w 274311"/>
              <a:gd name="connsiteY27" fmla="*/ 188553 h 342839"/>
              <a:gd name="connsiteX28" fmla="*/ 60004 w 274311"/>
              <a:gd name="connsiteY28" fmla="*/ 188553 h 342839"/>
              <a:gd name="connsiteX29" fmla="*/ 60004 w 274311"/>
              <a:gd name="connsiteY29" fmla="*/ 188479 h 342839"/>
              <a:gd name="connsiteX30" fmla="*/ 60180 w 274311"/>
              <a:gd name="connsiteY30" fmla="*/ 188479 h 342839"/>
              <a:gd name="connsiteX31" fmla="*/ 77283 w 274311"/>
              <a:gd name="connsiteY31" fmla="*/ 171377 h 342839"/>
              <a:gd name="connsiteX32" fmla="*/ 60180 w 274311"/>
              <a:gd name="connsiteY32" fmla="*/ 154275 h 342839"/>
              <a:gd name="connsiteX33" fmla="*/ 46700 w 274311"/>
              <a:gd name="connsiteY33" fmla="*/ 160852 h 342839"/>
              <a:gd name="connsiteX34" fmla="*/ 34286 w 274311"/>
              <a:gd name="connsiteY34" fmla="*/ 141404 h 342839"/>
              <a:gd name="connsiteX35" fmla="*/ 34286 w 274311"/>
              <a:gd name="connsiteY35" fmla="*/ 137110 h 342839"/>
              <a:gd name="connsiteX36" fmla="*/ 47107 w 274311"/>
              <a:gd name="connsiteY36" fmla="*/ 137110 h 342839"/>
              <a:gd name="connsiteX37" fmla="*/ 64598 w 274311"/>
              <a:gd name="connsiteY37" fmla="*/ 131487 h 342839"/>
              <a:gd name="connsiteX38" fmla="*/ 137100 w 274311"/>
              <a:gd name="connsiteY38" fmla="*/ 171451 h 342839"/>
              <a:gd name="connsiteX39" fmla="*/ 222825 w 274311"/>
              <a:gd name="connsiteY39" fmla="*/ 85725 h 342839"/>
              <a:gd name="connsiteX40" fmla="*/ 51393 w 274311"/>
              <a:gd name="connsiteY40" fmla="*/ 83908 h 342839"/>
              <a:gd name="connsiteX41" fmla="*/ 51374 w 274311"/>
              <a:gd name="connsiteY41" fmla="*/ 85725 h 342839"/>
              <a:gd name="connsiteX42" fmla="*/ 51393 w 274311"/>
              <a:gd name="connsiteY42" fmla="*/ 87542 h 342839"/>
              <a:gd name="connsiteX43" fmla="*/ 51393 w 274311"/>
              <a:gd name="connsiteY43" fmla="*/ 107106 h 342839"/>
              <a:gd name="connsiteX44" fmla="*/ 47107 w 274311"/>
              <a:gd name="connsiteY44" fmla="*/ 111392 h 342839"/>
              <a:gd name="connsiteX45" fmla="*/ 34286 w 274311"/>
              <a:gd name="connsiteY45" fmla="*/ 111392 h 342839"/>
              <a:gd name="connsiteX46" fmla="*/ 34286 w 274311"/>
              <a:gd name="connsiteY46" fmla="*/ 59986 h 342839"/>
              <a:gd name="connsiteX47" fmla="*/ 51393 w 274311"/>
              <a:gd name="connsiteY47" fmla="*/ 59986 h 342839"/>
              <a:gd name="connsiteX48" fmla="*/ 51393 w 274311"/>
              <a:gd name="connsiteY48" fmla="*/ 83908 h 342839"/>
              <a:gd name="connsiteX49" fmla="*/ 77111 w 274311"/>
              <a:gd name="connsiteY49" fmla="*/ 87245 h 342839"/>
              <a:gd name="connsiteX50" fmla="*/ 77111 w 274311"/>
              <a:gd name="connsiteY50" fmla="*/ 84206 h 342839"/>
              <a:gd name="connsiteX51" fmla="*/ 137100 w 274311"/>
              <a:gd name="connsiteY51" fmla="*/ 25718 h 342839"/>
              <a:gd name="connsiteX52" fmla="*/ 197108 w 274311"/>
              <a:gd name="connsiteY52" fmla="*/ 85725 h 342839"/>
              <a:gd name="connsiteX53" fmla="*/ 137100 w 274311"/>
              <a:gd name="connsiteY53" fmla="*/ 145733 h 342839"/>
              <a:gd name="connsiteX54" fmla="*/ 77111 w 274311"/>
              <a:gd name="connsiteY54" fmla="*/ 87245 h 34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74311" h="342839">
                <a:moveTo>
                  <a:pt x="274311" y="244216"/>
                </a:moveTo>
                <a:cubicBezTo>
                  <a:pt x="274311" y="222922"/>
                  <a:pt x="257050" y="205659"/>
                  <a:pt x="235754" y="205659"/>
                </a:cubicBezTo>
                <a:lnTo>
                  <a:pt x="38557" y="205659"/>
                </a:lnTo>
                <a:cubicBezTo>
                  <a:pt x="17263" y="205659"/>
                  <a:pt x="0" y="222922"/>
                  <a:pt x="0" y="244216"/>
                </a:cubicBezTo>
                <a:lnTo>
                  <a:pt x="0" y="254121"/>
                </a:lnTo>
                <a:cubicBezTo>
                  <a:pt x="0" y="269428"/>
                  <a:pt x="5461" y="284232"/>
                  <a:pt x="15401" y="295872"/>
                </a:cubicBezTo>
                <a:cubicBezTo>
                  <a:pt x="42255" y="327320"/>
                  <a:pt x="83164" y="342839"/>
                  <a:pt x="137100" y="342839"/>
                </a:cubicBezTo>
                <a:cubicBezTo>
                  <a:pt x="191026" y="342839"/>
                  <a:pt x="231955" y="327325"/>
                  <a:pt x="258862" y="295889"/>
                </a:cubicBezTo>
                <a:cubicBezTo>
                  <a:pt x="268832" y="284243"/>
                  <a:pt x="274311" y="269414"/>
                  <a:pt x="274311" y="254081"/>
                </a:cubicBezTo>
                <a:lnTo>
                  <a:pt x="274311" y="244216"/>
                </a:lnTo>
                <a:close/>
                <a:moveTo>
                  <a:pt x="38557" y="231376"/>
                </a:moveTo>
                <a:lnTo>
                  <a:pt x="235754" y="231376"/>
                </a:lnTo>
                <a:cubicBezTo>
                  <a:pt x="242845" y="231376"/>
                  <a:pt x="248594" y="237125"/>
                  <a:pt x="248594" y="244216"/>
                </a:cubicBezTo>
                <a:lnTo>
                  <a:pt x="248594" y="254081"/>
                </a:lnTo>
                <a:cubicBezTo>
                  <a:pt x="248594" y="263281"/>
                  <a:pt x="245307" y="272178"/>
                  <a:pt x="239324" y="279166"/>
                </a:cubicBezTo>
                <a:cubicBezTo>
                  <a:pt x="217783" y="304335"/>
                  <a:pt x="184048" y="317122"/>
                  <a:pt x="137100" y="317122"/>
                </a:cubicBezTo>
                <a:cubicBezTo>
                  <a:pt x="90151" y="317122"/>
                  <a:pt x="56446" y="304335"/>
                  <a:pt x="34958" y="279171"/>
                </a:cubicBezTo>
                <a:cubicBezTo>
                  <a:pt x="28994" y="272188"/>
                  <a:pt x="25718" y="263305"/>
                  <a:pt x="25718" y="254121"/>
                </a:cubicBezTo>
                <a:lnTo>
                  <a:pt x="25718" y="244216"/>
                </a:lnTo>
                <a:cubicBezTo>
                  <a:pt x="25718" y="237125"/>
                  <a:pt x="31466" y="231376"/>
                  <a:pt x="38557" y="231376"/>
                </a:cubicBezTo>
                <a:close/>
                <a:moveTo>
                  <a:pt x="222825" y="85725"/>
                </a:moveTo>
                <a:cubicBezTo>
                  <a:pt x="222825" y="38380"/>
                  <a:pt x="184444" y="0"/>
                  <a:pt x="137100" y="0"/>
                </a:cubicBezTo>
                <a:cubicBezTo>
                  <a:pt x="108802" y="0"/>
                  <a:pt x="83706" y="13711"/>
                  <a:pt x="68094" y="34853"/>
                </a:cubicBezTo>
                <a:cubicBezTo>
                  <a:pt x="66881" y="34473"/>
                  <a:pt x="65590" y="34269"/>
                  <a:pt x="64252" y="34269"/>
                </a:cubicBezTo>
                <a:lnTo>
                  <a:pt x="21427" y="34269"/>
                </a:lnTo>
                <a:cubicBezTo>
                  <a:pt x="14325" y="34269"/>
                  <a:pt x="8568" y="40026"/>
                  <a:pt x="8568" y="47127"/>
                </a:cubicBezTo>
                <a:lnTo>
                  <a:pt x="8568" y="141404"/>
                </a:lnTo>
                <a:cubicBezTo>
                  <a:pt x="8568" y="167444"/>
                  <a:pt x="29678" y="188553"/>
                  <a:pt x="55718" y="188553"/>
                </a:cubicBezTo>
                <a:lnTo>
                  <a:pt x="60004" y="188553"/>
                </a:lnTo>
                <a:lnTo>
                  <a:pt x="60004" y="188479"/>
                </a:lnTo>
                <a:cubicBezTo>
                  <a:pt x="60062" y="188479"/>
                  <a:pt x="60121" y="188479"/>
                  <a:pt x="60180" y="188479"/>
                </a:cubicBezTo>
                <a:cubicBezTo>
                  <a:pt x="69626" y="188479"/>
                  <a:pt x="77283" y="180822"/>
                  <a:pt x="77283" y="171377"/>
                </a:cubicBezTo>
                <a:cubicBezTo>
                  <a:pt x="77283" y="161932"/>
                  <a:pt x="69626" y="154275"/>
                  <a:pt x="60180" y="154275"/>
                </a:cubicBezTo>
                <a:cubicBezTo>
                  <a:pt x="54705" y="154275"/>
                  <a:pt x="49830" y="156848"/>
                  <a:pt x="46700" y="160852"/>
                </a:cubicBezTo>
                <a:cubicBezTo>
                  <a:pt x="39369" y="157447"/>
                  <a:pt x="34286" y="150020"/>
                  <a:pt x="34286" y="141404"/>
                </a:cubicBezTo>
                <a:lnTo>
                  <a:pt x="34286" y="137110"/>
                </a:lnTo>
                <a:lnTo>
                  <a:pt x="47107" y="137110"/>
                </a:lnTo>
                <a:cubicBezTo>
                  <a:pt x="53634" y="137110"/>
                  <a:pt x="59674" y="135026"/>
                  <a:pt x="64598" y="131487"/>
                </a:cubicBezTo>
                <a:cubicBezTo>
                  <a:pt x="79788" y="155503"/>
                  <a:pt x="106582" y="171451"/>
                  <a:pt x="137100" y="171451"/>
                </a:cubicBezTo>
                <a:cubicBezTo>
                  <a:pt x="184444" y="171451"/>
                  <a:pt x="222825" y="133070"/>
                  <a:pt x="222825" y="85725"/>
                </a:cubicBezTo>
                <a:close/>
                <a:moveTo>
                  <a:pt x="51393" y="83908"/>
                </a:moveTo>
                <a:cubicBezTo>
                  <a:pt x="51381" y="84513"/>
                  <a:pt x="51374" y="85118"/>
                  <a:pt x="51374" y="85725"/>
                </a:cubicBezTo>
                <a:cubicBezTo>
                  <a:pt x="51374" y="86332"/>
                  <a:pt x="51381" y="86938"/>
                  <a:pt x="51393" y="87542"/>
                </a:cubicBezTo>
                <a:lnTo>
                  <a:pt x="51393" y="107106"/>
                </a:lnTo>
                <a:cubicBezTo>
                  <a:pt x="51393" y="109473"/>
                  <a:pt x="49474" y="111392"/>
                  <a:pt x="47107" y="111392"/>
                </a:cubicBezTo>
                <a:lnTo>
                  <a:pt x="34286" y="111392"/>
                </a:lnTo>
                <a:lnTo>
                  <a:pt x="34286" y="59986"/>
                </a:lnTo>
                <a:lnTo>
                  <a:pt x="51393" y="59986"/>
                </a:lnTo>
                <a:lnTo>
                  <a:pt x="51393" y="83908"/>
                </a:lnTo>
                <a:close/>
                <a:moveTo>
                  <a:pt x="77111" y="87245"/>
                </a:moveTo>
                <a:lnTo>
                  <a:pt x="77111" y="84206"/>
                </a:lnTo>
                <a:cubicBezTo>
                  <a:pt x="77917" y="51766"/>
                  <a:pt x="104466" y="25718"/>
                  <a:pt x="137100" y="25718"/>
                </a:cubicBezTo>
                <a:cubicBezTo>
                  <a:pt x="170241" y="25718"/>
                  <a:pt x="197108" y="52584"/>
                  <a:pt x="197108" y="85725"/>
                </a:cubicBezTo>
                <a:cubicBezTo>
                  <a:pt x="197108" y="118866"/>
                  <a:pt x="170241" y="145733"/>
                  <a:pt x="137100" y="145733"/>
                </a:cubicBezTo>
                <a:cubicBezTo>
                  <a:pt x="104466" y="145733"/>
                  <a:pt x="77917" y="119684"/>
                  <a:pt x="77111" y="87245"/>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defRPr/>
            </a:pPr>
            <a:endParaRPr lang="en-US" kern="0">
              <a:solidFill>
                <a:srgbClr val="000000"/>
              </a:solidFill>
              <a:latin typeface="Segoe Sans Text Semilight"/>
            </a:endParaRPr>
          </a:p>
        </p:txBody>
      </p:sp>
      <p:sp>
        <p:nvSpPr>
          <p:cNvPr id="50" name="Rounded Rectangle 27">
            <a:extLst>
              <a:ext uri="{FF2B5EF4-FFF2-40B4-BE49-F238E27FC236}">
                <a16:creationId xmlns:a16="http://schemas.microsoft.com/office/drawing/2014/main" id="{882C23CE-16CE-9C98-7810-3BB0CE0F32F5}"/>
              </a:ext>
            </a:extLst>
          </p:cNvPr>
          <p:cNvSpPr/>
          <p:nvPr/>
        </p:nvSpPr>
        <p:spPr bwMode="auto">
          <a:xfrm>
            <a:off x="9124428" y="4422437"/>
            <a:ext cx="2314834" cy="1292662"/>
          </a:xfrm>
          <a:prstGeom prst="rect">
            <a:avLst/>
          </a:prstGeom>
          <a:noFill/>
          <a:ln w="3175" cap="flat" cmpd="sng" algn="ctr">
            <a:noFill/>
            <a:prstDash val="solid"/>
            <a:miter lim="800000"/>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defTabSz="914367">
              <a:spcBef>
                <a:spcPct val="20000"/>
              </a:spcBef>
              <a:buSzPct val="90000"/>
              <a:defRPr/>
            </a:pPr>
            <a:r>
              <a:rPr lang="en-US" sz="1400" kern="0">
                <a:solidFill>
                  <a:srgbClr val="000000"/>
                </a:solidFill>
                <a:latin typeface="Segoe Sans Text Semilight"/>
              </a:rPr>
              <a:t>“We can launch PoCs fast, but few make it past the finish line. We need a way to go from idea to production – reliably, repeatedly, and with business impact.”</a:t>
            </a:r>
          </a:p>
        </p:txBody>
      </p:sp>
      <p:sp>
        <p:nvSpPr>
          <p:cNvPr id="51" name="Rounded Rectangle 27">
            <a:extLst>
              <a:ext uri="{FF2B5EF4-FFF2-40B4-BE49-F238E27FC236}">
                <a16:creationId xmlns:a16="http://schemas.microsoft.com/office/drawing/2014/main" id="{17B02529-0588-044F-82B5-CBA71FEF0E7D}"/>
              </a:ext>
            </a:extLst>
          </p:cNvPr>
          <p:cNvSpPr/>
          <p:nvPr/>
        </p:nvSpPr>
        <p:spPr bwMode="auto">
          <a:xfrm>
            <a:off x="581024" y="6005340"/>
            <a:ext cx="11018520" cy="430933"/>
          </a:xfrm>
          <a:prstGeom prst="roundRect">
            <a:avLst>
              <a:gd name="adj" fmla="val 23300"/>
            </a:avLst>
          </a:prstGeom>
          <a:solidFill>
            <a:schemeClr val="bg2"/>
          </a:solidFill>
          <a:ln w="12700" cap="flat" cmpd="sng" algn="ctr">
            <a:noFill/>
            <a:prstDash val="solid"/>
            <a:miter lim="800000"/>
          </a:ln>
          <a:effectLst/>
        </p:spPr>
        <p:txBody>
          <a:bodyPr lIns="91440" tIns="45720" rIns="91440" bIns="45720" rtlCol="0" anchor="ctr"/>
          <a:lstStyle/>
          <a:p>
            <a:pPr algn="ctr" fontAlgn="base">
              <a:defRPr/>
            </a:pPr>
            <a:r>
              <a:rPr lang="en-US" sz="1600" b="1">
                <a:solidFill>
                  <a:schemeClr val="accent1"/>
                </a:solidFill>
              </a:rPr>
              <a:t>The problem isn’t lack of ambition or vision – it’s fragmentation, rework, and stalled execution.</a:t>
            </a:r>
            <a:endParaRPr lang="en-CA" sz="1600" b="1" kern="0">
              <a:solidFill>
                <a:schemeClr val="accent1"/>
              </a:solidFill>
              <a:latin typeface="Segoe Sans Display Semibold" pitchFamily="2" charset="0"/>
              <a:cs typeface="Segoe Sans Display Semibold" pitchFamily="2" charset="0"/>
            </a:endParaRPr>
          </a:p>
        </p:txBody>
      </p:sp>
    </p:spTree>
    <p:extLst>
      <p:ext uri="{BB962C8B-B14F-4D97-AF65-F5344CB8AC3E}">
        <p14:creationId xmlns:p14="http://schemas.microsoft.com/office/powerpoint/2010/main" val="346569613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594FB5-2655-AC7A-7461-960FBBDA3E0D}"/>
              </a:ext>
            </a:extLst>
          </p:cNvPr>
          <p:cNvSpPr>
            <a:spLocks noGrp="1"/>
          </p:cNvSpPr>
          <p:nvPr>
            <p:ph type="title"/>
          </p:nvPr>
        </p:nvSpPr>
        <p:spPr/>
        <p:txBody>
          <a:bodyPr/>
          <a:lstStyle/>
          <a:p>
            <a:r>
              <a:rPr lang="en-CH"/>
              <a:t>Customer Situation</a:t>
            </a:r>
          </a:p>
        </p:txBody>
      </p:sp>
      <p:sp>
        <p:nvSpPr>
          <p:cNvPr id="2" name="Rectangle 1">
            <a:extLst>
              <a:ext uri="{FF2B5EF4-FFF2-40B4-BE49-F238E27FC236}">
                <a16:creationId xmlns:a16="http://schemas.microsoft.com/office/drawing/2014/main" id="{6B3CE139-2A9C-23A9-1528-5788B0EBEF45}"/>
              </a:ext>
            </a:extLst>
          </p:cNvPr>
          <p:cNvSpPr/>
          <p:nvPr/>
        </p:nvSpPr>
        <p:spPr bwMode="auto">
          <a:xfrm>
            <a:off x="588263" y="1085694"/>
            <a:ext cx="10570955" cy="579646"/>
          </a:xfrm>
          <a:prstGeom prst="rect">
            <a:avLst/>
          </a:prstGeom>
          <a:noFill/>
          <a:ln w="63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b="1">
                <a:latin typeface="+mj-lt"/>
              </a:rPr>
              <a:t>AI Leaders vs. Laggards – A Growing Divide</a:t>
            </a:r>
            <a:endParaRPr lang="en-US" sz="2000">
              <a:latin typeface="+mj-lt"/>
            </a:endParaRPr>
          </a:p>
          <a:p>
            <a:pPr defTabSz="932472" fontAlgn="base">
              <a:spcBef>
                <a:spcPts val="200"/>
              </a:spcBef>
              <a:spcAft>
                <a:spcPct val="0"/>
              </a:spcAft>
            </a:pPr>
            <a:endParaRPr lang="en-US" sz="1600" kern="100">
              <a:latin typeface="+mj-lt"/>
              <a:ea typeface="Segoe UI" pitchFamily="34" charset="0"/>
              <a:cs typeface="Times New Roman" panose="02020603050405020304" pitchFamily="18" charset="0"/>
            </a:endParaRPr>
          </a:p>
        </p:txBody>
      </p:sp>
      <p:sp>
        <p:nvSpPr>
          <p:cNvPr id="50" name="TextBox 49">
            <a:extLst>
              <a:ext uri="{FF2B5EF4-FFF2-40B4-BE49-F238E27FC236}">
                <a16:creationId xmlns:a16="http://schemas.microsoft.com/office/drawing/2014/main" id="{B1ECAFD2-981D-BFBB-4C22-0E851601DB9E}"/>
              </a:ext>
            </a:extLst>
          </p:cNvPr>
          <p:cNvSpPr txBox="1"/>
          <p:nvPr/>
        </p:nvSpPr>
        <p:spPr>
          <a:xfrm>
            <a:off x="8082074" y="6578097"/>
            <a:ext cx="4355277" cy="253916"/>
          </a:xfrm>
          <a:prstGeom prst="rect">
            <a:avLst/>
          </a:prstGeom>
          <a:noFill/>
        </p:spPr>
        <p:txBody>
          <a:bodyPr wrap="square">
            <a:spAutoFit/>
          </a:bodyPr>
          <a:lstStyle/>
          <a:p>
            <a:r>
              <a:rPr lang="en-US" sz="1050">
                <a:solidFill>
                  <a:schemeClr val="dk1"/>
                </a:solidFill>
                <a:ea typeface="Roboto Mono Medium"/>
                <a:cs typeface="Roboto Mono Medium"/>
                <a:sym typeface="Roboto Mono Medium"/>
              </a:rPr>
              <a:t>Sources: </a:t>
            </a:r>
            <a:r>
              <a:rPr lang="en-US" sz="1050">
                <a:solidFill>
                  <a:schemeClr val="dk1"/>
                </a:solidFill>
                <a:ea typeface="Roboto Mono Medium"/>
                <a:cs typeface="Segoe UI" panose="020B0502040204020203" pitchFamily="34" charset="0"/>
                <a:sym typeface="Roboto Mono Medium"/>
                <a:hlinkClick r:id="rId3"/>
              </a:rPr>
              <a:t>McKinsey, 2025</a:t>
            </a:r>
            <a:r>
              <a:rPr lang="en-US" sz="1050">
                <a:solidFill>
                  <a:schemeClr val="dk1"/>
                </a:solidFill>
                <a:ea typeface="Roboto Mono Medium"/>
                <a:cs typeface="Segoe UI" panose="020B0502040204020203" pitchFamily="34" charset="0"/>
                <a:sym typeface="Roboto Mono Medium"/>
              </a:rPr>
              <a:t>, </a:t>
            </a:r>
            <a:r>
              <a:rPr lang="en-US" sz="1050">
                <a:ea typeface="Roboto Mono Medium"/>
                <a:cs typeface="Segoe UI" panose="020B0502040204020203" pitchFamily="34" charset="0"/>
                <a:sym typeface="Roboto Mono Medium"/>
                <a:hlinkClick r:id="rId4"/>
              </a:rPr>
              <a:t>BCG 2024</a:t>
            </a:r>
            <a:r>
              <a:rPr lang="en-US" sz="1050">
                <a:ea typeface="Roboto Mono Medium"/>
                <a:cs typeface="Segoe UI" panose="020B0502040204020203" pitchFamily="34" charset="0"/>
                <a:sym typeface="Roboto Mono Medium"/>
              </a:rPr>
              <a:t>, </a:t>
            </a:r>
            <a:r>
              <a:rPr lang="en-US" sz="1050">
                <a:ea typeface="Roboto Mono Medium"/>
                <a:cs typeface="Segoe UI" panose="020B0502040204020203" pitchFamily="34" charset="0"/>
                <a:sym typeface="Roboto Mono Medium"/>
                <a:hlinkClick r:id="rId5"/>
              </a:rPr>
              <a:t>Adecco 2025</a:t>
            </a:r>
            <a:r>
              <a:rPr lang="en-US" sz="1050">
                <a:ea typeface="Roboto Mono Medium"/>
                <a:cs typeface="Segoe UI" panose="020B0502040204020203" pitchFamily="34" charset="0"/>
                <a:sym typeface="Roboto Mono Medium"/>
              </a:rPr>
              <a:t>, </a:t>
            </a:r>
            <a:r>
              <a:rPr lang="en-US" sz="1050">
                <a:ea typeface="Roboto Mono Medium"/>
                <a:cs typeface="Segoe UI" panose="020B0502040204020203" pitchFamily="34" charset="0"/>
                <a:sym typeface="Roboto Mono Medium"/>
                <a:hlinkClick r:id="rId6"/>
              </a:rPr>
              <a:t>Gartner 2023</a:t>
            </a:r>
            <a:endParaRPr lang="en-US" sz="1050">
              <a:ea typeface="Roboto Mono Medium"/>
              <a:cs typeface="Roboto Mono Medium"/>
              <a:sym typeface="Roboto Mono Medium"/>
            </a:endParaRPr>
          </a:p>
        </p:txBody>
      </p:sp>
      <p:sp>
        <p:nvSpPr>
          <p:cNvPr id="51" name="Rounded Rectangle 27">
            <a:extLst>
              <a:ext uri="{FF2B5EF4-FFF2-40B4-BE49-F238E27FC236}">
                <a16:creationId xmlns:a16="http://schemas.microsoft.com/office/drawing/2014/main" id="{80E04106-E645-6FF9-A027-871E671EC9BD}"/>
              </a:ext>
            </a:extLst>
          </p:cNvPr>
          <p:cNvSpPr/>
          <p:nvPr/>
        </p:nvSpPr>
        <p:spPr bwMode="auto">
          <a:xfrm>
            <a:off x="1595411" y="5976579"/>
            <a:ext cx="9244736" cy="430933"/>
          </a:xfrm>
          <a:prstGeom prst="roundRect">
            <a:avLst>
              <a:gd name="adj" fmla="val 23300"/>
            </a:avLst>
          </a:prstGeom>
          <a:solidFill>
            <a:schemeClr val="bg2"/>
          </a:solidFill>
          <a:ln w="12700" cap="flat" cmpd="sng" algn="ctr">
            <a:noFill/>
            <a:prstDash val="solid"/>
            <a:miter lim="800000"/>
          </a:ln>
          <a:effectLst/>
        </p:spPr>
        <p:txBody>
          <a:bodyPr lIns="91440" tIns="45720" rIns="91440" bIns="45720" rtlCol="0" anchor="ctr"/>
          <a:lstStyle/>
          <a:p>
            <a:pPr algn="ctr" fontAlgn="base">
              <a:defRPr/>
            </a:pPr>
            <a:r>
              <a:rPr lang="en-US" sz="1600" b="1">
                <a:solidFill>
                  <a:schemeClr val="accent1"/>
                </a:solidFill>
              </a:rPr>
              <a:t>AI Leaders deliver results in weeks. Everyone else waits a year – and still doesn’t scale</a:t>
            </a:r>
          </a:p>
        </p:txBody>
      </p:sp>
      <p:sp>
        <p:nvSpPr>
          <p:cNvPr id="6" name="Rectangle: Rounded Corners 5">
            <a:extLst>
              <a:ext uri="{FF2B5EF4-FFF2-40B4-BE49-F238E27FC236}">
                <a16:creationId xmlns:a16="http://schemas.microsoft.com/office/drawing/2014/main" id="{1FD4F485-587A-C6F2-6EB3-D0C1A524A362}"/>
              </a:ext>
              <a:ext uri="{C183D7F6-B498-43B3-948B-1728B52AA6E4}">
                <adec:decorative xmlns:adec="http://schemas.microsoft.com/office/drawing/2017/decorative" val="1"/>
              </a:ext>
            </a:extLst>
          </p:cNvPr>
          <p:cNvSpPr/>
          <p:nvPr/>
        </p:nvSpPr>
        <p:spPr bwMode="auto">
          <a:xfrm>
            <a:off x="1595412" y="1697156"/>
            <a:ext cx="4249566" cy="4125433"/>
          </a:xfrm>
          <a:prstGeom prst="roundRect">
            <a:avLst>
              <a:gd name="adj" fmla="val 413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CA" err="1">
              <a:solidFill>
                <a:schemeClr val="tx1"/>
              </a:solidFill>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AE015282-72C4-8DCB-7859-88BEF195946F}"/>
              </a:ext>
            </a:extLst>
          </p:cNvPr>
          <p:cNvSpPr/>
          <p:nvPr/>
        </p:nvSpPr>
        <p:spPr bwMode="auto">
          <a:xfrm>
            <a:off x="1852440" y="2658630"/>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chemeClr val="accent1"/>
                </a:solidFill>
                <a:latin typeface="+mj-lt"/>
                <a:cs typeface="Times New Roman" panose="02020603050405020304" pitchFamily="18" charset="0"/>
              </a:rPr>
              <a:t>1.5x</a:t>
            </a:r>
          </a:p>
          <a:p>
            <a:pPr algn="ctr" defTabSz="932472" fontAlgn="base">
              <a:spcBef>
                <a:spcPts val="200"/>
              </a:spcBef>
              <a:spcAft>
                <a:spcPct val="0"/>
              </a:spcAft>
            </a:pPr>
            <a:r>
              <a:rPr lang="en-US" sz="1200"/>
              <a:t>Revenue Growth</a:t>
            </a:r>
          </a:p>
        </p:txBody>
      </p:sp>
      <p:sp>
        <p:nvSpPr>
          <p:cNvPr id="17" name="Rectangle: Rounded Corners 16">
            <a:extLst>
              <a:ext uri="{FF2B5EF4-FFF2-40B4-BE49-F238E27FC236}">
                <a16:creationId xmlns:a16="http://schemas.microsoft.com/office/drawing/2014/main" id="{CA44E0F4-3C57-273A-9CE5-8D08816EF5D5}"/>
              </a:ext>
            </a:extLst>
          </p:cNvPr>
          <p:cNvSpPr/>
          <p:nvPr/>
        </p:nvSpPr>
        <p:spPr bwMode="auto">
          <a:xfrm>
            <a:off x="3823401" y="2658630"/>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chemeClr val="accent1"/>
                </a:solidFill>
                <a:latin typeface="+mj-lt"/>
                <a:cs typeface="Times New Roman" panose="02020603050405020304" pitchFamily="18" charset="0"/>
              </a:rPr>
              <a:t>1.4x</a:t>
            </a:r>
          </a:p>
          <a:p>
            <a:pPr algn="ctr" defTabSz="932472" fontAlgn="base">
              <a:spcBef>
                <a:spcPts val="200"/>
              </a:spcBef>
              <a:spcAft>
                <a:spcPct val="0"/>
              </a:spcAft>
            </a:pPr>
            <a:r>
              <a:rPr lang="en-US" sz="1200"/>
              <a:t>higher return on invested capital (ROIC)</a:t>
            </a:r>
          </a:p>
        </p:txBody>
      </p:sp>
      <p:sp>
        <p:nvSpPr>
          <p:cNvPr id="14" name="Rectangle: Rounded Corners 13">
            <a:extLst>
              <a:ext uri="{FF2B5EF4-FFF2-40B4-BE49-F238E27FC236}">
                <a16:creationId xmlns:a16="http://schemas.microsoft.com/office/drawing/2014/main" id="{F1DAF1AE-0FDC-FB51-EA2A-5400A385103B}"/>
              </a:ext>
            </a:extLst>
          </p:cNvPr>
          <p:cNvSpPr/>
          <p:nvPr/>
        </p:nvSpPr>
        <p:spPr bwMode="auto">
          <a:xfrm>
            <a:off x="1852440" y="4230311"/>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chemeClr val="accent1"/>
                </a:solidFill>
                <a:latin typeface="+mj-lt"/>
                <a:cs typeface="Times New Roman" panose="02020603050405020304" pitchFamily="18" charset="0"/>
              </a:rPr>
              <a:t>3.5x</a:t>
            </a:r>
          </a:p>
          <a:p>
            <a:pPr algn="ctr" defTabSz="932472" fontAlgn="base">
              <a:spcBef>
                <a:spcPts val="200"/>
              </a:spcBef>
              <a:spcAft>
                <a:spcPct val="0"/>
              </a:spcAft>
            </a:pPr>
            <a:r>
              <a:rPr lang="en-US" sz="1200"/>
              <a:t>more likely to report significant EBIT gains</a:t>
            </a:r>
          </a:p>
        </p:txBody>
      </p:sp>
      <p:sp>
        <p:nvSpPr>
          <p:cNvPr id="12" name="Rectangle: Rounded Corners 11">
            <a:extLst>
              <a:ext uri="{FF2B5EF4-FFF2-40B4-BE49-F238E27FC236}">
                <a16:creationId xmlns:a16="http://schemas.microsoft.com/office/drawing/2014/main" id="{8E307ACA-ED95-1927-83A6-ECF2701D411B}"/>
              </a:ext>
            </a:extLst>
          </p:cNvPr>
          <p:cNvSpPr/>
          <p:nvPr/>
        </p:nvSpPr>
        <p:spPr bwMode="auto">
          <a:xfrm>
            <a:off x="3823401" y="4230311"/>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chemeClr val="accent1"/>
                </a:solidFill>
                <a:latin typeface="+mj-lt"/>
                <a:cs typeface="Times New Roman" panose="02020603050405020304" pitchFamily="18" charset="0"/>
              </a:rPr>
              <a:t>12 weeks</a:t>
            </a:r>
          </a:p>
          <a:p>
            <a:pPr algn="ctr"/>
            <a:r>
              <a:rPr lang="en-US" sz="1200"/>
              <a:t>MVPs live in &lt;12 weeks with 30–80% productivity</a:t>
            </a:r>
          </a:p>
        </p:txBody>
      </p:sp>
      <p:sp>
        <p:nvSpPr>
          <p:cNvPr id="19" name="Rounded Rectangle 27">
            <a:extLst>
              <a:ext uri="{FF2B5EF4-FFF2-40B4-BE49-F238E27FC236}">
                <a16:creationId xmlns:a16="http://schemas.microsoft.com/office/drawing/2014/main" id="{B40CC446-54AE-004C-113C-91044B0FCDE5}"/>
              </a:ext>
            </a:extLst>
          </p:cNvPr>
          <p:cNvSpPr/>
          <p:nvPr/>
        </p:nvSpPr>
        <p:spPr bwMode="auto">
          <a:xfrm>
            <a:off x="2455263" y="1808133"/>
            <a:ext cx="3132688" cy="640080"/>
          </a:xfrm>
          <a:prstGeom prst="roundRect">
            <a:avLst>
              <a:gd name="adj" fmla="val 23300"/>
            </a:avLst>
          </a:prstGeom>
          <a:solidFill>
            <a:schemeClr val="accent1"/>
          </a:solidFill>
          <a:ln w="12700" cap="flat" cmpd="sng" algn="ctr">
            <a:noFill/>
            <a:prstDash val="solid"/>
            <a:miter lim="800000"/>
          </a:ln>
          <a:effectLst/>
        </p:spPr>
        <p:txBody>
          <a:bodyPr lIns="146304" rtlCol="0" anchor="ctr"/>
          <a:lstStyle/>
          <a:p>
            <a:pPr fontAlgn="base">
              <a:defRPr/>
            </a:pPr>
            <a:r>
              <a:rPr lang="en-US" sz="1600" kern="0">
                <a:solidFill>
                  <a:srgbClr val="FFFFFF"/>
                </a:solidFill>
                <a:latin typeface="Segoe Sans Display Semibold" pitchFamily="2" charset="0"/>
                <a:cs typeface="Segoe Sans Display Semibold" pitchFamily="2" charset="0"/>
              </a:rPr>
              <a:t>While AI leaders are </a:t>
            </a:r>
            <a:br>
              <a:rPr lang="en-US" sz="1600" kern="0">
                <a:solidFill>
                  <a:srgbClr val="FFFFFF"/>
                </a:solidFill>
                <a:latin typeface="Segoe Sans Display Semibold" pitchFamily="2" charset="0"/>
                <a:cs typeface="Segoe Sans Display Semibold" pitchFamily="2" charset="0"/>
              </a:rPr>
            </a:br>
            <a:r>
              <a:rPr lang="en-US" sz="1600" kern="0">
                <a:solidFill>
                  <a:srgbClr val="FFFFFF"/>
                </a:solidFill>
                <a:latin typeface="Segoe Sans Display Semibold" pitchFamily="2" charset="0"/>
                <a:cs typeface="Segoe Sans Display Semibold" pitchFamily="2" charset="0"/>
              </a:rPr>
              <a:t>capturing </a:t>
            </a:r>
            <a:r>
              <a:rPr lang="en-US" sz="1600" b="1" kern="0">
                <a:solidFill>
                  <a:srgbClr val="FFFFFF"/>
                </a:solidFill>
                <a:cs typeface="Segoe Sans Display Semibold" pitchFamily="2" charset="0"/>
              </a:rPr>
              <a:t>real value</a:t>
            </a:r>
            <a:r>
              <a:rPr lang="en-US" sz="1600" kern="0">
                <a:solidFill>
                  <a:srgbClr val="FFFFFF"/>
                </a:solidFill>
                <a:latin typeface="Segoe Sans Display Semibold" pitchFamily="2" charset="0"/>
                <a:cs typeface="Segoe Sans Display Semibold" pitchFamily="2" charset="0"/>
              </a:rPr>
              <a:t>…</a:t>
            </a:r>
          </a:p>
        </p:txBody>
      </p:sp>
      <p:sp>
        <p:nvSpPr>
          <p:cNvPr id="25" name="Rectangle: Rounded Corners 24">
            <a:extLst>
              <a:ext uri="{FF2B5EF4-FFF2-40B4-BE49-F238E27FC236}">
                <a16:creationId xmlns:a16="http://schemas.microsoft.com/office/drawing/2014/main" id="{9DFF5560-BBA9-FBC0-EFE4-1F74E68D8269}"/>
              </a:ext>
              <a:ext uri="{C183D7F6-B498-43B3-948B-1728B52AA6E4}">
                <adec:decorative xmlns:adec="http://schemas.microsoft.com/office/drawing/2017/decorative" val="1"/>
              </a:ext>
            </a:extLst>
          </p:cNvPr>
          <p:cNvSpPr/>
          <p:nvPr/>
        </p:nvSpPr>
        <p:spPr bwMode="auto">
          <a:xfrm>
            <a:off x="6347022" y="1697156"/>
            <a:ext cx="4249566" cy="4125433"/>
          </a:xfrm>
          <a:prstGeom prst="roundRect">
            <a:avLst>
              <a:gd name="adj" fmla="val 413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CA" err="1">
              <a:solidFill>
                <a:schemeClr val="tx1"/>
              </a:solidFill>
              <a:ea typeface="Segoe UI" pitchFamily="34" charset="0"/>
              <a:cs typeface="Segoe UI" pitchFamily="34" charset="0"/>
            </a:endParaRPr>
          </a:p>
        </p:txBody>
      </p:sp>
      <p:sp>
        <p:nvSpPr>
          <p:cNvPr id="26" name="Rectangle: Rounded Corners 25">
            <a:extLst>
              <a:ext uri="{FF2B5EF4-FFF2-40B4-BE49-F238E27FC236}">
                <a16:creationId xmlns:a16="http://schemas.microsoft.com/office/drawing/2014/main" id="{08564191-691A-0EC8-4A7E-1E83D746F66A}"/>
              </a:ext>
            </a:extLst>
          </p:cNvPr>
          <p:cNvSpPr/>
          <p:nvPr/>
        </p:nvSpPr>
        <p:spPr bwMode="auto">
          <a:xfrm>
            <a:off x="6604050" y="2658630"/>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rgbClr val="F4364C"/>
                </a:solidFill>
                <a:latin typeface="+mj-lt"/>
                <a:cs typeface="Times New Roman" panose="02020603050405020304" pitchFamily="18" charset="0"/>
              </a:rPr>
              <a:t>28%</a:t>
            </a:r>
          </a:p>
          <a:p>
            <a:pPr algn="ctr" defTabSz="932472" fontAlgn="base">
              <a:spcBef>
                <a:spcPts val="200"/>
              </a:spcBef>
              <a:spcAft>
                <a:spcPct val="0"/>
              </a:spcAft>
            </a:pPr>
            <a:r>
              <a:rPr lang="en-US" sz="1200"/>
              <a:t>Only 28% of companies have deployed AI at scale</a:t>
            </a:r>
          </a:p>
        </p:txBody>
      </p:sp>
      <p:sp>
        <p:nvSpPr>
          <p:cNvPr id="27" name="Rectangle: Rounded Corners 26">
            <a:extLst>
              <a:ext uri="{FF2B5EF4-FFF2-40B4-BE49-F238E27FC236}">
                <a16:creationId xmlns:a16="http://schemas.microsoft.com/office/drawing/2014/main" id="{48366349-06CF-3C57-4092-A4311D052C2E}"/>
              </a:ext>
            </a:extLst>
          </p:cNvPr>
          <p:cNvSpPr/>
          <p:nvPr/>
        </p:nvSpPr>
        <p:spPr bwMode="auto">
          <a:xfrm>
            <a:off x="8575012" y="2658630"/>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rgbClr val="F4364C"/>
                </a:solidFill>
                <a:latin typeface="+mj-lt"/>
                <a:cs typeface="Times New Roman" panose="02020603050405020304" pitchFamily="18" charset="0"/>
              </a:rPr>
              <a:t>31%</a:t>
            </a:r>
          </a:p>
          <a:p>
            <a:pPr algn="ctr" defTabSz="932472" fontAlgn="base">
              <a:spcBef>
                <a:spcPts val="200"/>
              </a:spcBef>
              <a:spcAft>
                <a:spcPct val="0"/>
              </a:spcAft>
            </a:pPr>
            <a:r>
              <a:rPr lang="en-US" sz="1200"/>
              <a:t>of AI projects remain stuck at PoC stage</a:t>
            </a:r>
          </a:p>
        </p:txBody>
      </p:sp>
      <p:sp>
        <p:nvSpPr>
          <p:cNvPr id="28" name="Rectangle: Rounded Corners 27">
            <a:extLst>
              <a:ext uri="{FF2B5EF4-FFF2-40B4-BE49-F238E27FC236}">
                <a16:creationId xmlns:a16="http://schemas.microsoft.com/office/drawing/2014/main" id="{4075A26D-3287-0398-9CAB-D1506BB23628}"/>
              </a:ext>
            </a:extLst>
          </p:cNvPr>
          <p:cNvSpPr/>
          <p:nvPr/>
        </p:nvSpPr>
        <p:spPr bwMode="auto">
          <a:xfrm>
            <a:off x="6604050" y="4230311"/>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rgbClr val="F4364C"/>
                </a:solidFill>
                <a:latin typeface="+mj-lt"/>
                <a:cs typeface="Times New Roman" panose="02020603050405020304" pitchFamily="18" charset="0"/>
              </a:rPr>
              <a:t>10%</a:t>
            </a:r>
          </a:p>
          <a:p>
            <a:pPr algn="ctr"/>
            <a:r>
              <a:rPr lang="en-US" sz="1200"/>
              <a:t>Fewer than 10% of companies see meaningful EBITDA gains</a:t>
            </a:r>
          </a:p>
        </p:txBody>
      </p:sp>
      <p:sp>
        <p:nvSpPr>
          <p:cNvPr id="32" name="Rectangle: Rounded Corners 31">
            <a:extLst>
              <a:ext uri="{FF2B5EF4-FFF2-40B4-BE49-F238E27FC236}">
                <a16:creationId xmlns:a16="http://schemas.microsoft.com/office/drawing/2014/main" id="{B317276F-F04D-D367-1C6C-E7F26FB60E9C}"/>
              </a:ext>
            </a:extLst>
          </p:cNvPr>
          <p:cNvSpPr/>
          <p:nvPr/>
        </p:nvSpPr>
        <p:spPr bwMode="auto">
          <a:xfrm>
            <a:off x="8575012" y="4230311"/>
            <a:ext cx="1764550" cy="1404420"/>
          </a:xfrm>
          <a:prstGeom prst="roundRect">
            <a:avLst>
              <a:gd name="adj" fmla="val 9236"/>
            </a:avLst>
          </a:prstGeom>
          <a:solidFill>
            <a:srgbClr val="FFFFFF"/>
          </a:solidFill>
          <a:ln w="3175" cap="flat" cmpd="sng" algn="ctr">
            <a:solidFill>
              <a:srgbClr val="F2F2F2"/>
            </a:solidFill>
            <a:prstDash val="solid"/>
            <a:miter lim="800000"/>
            <a:headEnd type="none" w="med" len="med"/>
            <a:tailEnd type="none" w="med" len="me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p>
            <a:pPr algn="ctr" defTabSz="932472" fontAlgn="base">
              <a:spcBef>
                <a:spcPts val="200"/>
              </a:spcBef>
              <a:spcAft>
                <a:spcPct val="0"/>
              </a:spcAft>
            </a:pPr>
            <a:r>
              <a:rPr lang="en-US" sz="2400" kern="100">
                <a:solidFill>
                  <a:srgbClr val="F4364C"/>
                </a:solidFill>
                <a:latin typeface="+mj-lt"/>
                <a:cs typeface="Times New Roman" panose="02020603050405020304" pitchFamily="18" charset="0"/>
              </a:rPr>
              <a:t>12 </a:t>
            </a:r>
            <a:r>
              <a:rPr lang="en-US" sz="2000" kern="100">
                <a:solidFill>
                  <a:srgbClr val="F4364C"/>
                </a:solidFill>
                <a:latin typeface="+mj-lt"/>
                <a:cs typeface="Times New Roman" panose="02020603050405020304" pitchFamily="18" charset="0"/>
              </a:rPr>
              <a:t>months</a:t>
            </a:r>
            <a:r>
              <a:rPr lang="en-US" sz="2400" kern="100">
                <a:solidFill>
                  <a:srgbClr val="F4364C"/>
                </a:solidFill>
                <a:latin typeface="+mj-lt"/>
                <a:cs typeface="Times New Roman" panose="02020603050405020304" pitchFamily="18" charset="0"/>
              </a:rPr>
              <a:t> </a:t>
            </a:r>
          </a:p>
          <a:p>
            <a:pPr algn="ctr"/>
            <a:r>
              <a:rPr lang="en-US" sz="1200"/>
              <a:t>AI deployments often take 12+ months to show value</a:t>
            </a:r>
          </a:p>
        </p:txBody>
      </p:sp>
      <p:sp>
        <p:nvSpPr>
          <p:cNvPr id="34" name="Rounded Rectangle 27">
            <a:extLst>
              <a:ext uri="{FF2B5EF4-FFF2-40B4-BE49-F238E27FC236}">
                <a16:creationId xmlns:a16="http://schemas.microsoft.com/office/drawing/2014/main" id="{508062F3-1E0A-FE6B-F5D6-08A7DCFAADD2}"/>
              </a:ext>
            </a:extLst>
          </p:cNvPr>
          <p:cNvSpPr/>
          <p:nvPr/>
        </p:nvSpPr>
        <p:spPr bwMode="auto">
          <a:xfrm>
            <a:off x="7321224" y="1808133"/>
            <a:ext cx="3018338" cy="640080"/>
          </a:xfrm>
          <a:prstGeom prst="roundRect">
            <a:avLst>
              <a:gd name="adj" fmla="val 23300"/>
            </a:avLst>
          </a:prstGeom>
          <a:solidFill>
            <a:srgbClr val="FFB3BB"/>
          </a:solidFill>
          <a:ln w="12700" cap="flat" cmpd="sng" algn="ctr">
            <a:noFill/>
            <a:prstDash val="solid"/>
            <a:miter lim="800000"/>
          </a:ln>
          <a:effectLst/>
        </p:spPr>
        <p:txBody>
          <a:bodyPr lIns="146304" rtlCol="0" anchor="ctr"/>
          <a:lstStyle/>
          <a:p>
            <a:r>
              <a:rPr lang="en-US" sz="1600" b="1">
                <a:latin typeface="+mj-lt"/>
              </a:rPr>
              <a:t>…Most enterprises </a:t>
            </a:r>
            <a:br>
              <a:rPr lang="en-US" sz="1600" b="1">
                <a:latin typeface="+mj-lt"/>
              </a:rPr>
            </a:br>
            <a:r>
              <a:rPr lang="en-US" sz="1600" b="1">
                <a:latin typeface="+mj-lt"/>
              </a:rPr>
              <a:t>are </a:t>
            </a:r>
            <a:r>
              <a:rPr lang="en-US" sz="1600" b="1" kern="0">
                <a:cs typeface="Segoe Sans Display Semibold" pitchFamily="2" charset="0"/>
              </a:rPr>
              <a:t>falling behind</a:t>
            </a:r>
          </a:p>
        </p:txBody>
      </p:sp>
      <p:sp>
        <p:nvSpPr>
          <p:cNvPr id="57" name="Graphic 52">
            <a:extLst>
              <a:ext uri="{FF2B5EF4-FFF2-40B4-BE49-F238E27FC236}">
                <a16:creationId xmlns:a16="http://schemas.microsoft.com/office/drawing/2014/main" id="{B07910F6-53FE-1F01-AA70-8EEB8E7B9B5A}"/>
              </a:ext>
              <a:ext uri="{C183D7F6-B498-43B3-948B-1728B52AA6E4}">
                <adec:decorative xmlns:adec="http://schemas.microsoft.com/office/drawing/2017/decorative" val="1"/>
              </a:ext>
            </a:extLst>
          </p:cNvPr>
          <p:cNvSpPr/>
          <p:nvPr/>
        </p:nvSpPr>
        <p:spPr>
          <a:xfrm>
            <a:off x="6691830" y="1881889"/>
            <a:ext cx="394054" cy="492568"/>
          </a:xfrm>
          <a:custGeom>
            <a:avLst/>
            <a:gdLst>
              <a:gd name="connsiteX0" fmla="*/ 55414 w 394054"/>
              <a:gd name="connsiteY0" fmla="*/ 36943 h 492568"/>
              <a:gd name="connsiteX1" fmla="*/ 36943 w 394054"/>
              <a:gd name="connsiteY1" fmla="*/ 55414 h 492568"/>
              <a:gd name="connsiteX2" fmla="*/ 36943 w 394054"/>
              <a:gd name="connsiteY2" fmla="*/ 455626 h 492568"/>
              <a:gd name="connsiteX3" fmla="*/ 86199 w 394054"/>
              <a:gd name="connsiteY3" fmla="*/ 455626 h 492568"/>
              <a:gd name="connsiteX4" fmla="*/ 86199 w 394054"/>
              <a:gd name="connsiteY4" fmla="*/ 387898 h 492568"/>
              <a:gd name="connsiteX5" fmla="*/ 116985 w 394054"/>
              <a:gd name="connsiteY5" fmla="*/ 357112 h 492568"/>
              <a:gd name="connsiteX6" fmla="*/ 277070 w 394054"/>
              <a:gd name="connsiteY6" fmla="*/ 357112 h 492568"/>
              <a:gd name="connsiteX7" fmla="*/ 307855 w 394054"/>
              <a:gd name="connsiteY7" fmla="*/ 387898 h 492568"/>
              <a:gd name="connsiteX8" fmla="*/ 307855 w 394054"/>
              <a:gd name="connsiteY8" fmla="*/ 455626 h 492568"/>
              <a:gd name="connsiteX9" fmla="*/ 357112 w 394054"/>
              <a:gd name="connsiteY9" fmla="*/ 455626 h 492568"/>
              <a:gd name="connsiteX10" fmla="*/ 357112 w 394054"/>
              <a:gd name="connsiteY10" fmla="*/ 240127 h 492568"/>
              <a:gd name="connsiteX11" fmla="*/ 338641 w 394054"/>
              <a:gd name="connsiteY11" fmla="*/ 221656 h 492568"/>
              <a:gd name="connsiteX12" fmla="*/ 289384 w 394054"/>
              <a:gd name="connsiteY12" fmla="*/ 221656 h 492568"/>
              <a:gd name="connsiteX13" fmla="*/ 270913 w 394054"/>
              <a:gd name="connsiteY13" fmla="*/ 203184 h 492568"/>
              <a:gd name="connsiteX14" fmla="*/ 270913 w 394054"/>
              <a:gd name="connsiteY14" fmla="*/ 55414 h 492568"/>
              <a:gd name="connsiteX15" fmla="*/ 252441 w 394054"/>
              <a:gd name="connsiteY15" fmla="*/ 36943 h 492568"/>
              <a:gd name="connsiteX16" fmla="*/ 55414 w 394054"/>
              <a:gd name="connsiteY16" fmla="*/ 36943 h 492568"/>
              <a:gd name="connsiteX17" fmla="*/ 123142 w 394054"/>
              <a:gd name="connsiteY17" fmla="*/ 394055 h 492568"/>
              <a:gd name="connsiteX18" fmla="*/ 123142 w 394054"/>
              <a:gd name="connsiteY18" fmla="*/ 455626 h 492568"/>
              <a:gd name="connsiteX19" fmla="*/ 178556 w 394054"/>
              <a:gd name="connsiteY19" fmla="*/ 455626 h 492568"/>
              <a:gd name="connsiteX20" fmla="*/ 178556 w 394054"/>
              <a:gd name="connsiteY20" fmla="*/ 394055 h 492568"/>
              <a:gd name="connsiteX21" fmla="*/ 123142 w 394054"/>
              <a:gd name="connsiteY21" fmla="*/ 394055 h 492568"/>
              <a:gd name="connsiteX22" fmla="*/ 215499 w 394054"/>
              <a:gd name="connsiteY22" fmla="*/ 394055 h 492568"/>
              <a:gd name="connsiteX23" fmla="*/ 215499 w 394054"/>
              <a:gd name="connsiteY23" fmla="*/ 455626 h 492568"/>
              <a:gd name="connsiteX24" fmla="*/ 270913 w 394054"/>
              <a:gd name="connsiteY24" fmla="*/ 455626 h 492568"/>
              <a:gd name="connsiteX25" fmla="*/ 270913 w 394054"/>
              <a:gd name="connsiteY25" fmla="*/ 394055 h 492568"/>
              <a:gd name="connsiteX26" fmla="*/ 215499 w 394054"/>
              <a:gd name="connsiteY26" fmla="*/ 394055 h 492568"/>
              <a:gd name="connsiteX27" fmla="*/ 375583 w 394054"/>
              <a:gd name="connsiteY27" fmla="*/ 492568 h 492568"/>
              <a:gd name="connsiteX28" fmla="*/ 18471 w 394054"/>
              <a:gd name="connsiteY28" fmla="*/ 492568 h 492568"/>
              <a:gd name="connsiteX29" fmla="*/ 0 w 394054"/>
              <a:gd name="connsiteY29" fmla="*/ 474097 h 492568"/>
              <a:gd name="connsiteX30" fmla="*/ 0 w 394054"/>
              <a:gd name="connsiteY30" fmla="*/ 55414 h 492568"/>
              <a:gd name="connsiteX31" fmla="*/ 55414 w 394054"/>
              <a:gd name="connsiteY31" fmla="*/ 0 h 492568"/>
              <a:gd name="connsiteX32" fmla="*/ 252441 w 394054"/>
              <a:gd name="connsiteY32" fmla="*/ 0 h 492568"/>
              <a:gd name="connsiteX33" fmla="*/ 307855 w 394054"/>
              <a:gd name="connsiteY33" fmla="*/ 55414 h 492568"/>
              <a:gd name="connsiteX34" fmla="*/ 307855 w 394054"/>
              <a:gd name="connsiteY34" fmla="*/ 184713 h 492568"/>
              <a:gd name="connsiteX35" fmla="*/ 338641 w 394054"/>
              <a:gd name="connsiteY35" fmla="*/ 184713 h 492568"/>
              <a:gd name="connsiteX36" fmla="*/ 394055 w 394054"/>
              <a:gd name="connsiteY36" fmla="*/ 240127 h 492568"/>
              <a:gd name="connsiteX37" fmla="*/ 394055 w 394054"/>
              <a:gd name="connsiteY37" fmla="*/ 474097 h 492568"/>
              <a:gd name="connsiteX38" fmla="*/ 375583 w 394054"/>
              <a:gd name="connsiteY38" fmla="*/ 492568 h 492568"/>
              <a:gd name="connsiteX39" fmla="*/ 86199 w 394054"/>
              <a:gd name="connsiteY39" fmla="*/ 110828 h 492568"/>
              <a:gd name="connsiteX40" fmla="*/ 110828 w 394054"/>
              <a:gd name="connsiteY40" fmla="*/ 86199 h 492568"/>
              <a:gd name="connsiteX41" fmla="*/ 135456 w 394054"/>
              <a:gd name="connsiteY41" fmla="*/ 110828 h 492568"/>
              <a:gd name="connsiteX42" fmla="*/ 110828 w 394054"/>
              <a:gd name="connsiteY42" fmla="*/ 135456 h 492568"/>
              <a:gd name="connsiteX43" fmla="*/ 86199 w 394054"/>
              <a:gd name="connsiteY43" fmla="*/ 110828 h 492568"/>
              <a:gd name="connsiteX44" fmla="*/ 110828 w 394054"/>
              <a:gd name="connsiteY44" fmla="*/ 258598 h 492568"/>
              <a:gd name="connsiteX45" fmla="*/ 86199 w 394054"/>
              <a:gd name="connsiteY45" fmla="*/ 283227 h 492568"/>
              <a:gd name="connsiteX46" fmla="*/ 110828 w 394054"/>
              <a:gd name="connsiteY46" fmla="*/ 307855 h 492568"/>
              <a:gd name="connsiteX47" fmla="*/ 135456 w 394054"/>
              <a:gd name="connsiteY47" fmla="*/ 283227 h 492568"/>
              <a:gd name="connsiteX48" fmla="*/ 110828 w 394054"/>
              <a:gd name="connsiteY48" fmla="*/ 258598 h 492568"/>
              <a:gd name="connsiteX49" fmla="*/ 110828 w 394054"/>
              <a:gd name="connsiteY49" fmla="*/ 172399 h 492568"/>
              <a:gd name="connsiteX50" fmla="*/ 86199 w 394054"/>
              <a:gd name="connsiteY50" fmla="*/ 197027 h 492568"/>
              <a:gd name="connsiteX51" fmla="*/ 110828 w 394054"/>
              <a:gd name="connsiteY51" fmla="*/ 221656 h 492568"/>
              <a:gd name="connsiteX52" fmla="*/ 135456 w 394054"/>
              <a:gd name="connsiteY52" fmla="*/ 197027 h 492568"/>
              <a:gd name="connsiteX53" fmla="*/ 110828 w 394054"/>
              <a:gd name="connsiteY53" fmla="*/ 172399 h 492568"/>
              <a:gd name="connsiteX54" fmla="*/ 197027 w 394054"/>
              <a:gd name="connsiteY54" fmla="*/ 86199 h 492568"/>
              <a:gd name="connsiteX55" fmla="*/ 172399 w 394054"/>
              <a:gd name="connsiteY55" fmla="*/ 110828 h 492568"/>
              <a:gd name="connsiteX56" fmla="*/ 197027 w 394054"/>
              <a:gd name="connsiteY56" fmla="*/ 135456 h 492568"/>
              <a:gd name="connsiteX57" fmla="*/ 221656 w 394054"/>
              <a:gd name="connsiteY57" fmla="*/ 110828 h 492568"/>
              <a:gd name="connsiteX58" fmla="*/ 197027 w 394054"/>
              <a:gd name="connsiteY58" fmla="*/ 86199 h 492568"/>
              <a:gd name="connsiteX59" fmla="*/ 197027 w 394054"/>
              <a:gd name="connsiteY59" fmla="*/ 258598 h 492568"/>
              <a:gd name="connsiteX60" fmla="*/ 172399 w 394054"/>
              <a:gd name="connsiteY60" fmla="*/ 283227 h 492568"/>
              <a:gd name="connsiteX61" fmla="*/ 197027 w 394054"/>
              <a:gd name="connsiteY61" fmla="*/ 307855 h 492568"/>
              <a:gd name="connsiteX62" fmla="*/ 221656 w 394054"/>
              <a:gd name="connsiteY62" fmla="*/ 283227 h 492568"/>
              <a:gd name="connsiteX63" fmla="*/ 197027 w 394054"/>
              <a:gd name="connsiteY63" fmla="*/ 258598 h 492568"/>
              <a:gd name="connsiteX64" fmla="*/ 283227 w 394054"/>
              <a:gd name="connsiteY64" fmla="*/ 258598 h 492568"/>
              <a:gd name="connsiteX65" fmla="*/ 258598 w 394054"/>
              <a:gd name="connsiteY65" fmla="*/ 283227 h 492568"/>
              <a:gd name="connsiteX66" fmla="*/ 283227 w 394054"/>
              <a:gd name="connsiteY66" fmla="*/ 307855 h 492568"/>
              <a:gd name="connsiteX67" fmla="*/ 307855 w 394054"/>
              <a:gd name="connsiteY67" fmla="*/ 283227 h 492568"/>
              <a:gd name="connsiteX68" fmla="*/ 283227 w 394054"/>
              <a:gd name="connsiteY68" fmla="*/ 258598 h 492568"/>
              <a:gd name="connsiteX69" fmla="*/ 197027 w 394054"/>
              <a:gd name="connsiteY69" fmla="*/ 172399 h 492568"/>
              <a:gd name="connsiteX70" fmla="*/ 172399 w 394054"/>
              <a:gd name="connsiteY70" fmla="*/ 197027 h 492568"/>
              <a:gd name="connsiteX71" fmla="*/ 197027 w 394054"/>
              <a:gd name="connsiteY71" fmla="*/ 221656 h 492568"/>
              <a:gd name="connsiteX72" fmla="*/ 221656 w 394054"/>
              <a:gd name="connsiteY72" fmla="*/ 197027 h 492568"/>
              <a:gd name="connsiteX73" fmla="*/ 197027 w 394054"/>
              <a:gd name="connsiteY73" fmla="*/ 172399 h 492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94054" h="492568">
                <a:moveTo>
                  <a:pt x="55414" y="36943"/>
                </a:moveTo>
                <a:cubicBezTo>
                  <a:pt x="45213" y="36943"/>
                  <a:pt x="36943" y="45213"/>
                  <a:pt x="36943" y="55414"/>
                </a:cubicBezTo>
                <a:lnTo>
                  <a:pt x="36943" y="455626"/>
                </a:lnTo>
                <a:lnTo>
                  <a:pt x="86199" y="455626"/>
                </a:lnTo>
                <a:lnTo>
                  <a:pt x="86199" y="387898"/>
                </a:lnTo>
                <a:cubicBezTo>
                  <a:pt x="86199" y="370894"/>
                  <a:pt x="99983" y="357112"/>
                  <a:pt x="116985" y="357112"/>
                </a:cubicBezTo>
                <a:lnTo>
                  <a:pt x="277070" y="357112"/>
                </a:lnTo>
                <a:cubicBezTo>
                  <a:pt x="294073" y="357112"/>
                  <a:pt x="307855" y="370894"/>
                  <a:pt x="307855" y="387898"/>
                </a:cubicBezTo>
                <a:lnTo>
                  <a:pt x="307855" y="455626"/>
                </a:lnTo>
                <a:lnTo>
                  <a:pt x="357112" y="455626"/>
                </a:lnTo>
                <a:lnTo>
                  <a:pt x="357112" y="240127"/>
                </a:lnTo>
                <a:cubicBezTo>
                  <a:pt x="357112" y="229926"/>
                  <a:pt x="348842" y="221656"/>
                  <a:pt x="338641" y="221656"/>
                </a:cubicBezTo>
                <a:lnTo>
                  <a:pt x="289384" y="221656"/>
                </a:lnTo>
                <a:cubicBezTo>
                  <a:pt x="279183" y="221656"/>
                  <a:pt x="270913" y="213386"/>
                  <a:pt x="270913" y="203184"/>
                </a:cubicBezTo>
                <a:lnTo>
                  <a:pt x="270913" y="55414"/>
                </a:lnTo>
                <a:cubicBezTo>
                  <a:pt x="270913" y="45213"/>
                  <a:pt x="262642" y="36943"/>
                  <a:pt x="252441" y="36943"/>
                </a:cubicBezTo>
                <a:lnTo>
                  <a:pt x="55414" y="36943"/>
                </a:lnTo>
                <a:close/>
                <a:moveTo>
                  <a:pt x="123142" y="394055"/>
                </a:moveTo>
                <a:lnTo>
                  <a:pt x="123142" y="455626"/>
                </a:lnTo>
                <a:lnTo>
                  <a:pt x="178556" y="455626"/>
                </a:lnTo>
                <a:lnTo>
                  <a:pt x="178556" y="394055"/>
                </a:lnTo>
                <a:lnTo>
                  <a:pt x="123142" y="394055"/>
                </a:lnTo>
                <a:close/>
                <a:moveTo>
                  <a:pt x="215499" y="394055"/>
                </a:moveTo>
                <a:lnTo>
                  <a:pt x="215499" y="455626"/>
                </a:lnTo>
                <a:lnTo>
                  <a:pt x="270913" y="455626"/>
                </a:lnTo>
                <a:lnTo>
                  <a:pt x="270913" y="394055"/>
                </a:lnTo>
                <a:lnTo>
                  <a:pt x="215499" y="394055"/>
                </a:lnTo>
                <a:close/>
                <a:moveTo>
                  <a:pt x="375583" y="492568"/>
                </a:moveTo>
                <a:lnTo>
                  <a:pt x="18471" y="492568"/>
                </a:lnTo>
                <a:cubicBezTo>
                  <a:pt x="8270" y="492568"/>
                  <a:pt x="0" y="484298"/>
                  <a:pt x="0" y="474097"/>
                </a:cubicBezTo>
                <a:lnTo>
                  <a:pt x="0" y="55414"/>
                </a:lnTo>
                <a:cubicBezTo>
                  <a:pt x="0" y="24810"/>
                  <a:pt x="24810" y="0"/>
                  <a:pt x="55414" y="0"/>
                </a:cubicBezTo>
                <a:lnTo>
                  <a:pt x="252441" y="0"/>
                </a:lnTo>
                <a:cubicBezTo>
                  <a:pt x="283045" y="0"/>
                  <a:pt x="307855" y="24810"/>
                  <a:pt x="307855" y="55414"/>
                </a:cubicBezTo>
                <a:lnTo>
                  <a:pt x="307855" y="184713"/>
                </a:lnTo>
                <a:lnTo>
                  <a:pt x="338641" y="184713"/>
                </a:lnTo>
                <a:cubicBezTo>
                  <a:pt x="369244" y="184713"/>
                  <a:pt x="394055" y="209524"/>
                  <a:pt x="394055" y="240127"/>
                </a:cubicBezTo>
                <a:lnTo>
                  <a:pt x="394055" y="474097"/>
                </a:lnTo>
                <a:cubicBezTo>
                  <a:pt x="394055" y="484298"/>
                  <a:pt x="385784" y="492568"/>
                  <a:pt x="375583" y="492568"/>
                </a:cubicBezTo>
                <a:close/>
                <a:moveTo>
                  <a:pt x="86199" y="110828"/>
                </a:moveTo>
                <a:cubicBezTo>
                  <a:pt x="86199" y="97226"/>
                  <a:pt x="97226" y="86199"/>
                  <a:pt x="110828" y="86199"/>
                </a:cubicBezTo>
                <a:cubicBezTo>
                  <a:pt x="124430" y="86199"/>
                  <a:pt x="135456" y="97226"/>
                  <a:pt x="135456" y="110828"/>
                </a:cubicBezTo>
                <a:cubicBezTo>
                  <a:pt x="135456" y="124430"/>
                  <a:pt x="124430" y="135456"/>
                  <a:pt x="110828" y="135456"/>
                </a:cubicBezTo>
                <a:cubicBezTo>
                  <a:pt x="97226" y="135456"/>
                  <a:pt x="86199" y="124430"/>
                  <a:pt x="86199" y="110828"/>
                </a:cubicBezTo>
                <a:close/>
                <a:moveTo>
                  <a:pt x="110828" y="258598"/>
                </a:moveTo>
                <a:cubicBezTo>
                  <a:pt x="97226" y="258598"/>
                  <a:pt x="86199" y="269625"/>
                  <a:pt x="86199" y="283227"/>
                </a:cubicBezTo>
                <a:cubicBezTo>
                  <a:pt x="86199" y="296829"/>
                  <a:pt x="97226" y="307855"/>
                  <a:pt x="110828" y="307855"/>
                </a:cubicBezTo>
                <a:cubicBezTo>
                  <a:pt x="124430" y="307855"/>
                  <a:pt x="135456" y="296829"/>
                  <a:pt x="135456" y="283227"/>
                </a:cubicBezTo>
                <a:cubicBezTo>
                  <a:pt x="135456" y="269625"/>
                  <a:pt x="124430" y="258598"/>
                  <a:pt x="110828" y="258598"/>
                </a:cubicBezTo>
                <a:close/>
                <a:moveTo>
                  <a:pt x="110828" y="172399"/>
                </a:moveTo>
                <a:cubicBezTo>
                  <a:pt x="97226" y="172399"/>
                  <a:pt x="86199" y="183425"/>
                  <a:pt x="86199" y="197027"/>
                </a:cubicBezTo>
                <a:cubicBezTo>
                  <a:pt x="86199" y="210630"/>
                  <a:pt x="97226" y="221656"/>
                  <a:pt x="110828" y="221656"/>
                </a:cubicBezTo>
                <a:cubicBezTo>
                  <a:pt x="124430" y="221656"/>
                  <a:pt x="135456" y="210630"/>
                  <a:pt x="135456" y="197027"/>
                </a:cubicBezTo>
                <a:cubicBezTo>
                  <a:pt x="135456" y="183425"/>
                  <a:pt x="124430" y="172399"/>
                  <a:pt x="110828" y="172399"/>
                </a:cubicBezTo>
                <a:close/>
                <a:moveTo>
                  <a:pt x="197027" y="86199"/>
                </a:moveTo>
                <a:cubicBezTo>
                  <a:pt x="183425" y="86199"/>
                  <a:pt x="172399" y="97226"/>
                  <a:pt x="172399" y="110828"/>
                </a:cubicBezTo>
                <a:cubicBezTo>
                  <a:pt x="172399" y="124430"/>
                  <a:pt x="183425" y="135456"/>
                  <a:pt x="197027" y="135456"/>
                </a:cubicBezTo>
                <a:cubicBezTo>
                  <a:pt x="210630" y="135456"/>
                  <a:pt x="221656" y="124430"/>
                  <a:pt x="221656" y="110828"/>
                </a:cubicBezTo>
                <a:cubicBezTo>
                  <a:pt x="221656" y="97226"/>
                  <a:pt x="210630" y="86199"/>
                  <a:pt x="197027" y="86199"/>
                </a:cubicBezTo>
                <a:close/>
                <a:moveTo>
                  <a:pt x="197027" y="258598"/>
                </a:moveTo>
                <a:cubicBezTo>
                  <a:pt x="183425" y="258598"/>
                  <a:pt x="172399" y="269625"/>
                  <a:pt x="172399" y="283227"/>
                </a:cubicBezTo>
                <a:cubicBezTo>
                  <a:pt x="172399" y="296829"/>
                  <a:pt x="183425" y="307855"/>
                  <a:pt x="197027" y="307855"/>
                </a:cubicBezTo>
                <a:cubicBezTo>
                  <a:pt x="210630" y="307855"/>
                  <a:pt x="221656" y="296829"/>
                  <a:pt x="221656" y="283227"/>
                </a:cubicBezTo>
                <a:cubicBezTo>
                  <a:pt x="221656" y="269625"/>
                  <a:pt x="210630" y="258598"/>
                  <a:pt x="197027" y="258598"/>
                </a:cubicBezTo>
                <a:close/>
                <a:moveTo>
                  <a:pt x="283227" y="258598"/>
                </a:moveTo>
                <a:cubicBezTo>
                  <a:pt x="269625" y="258598"/>
                  <a:pt x="258598" y="269625"/>
                  <a:pt x="258598" y="283227"/>
                </a:cubicBezTo>
                <a:cubicBezTo>
                  <a:pt x="258598" y="296829"/>
                  <a:pt x="269625" y="307855"/>
                  <a:pt x="283227" y="307855"/>
                </a:cubicBezTo>
                <a:cubicBezTo>
                  <a:pt x="296829" y="307855"/>
                  <a:pt x="307855" y="296829"/>
                  <a:pt x="307855" y="283227"/>
                </a:cubicBezTo>
                <a:cubicBezTo>
                  <a:pt x="307855" y="269625"/>
                  <a:pt x="296829" y="258598"/>
                  <a:pt x="283227" y="258598"/>
                </a:cubicBezTo>
                <a:close/>
                <a:moveTo>
                  <a:pt x="197027" y="172399"/>
                </a:moveTo>
                <a:cubicBezTo>
                  <a:pt x="183425" y="172399"/>
                  <a:pt x="172399" y="183425"/>
                  <a:pt x="172399" y="197027"/>
                </a:cubicBezTo>
                <a:cubicBezTo>
                  <a:pt x="172399" y="210630"/>
                  <a:pt x="183425" y="221656"/>
                  <a:pt x="197027" y="221656"/>
                </a:cubicBezTo>
                <a:cubicBezTo>
                  <a:pt x="210630" y="221656"/>
                  <a:pt x="221656" y="210630"/>
                  <a:pt x="221656" y="197027"/>
                </a:cubicBezTo>
                <a:cubicBezTo>
                  <a:pt x="221656" y="183425"/>
                  <a:pt x="210630" y="172399"/>
                  <a:pt x="197027" y="172399"/>
                </a:cubicBezTo>
                <a:close/>
              </a:path>
            </a:pathLst>
          </a:custGeom>
          <a:gradFill flip="none" rotWithShape="1">
            <a:gsLst>
              <a:gs pos="70000">
                <a:srgbClr val="F4364C"/>
              </a:gs>
              <a:gs pos="0">
                <a:srgbClr val="FFB900"/>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
        <p:nvSpPr>
          <p:cNvPr id="56" name="Graphic 54">
            <a:extLst>
              <a:ext uri="{FF2B5EF4-FFF2-40B4-BE49-F238E27FC236}">
                <a16:creationId xmlns:a16="http://schemas.microsoft.com/office/drawing/2014/main" id="{5613F540-D038-DABC-9A97-7A35777D1438}"/>
              </a:ext>
              <a:ext uri="{C183D7F6-B498-43B3-948B-1728B52AA6E4}">
                <adec:decorative xmlns:adec="http://schemas.microsoft.com/office/drawing/2017/decorative" val="1"/>
              </a:ext>
            </a:extLst>
          </p:cNvPr>
          <p:cNvSpPr/>
          <p:nvPr/>
        </p:nvSpPr>
        <p:spPr>
          <a:xfrm>
            <a:off x="1846438" y="1881889"/>
            <a:ext cx="492568" cy="492568"/>
          </a:xfrm>
          <a:custGeom>
            <a:avLst/>
            <a:gdLst>
              <a:gd name="connsiteX0" fmla="*/ 185832 w 492568"/>
              <a:gd name="connsiteY0" fmla="*/ 0 h 492568"/>
              <a:gd name="connsiteX1" fmla="*/ 108181 w 492568"/>
              <a:gd name="connsiteY1" fmla="*/ 64805 h 492568"/>
              <a:gd name="connsiteX2" fmla="*/ 107246 w 492568"/>
              <a:gd name="connsiteY2" fmla="*/ 69944 h 492568"/>
              <a:gd name="connsiteX3" fmla="*/ 104846 w 492568"/>
              <a:gd name="connsiteY3" fmla="*/ 70314 h 492568"/>
              <a:gd name="connsiteX4" fmla="*/ 24552 w 492568"/>
              <a:gd name="connsiteY4" fmla="*/ 163906 h 492568"/>
              <a:gd name="connsiteX5" fmla="*/ 24552 w 492568"/>
              <a:gd name="connsiteY5" fmla="*/ 178556 h 492568"/>
              <a:gd name="connsiteX6" fmla="*/ 48981 w 492568"/>
              <a:gd name="connsiteY6" fmla="*/ 236123 h 492568"/>
              <a:gd name="connsiteX7" fmla="*/ 0 w 492568"/>
              <a:gd name="connsiteY7" fmla="*/ 322792 h 492568"/>
              <a:gd name="connsiteX8" fmla="*/ 82775 w 492568"/>
              <a:gd name="connsiteY8" fmla="*/ 422247 h 492568"/>
              <a:gd name="connsiteX9" fmla="*/ 83115 w 492568"/>
              <a:gd name="connsiteY9" fmla="*/ 422308 h 492568"/>
              <a:gd name="connsiteX10" fmla="*/ 172618 w 492568"/>
              <a:gd name="connsiteY10" fmla="*/ 492568 h 492568"/>
              <a:gd name="connsiteX11" fmla="*/ 246284 w 492568"/>
              <a:gd name="connsiteY11" fmla="*/ 455781 h 492568"/>
              <a:gd name="connsiteX12" fmla="*/ 319950 w 492568"/>
              <a:gd name="connsiteY12" fmla="*/ 492568 h 492568"/>
              <a:gd name="connsiteX13" fmla="*/ 409452 w 492568"/>
              <a:gd name="connsiteY13" fmla="*/ 422308 h 492568"/>
              <a:gd name="connsiteX14" fmla="*/ 409795 w 492568"/>
              <a:gd name="connsiteY14" fmla="*/ 422247 h 492568"/>
              <a:gd name="connsiteX15" fmla="*/ 492568 w 492568"/>
              <a:gd name="connsiteY15" fmla="*/ 322792 h 492568"/>
              <a:gd name="connsiteX16" fmla="*/ 443541 w 492568"/>
              <a:gd name="connsiteY16" fmla="*/ 236095 h 492568"/>
              <a:gd name="connsiteX17" fmla="*/ 467940 w 492568"/>
              <a:gd name="connsiteY17" fmla="*/ 178556 h 492568"/>
              <a:gd name="connsiteX18" fmla="*/ 467940 w 492568"/>
              <a:gd name="connsiteY18" fmla="*/ 163906 h 492568"/>
              <a:gd name="connsiteX19" fmla="*/ 387646 w 492568"/>
              <a:gd name="connsiteY19" fmla="*/ 70314 h 492568"/>
              <a:gd name="connsiteX20" fmla="*/ 385245 w 492568"/>
              <a:gd name="connsiteY20" fmla="*/ 69944 h 492568"/>
              <a:gd name="connsiteX21" fmla="*/ 384312 w 492568"/>
              <a:gd name="connsiteY21" fmla="*/ 64805 h 492568"/>
              <a:gd name="connsiteX22" fmla="*/ 306661 w 492568"/>
              <a:gd name="connsiteY22" fmla="*/ 0 h 492568"/>
              <a:gd name="connsiteX23" fmla="*/ 246245 w 492568"/>
              <a:gd name="connsiteY23" fmla="*/ 28136 h 492568"/>
              <a:gd name="connsiteX24" fmla="*/ 185832 w 492568"/>
              <a:gd name="connsiteY24" fmla="*/ 0 h 492568"/>
              <a:gd name="connsiteX25" fmla="*/ 264755 w 492568"/>
              <a:gd name="connsiteY25" fmla="*/ 332484 h 492568"/>
              <a:gd name="connsiteX26" fmla="*/ 264755 w 492568"/>
              <a:gd name="connsiteY26" fmla="*/ 78924 h 492568"/>
              <a:gd name="connsiteX27" fmla="*/ 264728 w 492568"/>
              <a:gd name="connsiteY27" fmla="*/ 76852 h 492568"/>
              <a:gd name="connsiteX28" fmla="*/ 306661 w 492568"/>
              <a:gd name="connsiteY28" fmla="*/ 36943 h 492568"/>
              <a:gd name="connsiteX29" fmla="*/ 347965 w 492568"/>
              <a:gd name="connsiteY29" fmla="*/ 71414 h 492568"/>
              <a:gd name="connsiteX30" fmla="*/ 351253 w 492568"/>
              <a:gd name="connsiteY30" fmla="*/ 89504 h 492568"/>
              <a:gd name="connsiteX31" fmla="*/ 366619 w 492568"/>
              <a:gd name="connsiteY31" fmla="*/ 104456 h 492568"/>
              <a:gd name="connsiteX32" fmla="*/ 382029 w 492568"/>
              <a:gd name="connsiteY32" fmla="*/ 106827 h 492568"/>
              <a:gd name="connsiteX33" fmla="*/ 430997 w 492568"/>
              <a:gd name="connsiteY33" fmla="*/ 163906 h 492568"/>
              <a:gd name="connsiteX34" fmla="*/ 430997 w 492568"/>
              <a:gd name="connsiteY34" fmla="*/ 178556 h 492568"/>
              <a:gd name="connsiteX35" fmla="*/ 387898 w 492568"/>
              <a:gd name="connsiteY35" fmla="*/ 221656 h 492568"/>
              <a:gd name="connsiteX36" fmla="*/ 380189 w 492568"/>
              <a:gd name="connsiteY36" fmla="*/ 221656 h 492568"/>
              <a:gd name="connsiteX37" fmla="*/ 381740 w 492568"/>
              <a:gd name="connsiteY37" fmla="*/ 209342 h 492568"/>
              <a:gd name="connsiteX38" fmla="*/ 332484 w 492568"/>
              <a:gd name="connsiteY38" fmla="*/ 160085 h 492568"/>
              <a:gd name="connsiteX39" fmla="*/ 283227 w 492568"/>
              <a:gd name="connsiteY39" fmla="*/ 209342 h 492568"/>
              <a:gd name="connsiteX40" fmla="*/ 314012 w 492568"/>
              <a:gd name="connsiteY40" fmla="*/ 255017 h 492568"/>
              <a:gd name="connsiteX41" fmla="*/ 314012 w 492568"/>
              <a:gd name="connsiteY41" fmla="*/ 301698 h 492568"/>
              <a:gd name="connsiteX42" fmla="*/ 283227 w 492568"/>
              <a:gd name="connsiteY42" fmla="*/ 332484 h 492568"/>
              <a:gd name="connsiteX43" fmla="*/ 264755 w 492568"/>
              <a:gd name="connsiteY43" fmla="*/ 332484 h 492568"/>
              <a:gd name="connsiteX44" fmla="*/ 350955 w 492568"/>
              <a:gd name="connsiteY44" fmla="*/ 255017 h 492568"/>
              <a:gd name="connsiteX45" fmla="*/ 351849 w 492568"/>
              <a:gd name="connsiteY45" fmla="*/ 254646 h 492568"/>
              <a:gd name="connsiteX46" fmla="*/ 363269 w 492568"/>
              <a:gd name="connsiteY46" fmla="*/ 258598 h 492568"/>
              <a:gd name="connsiteX47" fmla="*/ 391432 w 492568"/>
              <a:gd name="connsiteY47" fmla="*/ 258598 h 492568"/>
              <a:gd name="connsiteX48" fmla="*/ 455626 w 492568"/>
              <a:gd name="connsiteY48" fmla="*/ 322792 h 492568"/>
              <a:gd name="connsiteX49" fmla="*/ 403086 w 492568"/>
              <a:gd name="connsiteY49" fmla="*/ 385917 h 492568"/>
              <a:gd name="connsiteX50" fmla="*/ 390700 w 492568"/>
              <a:gd name="connsiteY50" fmla="*/ 388205 h 492568"/>
              <a:gd name="connsiteX51" fmla="*/ 376007 w 492568"/>
              <a:gd name="connsiteY51" fmla="*/ 402431 h 492568"/>
              <a:gd name="connsiteX52" fmla="*/ 373877 w 492568"/>
              <a:gd name="connsiteY52" fmla="*/ 412196 h 492568"/>
              <a:gd name="connsiteX53" fmla="*/ 319950 w 492568"/>
              <a:gd name="connsiteY53" fmla="*/ 455626 h 492568"/>
              <a:gd name="connsiteX54" fmla="*/ 264755 w 492568"/>
              <a:gd name="connsiteY54" fmla="*/ 400431 h 492568"/>
              <a:gd name="connsiteX55" fmla="*/ 264755 w 492568"/>
              <a:gd name="connsiteY55" fmla="*/ 369426 h 492568"/>
              <a:gd name="connsiteX56" fmla="*/ 283227 w 492568"/>
              <a:gd name="connsiteY56" fmla="*/ 369426 h 492568"/>
              <a:gd name="connsiteX57" fmla="*/ 350955 w 492568"/>
              <a:gd name="connsiteY57" fmla="*/ 301698 h 492568"/>
              <a:gd name="connsiteX58" fmla="*/ 350955 w 492568"/>
              <a:gd name="connsiteY58" fmla="*/ 255017 h 492568"/>
              <a:gd name="connsiteX59" fmla="*/ 227764 w 492568"/>
              <a:gd name="connsiteY59" fmla="*/ 76852 h 492568"/>
              <a:gd name="connsiteX60" fmla="*/ 227737 w 492568"/>
              <a:gd name="connsiteY60" fmla="*/ 78924 h 492568"/>
              <a:gd name="connsiteX61" fmla="*/ 227737 w 492568"/>
              <a:gd name="connsiteY61" fmla="*/ 128068 h 492568"/>
              <a:gd name="connsiteX62" fmla="*/ 227813 w 492568"/>
              <a:gd name="connsiteY62" fmla="*/ 129765 h 492568"/>
              <a:gd name="connsiteX63" fmla="*/ 227813 w 492568"/>
              <a:gd name="connsiteY63" fmla="*/ 147771 h 492568"/>
              <a:gd name="connsiteX64" fmla="*/ 207790 w 492568"/>
              <a:gd name="connsiteY64" fmla="*/ 147771 h 492568"/>
              <a:gd name="connsiteX65" fmla="*/ 160085 w 492568"/>
              <a:gd name="connsiteY65" fmla="*/ 110828 h 492568"/>
              <a:gd name="connsiteX66" fmla="*/ 110828 w 492568"/>
              <a:gd name="connsiteY66" fmla="*/ 160085 h 492568"/>
              <a:gd name="connsiteX67" fmla="*/ 160085 w 492568"/>
              <a:gd name="connsiteY67" fmla="*/ 209342 h 492568"/>
              <a:gd name="connsiteX68" fmla="*/ 202751 w 492568"/>
              <a:gd name="connsiteY68" fmla="*/ 184713 h 492568"/>
              <a:gd name="connsiteX69" fmla="*/ 227813 w 492568"/>
              <a:gd name="connsiteY69" fmla="*/ 184713 h 492568"/>
              <a:gd name="connsiteX70" fmla="*/ 227813 w 492568"/>
              <a:gd name="connsiteY70" fmla="*/ 400431 h 492568"/>
              <a:gd name="connsiteX71" fmla="*/ 172618 w 492568"/>
              <a:gd name="connsiteY71" fmla="*/ 455626 h 492568"/>
              <a:gd name="connsiteX72" fmla="*/ 118691 w 492568"/>
              <a:gd name="connsiteY72" fmla="*/ 412196 h 492568"/>
              <a:gd name="connsiteX73" fmla="*/ 116560 w 492568"/>
              <a:gd name="connsiteY73" fmla="*/ 402431 h 492568"/>
              <a:gd name="connsiteX74" fmla="*/ 101867 w 492568"/>
              <a:gd name="connsiteY74" fmla="*/ 388205 h 492568"/>
              <a:gd name="connsiteX75" fmla="*/ 89482 w 492568"/>
              <a:gd name="connsiteY75" fmla="*/ 385917 h 492568"/>
              <a:gd name="connsiteX76" fmla="*/ 36943 w 492568"/>
              <a:gd name="connsiteY76" fmla="*/ 322792 h 492568"/>
              <a:gd name="connsiteX77" fmla="*/ 101136 w 492568"/>
              <a:gd name="connsiteY77" fmla="*/ 258598 h 492568"/>
              <a:gd name="connsiteX78" fmla="*/ 129299 w 492568"/>
              <a:gd name="connsiteY78" fmla="*/ 258598 h 492568"/>
              <a:gd name="connsiteX79" fmla="*/ 141613 w 492568"/>
              <a:gd name="connsiteY79" fmla="*/ 270913 h 492568"/>
              <a:gd name="connsiteX80" fmla="*/ 141613 w 492568"/>
              <a:gd name="connsiteY80" fmla="*/ 286808 h 492568"/>
              <a:gd name="connsiteX81" fmla="*/ 110828 w 492568"/>
              <a:gd name="connsiteY81" fmla="*/ 332484 h 492568"/>
              <a:gd name="connsiteX82" fmla="*/ 160085 w 492568"/>
              <a:gd name="connsiteY82" fmla="*/ 381740 h 492568"/>
              <a:gd name="connsiteX83" fmla="*/ 209342 w 492568"/>
              <a:gd name="connsiteY83" fmla="*/ 332484 h 492568"/>
              <a:gd name="connsiteX84" fmla="*/ 178556 w 492568"/>
              <a:gd name="connsiteY84" fmla="*/ 286808 h 492568"/>
              <a:gd name="connsiteX85" fmla="*/ 178556 w 492568"/>
              <a:gd name="connsiteY85" fmla="*/ 270913 h 492568"/>
              <a:gd name="connsiteX86" fmla="*/ 129299 w 492568"/>
              <a:gd name="connsiteY86" fmla="*/ 221656 h 492568"/>
              <a:gd name="connsiteX87" fmla="*/ 104594 w 492568"/>
              <a:gd name="connsiteY87" fmla="*/ 221656 h 492568"/>
              <a:gd name="connsiteX88" fmla="*/ 61494 w 492568"/>
              <a:gd name="connsiteY88" fmla="*/ 178556 h 492568"/>
              <a:gd name="connsiteX89" fmla="*/ 61494 w 492568"/>
              <a:gd name="connsiteY89" fmla="*/ 163906 h 492568"/>
              <a:gd name="connsiteX90" fmla="*/ 110463 w 492568"/>
              <a:gd name="connsiteY90" fmla="*/ 106827 h 492568"/>
              <a:gd name="connsiteX91" fmla="*/ 125874 w 492568"/>
              <a:gd name="connsiteY91" fmla="*/ 104456 h 492568"/>
              <a:gd name="connsiteX92" fmla="*/ 141239 w 492568"/>
              <a:gd name="connsiteY92" fmla="*/ 89504 h 492568"/>
              <a:gd name="connsiteX93" fmla="*/ 144527 w 492568"/>
              <a:gd name="connsiteY93" fmla="*/ 71414 h 492568"/>
              <a:gd name="connsiteX94" fmla="*/ 185832 w 492568"/>
              <a:gd name="connsiteY94" fmla="*/ 36943 h 492568"/>
              <a:gd name="connsiteX95" fmla="*/ 227764 w 492568"/>
              <a:gd name="connsiteY95" fmla="*/ 76852 h 492568"/>
              <a:gd name="connsiteX96" fmla="*/ 160085 w 492568"/>
              <a:gd name="connsiteY96" fmla="*/ 147771 h 492568"/>
              <a:gd name="connsiteX97" fmla="*/ 172399 w 492568"/>
              <a:gd name="connsiteY97" fmla="*/ 160085 h 492568"/>
              <a:gd name="connsiteX98" fmla="*/ 160085 w 492568"/>
              <a:gd name="connsiteY98" fmla="*/ 172399 h 492568"/>
              <a:gd name="connsiteX99" fmla="*/ 147771 w 492568"/>
              <a:gd name="connsiteY99" fmla="*/ 160085 h 492568"/>
              <a:gd name="connsiteX100" fmla="*/ 160085 w 492568"/>
              <a:gd name="connsiteY100" fmla="*/ 147771 h 492568"/>
              <a:gd name="connsiteX101" fmla="*/ 147771 w 492568"/>
              <a:gd name="connsiteY101" fmla="*/ 332484 h 492568"/>
              <a:gd name="connsiteX102" fmla="*/ 160085 w 492568"/>
              <a:gd name="connsiteY102" fmla="*/ 320169 h 492568"/>
              <a:gd name="connsiteX103" fmla="*/ 172399 w 492568"/>
              <a:gd name="connsiteY103" fmla="*/ 332484 h 492568"/>
              <a:gd name="connsiteX104" fmla="*/ 160085 w 492568"/>
              <a:gd name="connsiteY104" fmla="*/ 344798 h 492568"/>
              <a:gd name="connsiteX105" fmla="*/ 147771 w 492568"/>
              <a:gd name="connsiteY105" fmla="*/ 332484 h 492568"/>
              <a:gd name="connsiteX106" fmla="*/ 332484 w 492568"/>
              <a:gd name="connsiteY106" fmla="*/ 197027 h 492568"/>
              <a:gd name="connsiteX107" fmla="*/ 344798 w 492568"/>
              <a:gd name="connsiteY107" fmla="*/ 209342 h 492568"/>
              <a:gd name="connsiteX108" fmla="*/ 332484 w 492568"/>
              <a:gd name="connsiteY108" fmla="*/ 221656 h 492568"/>
              <a:gd name="connsiteX109" fmla="*/ 320169 w 492568"/>
              <a:gd name="connsiteY109" fmla="*/ 209342 h 492568"/>
              <a:gd name="connsiteX110" fmla="*/ 332484 w 492568"/>
              <a:gd name="connsiteY110" fmla="*/ 197027 h 492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492568" h="492568">
                <a:moveTo>
                  <a:pt x="185832" y="0"/>
                </a:moveTo>
                <a:cubicBezTo>
                  <a:pt x="147689" y="0"/>
                  <a:pt x="115004" y="27278"/>
                  <a:pt x="108181" y="64805"/>
                </a:cubicBezTo>
                <a:lnTo>
                  <a:pt x="107246" y="69944"/>
                </a:lnTo>
                <a:lnTo>
                  <a:pt x="104846" y="70314"/>
                </a:lnTo>
                <a:cubicBezTo>
                  <a:pt x="58651" y="77421"/>
                  <a:pt x="24552" y="117168"/>
                  <a:pt x="24552" y="163906"/>
                </a:cubicBezTo>
                <a:lnTo>
                  <a:pt x="24552" y="178556"/>
                </a:lnTo>
                <a:cubicBezTo>
                  <a:pt x="24552" y="201155"/>
                  <a:pt x="33918" y="221570"/>
                  <a:pt x="48981" y="236123"/>
                </a:cubicBezTo>
                <a:cubicBezTo>
                  <a:pt x="19629" y="253825"/>
                  <a:pt x="0" y="286015"/>
                  <a:pt x="0" y="322792"/>
                </a:cubicBezTo>
                <a:cubicBezTo>
                  <a:pt x="0" y="371566"/>
                  <a:pt x="34811" y="413393"/>
                  <a:pt x="82775" y="422247"/>
                </a:cubicBezTo>
                <a:lnTo>
                  <a:pt x="83115" y="422308"/>
                </a:lnTo>
                <a:cubicBezTo>
                  <a:pt x="93161" y="463453"/>
                  <a:pt x="130067" y="492568"/>
                  <a:pt x="172618" y="492568"/>
                </a:cubicBezTo>
                <a:cubicBezTo>
                  <a:pt x="202731" y="492568"/>
                  <a:pt x="229470" y="478121"/>
                  <a:pt x="246284" y="455781"/>
                </a:cubicBezTo>
                <a:cubicBezTo>
                  <a:pt x="263098" y="478121"/>
                  <a:pt x="289837" y="492568"/>
                  <a:pt x="319950" y="492568"/>
                </a:cubicBezTo>
                <a:cubicBezTo>
                  <a:pt x="362501" y="492568"/>
                  <a:pt x="399406" y="463453"/>
                  <a:pt x="409452" y="422308"/>
                </a:cubicBezTo>
                <a:lnTo>
                  <a:pt x="409795" y="422247"/>
                </a:lnTo>
                <a:cubicBezTo>
                  <a:pt x="457759" y="413393"/>
                  <a:pt x="492568" y="371566"/>
                  <a:pt x="492568" y="322792"/>
                </a:cubicBezTo>
                <a:cubicBezTo>
                  <a:pt x="492568" y="285995"/>
                  <a:pt x="472917" y="253791"/>
                  <a:pt x="443541" y="236095"/>
                </a:cubicBezTo>
                <a:cubicBezTo>
                  <a:pt x="458586" y="221542"/>
                  <a:pt x="467940" y="201140"/>
                  <a:pt x="467940" y="178556"/>
                </a:cubicBezTo>
                <a:lnTo>
                  <a:pt x="467940" y="163906"/>
                </a:lnTo>
                <a:cubicBezTo>
                  <a:pt x="467940" y="117168"/>
                  <a:pt x="433839" y="77421"/>
                  <a:pt x="387646" y="70314"/>
                </a:cubicBezTo>
                <a:lnTo>
                  <a:pt x="385245" y="69944"/>
                </a:lnTo>
                <a:lnTo>
                  <a:pt x="384312" y="64805"/>
                </a:lnTo>
                <a:cubicBezTo>
                  <a:pt x="377487" y="27278"/>
                  <a:pt x="344803" y="0"/>
                  <a:pt x="306661" y="0"/>
                </a:cubicBezTo>
                <a:cubicBezTo>
                  <a:pt x="282414" y="0"/>
                  <a:pt x="260724" y="10932"/>
                  <a:pt x="246245" y="28136"/>
                </a:cubicBezTo>
                <a:cubicBezTo>
                  <a:pt x="231768" y="10932"/>
                  <a:pt x="210075" y="0"/>
                  <a:pt x="185832" y="0"/>
                </a:cubicBezTo>
                <a:close/>
                <a:moveTo>
                  <a:pt x="264755" y="332484"/>
                </a:moveTo>
                <a:lnTo>
                  <a:pt x="264755" y="78924"/>
                </a:lnTo>
                <a:cubicBezTo>
                  <a:pt x="264755" y="78231"/>
                  <a:pt x="264746" y="77540"/>
                  <a:pt x="264728" y="76852"/>
                </a:cubicBezTo>
                <a:cubicBezTo>
                  <a:pt x="265810" y="54629"/>
                  <a:pt x="284170" y="36943"/>
                  <a:pt x="306661" y="36943"/>
                </a:cubicBezTo>
                <a:cubicBezTo>
                  <a:pt x="326950" y="36943"/>
                  <a:pt x="344335" y="51452"/>
                  <a:pt x="347965" y="71414"/>
                </a:cubicBezTo>
                <a:lnTo>
                  <a:pt x="351253" y="89504"/>
                </a:lnTo>
                <a:cubicBezTo>
                  <a:pt x="352662" y="97254"/>
                  <a:pt x="358831" y="103258"/>
                  <a:pt x="366619" y="104456"/>
                </a:cubicBezTo>
                <a:lnTo>
                  <a:pt x="382029" y="106827"/>
                </a:lnTo>
                <a:cubicBezTo>
                  <a:pt x="410201" y="111161"/>
                  <a:pt x="430997" y="135402"/>
                  <a:pt x="430997" y="163906"/>
                </a:cubicBezTo>
                <a:lnTo>
                  <a:pt x="430997" y="178556"/>
                </a:lnTo>
                <a:cubicBezTo>
                  <a:pt x="430997" y="202359"/>
                  <a:pt x="411701" y="221656"/>
                  <a:pt x="387898" y="221656"/>
                </a:cubicBezTo>
                <a:lnTo>
                  <a:pt x="380189" y="221656"/>
                </a:lnTo>
                <a:cubicBezTo>
                  <a:pt x="381201" y="217720"/>
                  <a:pt x="381740" y="213592"/>
                  <a:pt x="381740" y="209342"/>
                </a:cubicBezTo>
                <a:cubicBezTo>
                  <a:pt x="381740" y="182138"/>
                  <a:pt x="359688" y="160085"/>
                  <a:pt x="332484" y="160085"/>
                </a:cubicBezTo>
                <a:cubicBezTo>
                  <a:pt x="305279" y="160085"/>
                  <a:pt x="283227" y="182138"/>
                  <a:pt x="283227" y="209342"/>
                </a:cubicBezTo>
                <a:cubicBezTo>
                  <a:pt x="283227" y="230012"/>
                  <a:pt x="295960" y="247710"/>
                  <a:pt x="314012" y="255017"/>
                </a:cubicBezTo>
                <a:lnTo>
                  <a:pt x="314012" y="301698"/>
                </a:lnTo>
                <a:cubicBezTo>
                  <a:pt x="314012" y="318702"/>
                  <a:pt x="300230" y="332484"/>
                  <a:pt x="283227" y="332484"/>
                </a:cubicBezTo>
                <a:lnTo>
                  <a:pt x="264755" y="332484"/>
                </a:lnTo>
                <a:close/>
                <a:moveTo>
                  <a:pt x="350955" y="255017"/>
                </a:moveTo>
                <a:cubicBezTo>
                  <a:pt x="351255" y="254897"/>
                  <a:pt x="351553" y="254774"/>
                  <a:pt x="351849" y="254646"/>
                </a:cubicBezTo>
                <a:cubicBezTo>
                  <a:pt x="354992" y="257121"/>
                  <a:pt x="358957" y="258598"/>
                  <a:pt x="363269" y="258598"/>
                </a:cubicBezTo>
                <a:lnTo>
                  <a:pt x="391432" y="258598"/>
                </a:lnTo>
                <a:cubicBezTo>
                  <a:pt x="426884" y="258598"/>
                  <a:pt x="455626" y="287340"/>
                  <a:pt x="455626" y="322792"/>
                </a:cubicBezTo>
                <a:cubicBezTo>
                  <a:pt x="455626" y="353750"/>
                  <a:pt x="433532" y="380297"/>
                  <a:pt x="403086" y="385917"/>
                </a:cubicBezTo>
                <a:lnTo>
                  <a:pt x="390700" y="388205"/>
                </a:lnTo>
                <a:cubicBezTo>
                  <a:pt x="383386" y="389555"/>
                  <a:pt x="377593" y="395163"/>
                  <a:pt x="376007" y="402431"/>
                </a:cubicBezTo>
                <a:lnTo>
                  <a:pt x="373877" y="412196"/>
                </a:lnTo>
                <a:cubicBezTo>
                  <a:pt x="368345" y="437548"/>
                  <a:pt x="345901" y="455626"/>
                  <a:pt x="319950" y="455626"/>
                </a:cubicBezTo>
                <a:cubicBezTo>
                  <a:pt x="289468" y="455626"/>
                  <a:pt x="264755" y="430914"/>
                  <a:pt x="264755" y="400431"/>
                </a:cubicBezTo>
                <a:lnTo>
                  <a:pt x="264755" y="369426"/>
                </a:lnTo>
                <a:lnTo>
                  <a:pt x="283227" y="369426"/>
                </a:lnTo>
                <a:cubicBezTo>
                  <a:pt x="320632" y="369426"/>
                  <a:pt x="350955" y="339104"/>
                  <a:pt x="350955" y="301698"/>
                </a:cubicBezTo>
                <a:lnTo>
                  <a:pt x="350955" y="255017"/>
                </a:lnTo>
                <a:close/>
                <a:moveTo>
                  <a:pt x="227764" y="76852"/>
                </a:moveTo>
                <a:cubicBezTo>
                  <a:pt x="227744" y="77540"/>
                  <a:pt x="227737" y="78231"/>
                  <a:pt x="227737" y="78924"/>
                </a:cubicBezTo>
                <a:lnTo>
                  <a:pt x="227737" y="128068"/>
                </a:lnTo>
                <a:cubicBezTo>
                  <a:pt x="227737" y="128640"/>
                  <a:pt x="227761" y="129206"/>
                  <a:pt x="227813" y="129765"/>
                </a:cubicBezTo>
                <a:lnTo>
                  <a:pt x="227813" y="147771"/>
                </a:lnTo>
                <a:lnTo>
                  <a:pt x="207790" y="147771"/>
                </a:lnTo>
                <a:cubicBezTo>
                  <a:pt x="202322" y="126526"/>
                  <a:pt x="183036" y="110828"/>
                  <a:pt x="160085" y="110828"/>
                </a:cubicBezTo>
                <a:cubicBezTo>
                  <a:pt x="132881" y="110828"/>
                  <a:pt x="110828" y="132881"/>
                  <a:pt x="110828" y="160085"/>
                </a:cubicBezTo>
                <a:cubicBezTo>
                  <a:pt x="110828" y="187289"/>
                  <a:pt x="132881" y="209342"/>
                  <a:pt x="160085" y="209342"/>
                </a:cubicBezTo>
                <a:cubicBezTo>
                  <a:pt x="178317" y="209342"/>
                  <a:pt x="194235" y="199436"/>
                  <a:pt x="202751" y="184713"/>
                </a:cubicBezTo>
                <a:lnTo>
                  <a:pt x="227813" y="184713"/>
                </a:lnTo>
                <a:lnTo>
                  <a:pt x="227813" y="400431"/>
                </a:lnTo>
                <a:cubicBezTo>
                  <a:pt x="227813" y="430914"/>
                  <a:pt x="203101" y="455626"/>
                  <a:pt x="172618" y="455626"/>
                </a:cubicBezTo>
                <a:cubicBezTo>
                  <a:pt x="146668" y="455626"/>
                  <a:pt x="124223" y="437548"/>
                  <a:pt x="118691" y="412196"/>
                </a:cubicBezTo>
                <a:lnTo>
                  <a:pt x="116560" y="402431"/>
                </a:lnTo>
                <a:cubicBezTo>
                  <a:pt x="114975" y="395163"/>
                  <a:pt x="109183" y="389555"/>
                  <a:pt x="101867" y="388205"/>
                </a:cubicBezTo>
                <a:lnTo>
                  <a:pt x="89482" y="385917"/>
                </a:lnTo>
                <a:cubicBezTo>
                  <a:pt x="59038" y="380297"/>
                  <a:pt x="36943" y="353750"/>
                  <a:pt x="36943" y="322792"/>
                </a:cubicBezTo>
                <a:cubicBezTo>
                  <a:pt x="36943" y="287340"/>
                  <a:pt x="65683" y="258598"/>
                  <a:pt x="101136" y="258598"/>
                </a:cubicBezTo>
                <a:lnTo>
                  <a:pt x="129299" y="258598"/>
                </a:lnTo>
                <a:cubicBezTo>
                  <a:pt x="136100" y="258598"/>
                  <a:pt x="141613" y="264113"/>
                  <a:pt x="141613" y="270913"/>
                </a:cubicBezTo>
                <a:lnTo>
                  <a:pt x="141613" y="286808"/>
                </a:lnTo>
                <a:cubicBezTo>
                  <a:pt x="123562" y="294115"/>
                  <a:pt x="110828" y="311813"/>
                  <a:pt x="110828" y="332484"/>
                </a:cubicBezTo>
                <a:cubicBezTo>
                  <a:pt x="110828" y="359688"/>
                  <a:pt x="132881" y="381740"/>
                  <a:pt x="160085" y="381740"/>
                </a:cubicBezTo>
                <a:cubicBezTo>
                  <a:pt x="187289" y="381740"/>
                  <a:pt x="209342" y="359688"/>
                  <a:pt x="209342" y="332484"/>
                </a:cubicBezTo>
                <a:cubicBezTo>
                  <a:pt x="209342" y="311813"/>
                  <a:pt x="196608" y="294115"/>
                  <a:pt x="178556" y="286808"/>
                </a:cubicBezTo>
                <a:lnTo>
                  <a:pt x="178556" y="270913"/>
                </a:lnTo>
                <a:cubicBezTo>
                  <a:pt x="178556" y="243708"/>
                  <a:pt x="156503" y="221656"/>
                  <a:pt x="129299" y="221656"/>
                </a:cubicBezTo>
                <a:lnTo>
                  <a:pt x="104594" y="221656"/>
                </a:lnTo>
                <a:cubicBezTo>
                  <a:pt x="80791" y="221656"/>
                  <a:pt x="61494" y="202359"/>
                  <a:pt x="61494" y="178556"/>
                </a:cubicBezTo>
                <a:lnTo>
                  <a:pt x="61494" y="163906"/>
                </a:lnTo>
                <a:cubicBezTo>
                  <a:pt x="61494" y="135402"/>
                  <a:pt x="82291" y="111161"/>
                  <a:pt x="110463" y="106827"/>
                </a:cubicBezTo>
                <a:lnTo>
                  <a:pt x="125874" y="104456"/>
                </a:lnTo>
                <a:cubicBezTo>
                  <a:pt x="133660" y="103258"/>
                  <a:pt x="139829" y="97254"/>
                  <a:pt x="141239" y="89504"/>
                </a:cubicBezTo>
                <a:lnTo>
                  <a:pt x="144527" y="71414"/>
                </a:lnTo>
                <a:cubicBezTo>
                  <a:pt x="148157" y="51452"/>
                  <a:pt x="165543" y="36943"/>
                  <a:pt x="185832" y="36943"/>
                </a:cubicBezTo>
                <a:cubicBezTo>
                  <a:pt x="208322" y="36943"/>
                  <a:pt x="226682" y="54629"/>
                  <a:pt x="227764" y="76852"/>
                </a:cubicBezTo>
                <a:close/>
                <a:moveTo>
                  <a:pt x="160085" y="147771"/>
                </a:moveTo>
                <a:cubicBezTo>
                  <a:pt x="166886" y="147771"/>
                  <a:pt x="172399" y="153284"/>
                  <a:pt x="172399" y="160085"/>
                </a:cubicBezTo>
                <a:cubicBezTo>
                  <a:pt x="172399" y="166886"/>
                  <a:pt x="166886" y="172399"/>
                  <a:pt x="160085" y="172399"/>
                </a:cubicBezTo>
                <a:cubicBezTo>
                  <a:pt x="153284" y="172399"/>
                  <a:pt x="147771" y="166886"/>
                  <a:pt x="147771" y="160085"/>
                </a:cubicBezTo>
                <a:cubicBezTo>
                  <a:pt x="147771" y="153284"/>
                  <a:pt x="153284" y="147771"/>
                  <a:pt x="160085" y="147771"/>
                </a:cubicBezTo>
                <a:close/>
                <a:moveTo>
                  <a:pt x="147771" y="332484"/>
                </a:moveTo>
                <a:cubicBezTo>
                  <a:pt x="147771" y="325684"/>
                  <a:pt x="153284" y="320169"/>
                  <a:pt x="160085" y="320169"/>
                </a:cubicBezTo>
                <a:cubicBezTo>
                  <a:pt x="166886" y="320169"/>
                  <a:pt x="172399" y="325684"/>
                  <a:pt x="172399" y="332484"/>
                </a:cubicBezTo>
                <a:cubicBezTo>
                  <a:pt x="172399" y="339284"/>
                  <a:pt x="166886" y="344798"/>
                  <a:pt x="160085" y="344798"/>
                </a:cubicBezTo>
                <a:cubicBezTo>
                  <a:pt x="153284" y="344798"/>
                  <a:pt x="147771" y="339284"/>
                  <a:pt x="147771" y="332484"/>
                </a:cubicBezTo>
                <a:close/>
                <a:moveTo>
                  <a:pt x="332484" y="197027"/>
                </a:moveTo>
                <a:cubicBezTo>
                  <a:pt x="339284" y="197027"/>
                  <a:pt x="344798" y="202542"/>
                  <a:pt x="344798" y="209342"/>
                </a:cubicBezTo>
                <a:cubicBezTo>
                  <a:pt x="344798" y="216141"/>
                  <a:pt x="339284" y="221656"/>
                  <a:pt x="332484" y="221656"/>
                </a:cubicBezTo>
                <a:cubicBezTo>
                  <a:pt x="325684" y="221656"/>
                  <a:pt x="320169" y="216141"/>
                  <a:pt x="320169" y="209342"/>
                </a:cubicBezTo>
                <a:cubicBezTo>
                  <a:pt x="320169" y="202542"/>
                  <a:pt x="325684" y="197027"/>
                  <a:pt x="332484" y="197027"/>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Tree>
    <p:extLst>
      <p:ext uri="{BB962C8B-B14F-4D97-AF65-F5344CB8AC3E}">
        <p14:creationId xmlns:p14="http://schemas.microsoft.com/office/powerpoint/2010/main" val="40810716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2D399-3416-FC60-F010-8781A35BC87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CE7F73-8BBF-7449-BCDA-4B77AACA652D}"/>
              </a:ext>
            </a:extLst>
          </p:cNvPr>
          <p:cNvSpPr>
            <a:spLocks noGrp="1"/>
          </p:cNvSpPr>
          <p:nvPr>
            <p:ph type="title"/>
          </p:nvPr>
        </p:nvSpPr>
        <p:spPr>
          <a:xfrm>
            <a:off x="588263" y="457200"/>
            <a:ext cx="11018520" cy="553998"/>
          </a:xfrm>
        </p:spPr>
        <p:txBody>
          <a:bodyPr/>
          <a:lstStyle/>
          <a:p>
            <a:r>
              <a:rPr lang="en-CA">
                <a:cs typeface="Segoe Sans Display"/>
              </a:rPr>
              <a:t>Production AI</a:t>
            </a:r>
            <a:endParaRPr lang="en-CH"/>
          </a:p>
        </p:txBody>
      </p:sp>
      <p:sp>
        <p:nvSpPr>
          <p:cNvPr id="2" name="Rectangle 1">
            <a:extLst>
              <a:ext uri="{FF2B5EF4-FFF2-40B4-BE49-F238E27FC236}">
                <a16:creationId xmlns:a16="http://schemas.microsoft.com/office/drawing/2014/main" id="{E3027302-B7B7-A5C2-CEA8-CFD39DE6C4EE}"/>
              </a:ext>
            </a:extLst>
          </p:cNvPr>
          <p:cNvSpPr/>
          <p:nvPr/>
        </p:nvSpPr>
        <p:spPr bwMode="auto">
          <a:xfrm>
            <a:off x="588263" y="1088348"/>
            <a:ext cx="10570955" cy="246221"/>
          </a:xfrm>
          <a:prstGeom prst="rect">
            <a:avLst/>
          </a:prstGeom>
          <a:noFill/>
          <a:ln w="63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600"/>
              <a:t>Enterprises can </a:t>
            </a:r>
            <a:r>
              <a:rPr lang="en-US" sz="1600" b="1">
                <a:solidFill>
                  <a:schemeClr val="accent1"/>
                </a:solidFill>
              </a:rPr>
              <a:t>close the AI value gap </a:t>
            </a:r>
            <a:r>
              <a:rPr lang="en-US" sz="1600"/>
              <a:t>by focusing on three priorities:</a:t>
            </a:r>
          </a:p>
        </p:txBody>
      </p:sp>
      <p:sp>
        <p:nvSpPr>
          <p:cNvPr id="10" name="TextBox 9">
            <a:extLst>
              <a:ext uri="{FF2B5EF4-FFF2-40B4-BE49-F238E27FC236}">
                <a16:creationId xmlns:a16="http://schemas.microsoft.com/office/drawing/2014/main" id="{CAF246FA-6A18-4B2E-B998-775D8D900713}"/>
              </a:ext>
            </a:extLst>
          </p:cNvPr>
          <p:cNvSpPr txBox="1"/>
          <p:nvPr/>
        </p:nvSpPr>
        <p:spPr>
          <a:xfrm>
            <a:off x="7334510" y="6581944"/>
            <a:ext cx="5338579" cy="246221"/>
          </a:xfrm>
          <a:prstGeom prst="rect">
            <a:avLst/>
          </a:prstGeom>
          <a:noFill/>
        </p:spPr>
        <p:txBody>
          <a:bodyPr wrap="square">
            <a:spAutoFit/>
          </a:bodyPr>
          <a:lstStyle/>
          <a:p>
            <a:r>
              <a:rPr lang="en-US" sz="1000" i="1">
                <a:solidFill>
                  <a:schemeClr val="dk1"/>
                </a:solidFill>
                <a:latin typeface="Roboto Mono Medium"/>
                <a:ea typeface="Roboto Mono Medium"/>
                <a:cs typeface="Roboto Mono Medium"/>
                <a:sym typeface="Roboto Mono Medium"/>
              </a:rPr>
              <a:t>Sources: </a:t>
            </a:r>
            <a:r>
              <a:rPr lang="en-US" sz="1000" i="1">
                <a:solidFill>
                  <a:schemeClr val="dk1"/>
                </a:solidFill>
                <a:latin typeface="Segoe UI" panose="020B0502040204020203" pitchFamily="34" charset="0"/>
                <a:ea typeface="Roboto Mono Medium"/>
                <a:cs typeface="Segoe UI" panose="020B0502040204020203" pitchFamily="34" charset="0"/>
                <a:sym typeface="Roboto Mono Medium"/>
                <a:hlinkClick r:id="rId3"/>
              </a:rPr>
              <a:t>McKinsey, 2025</a:t>
            </a:r>
            <a:r>
              <a:rPr lang="en-US" sz="1000" i="1">
                <a:solidFill>
                  <a:schemeClr val="dk1"/>
                </a:solidFill>
                <a:latin typeface="Segoe UI" panose="020B0502040204020203" pitchFamily="34" charset="0"/>
                <a:ea typeface="Roboto Mono Medium"/>
                <a:cs typeface="Segoe UI" panose="020B0502040204020203" pitchFamily="34" charset="0"/>
                <a:sym typeface="Roboto Mono Medium"/>
              </a:rPr>
              <a:t>, </a:t>
            </a:r>
            <a:r>
              <a:rPr lang="en-US" sz="1000" i="1">
                <a:latin typeface="Segoe UI"/>
                <a:ea typeface="Roboto Mono Medium"/>
                <a:cs typeface="Segoe UI" panose="020B0502040204020203" pitchFamily="34" charset="0"/>
                <a:sym typeface="Roboto Mono Medium"/>
                <a:hlinkClick r:id="rId4"/>
              </a:rPr>
              <a:t>BCG 2024</a:t>
            </a:r>
            <a:r>
              <a:rPr lang="en-US" sz="1000" i="1">
                <a:latin typeface="Segoe UI"/>
                <a:ea typeface="Roboto Mono Medium"/>
                <a:cs typeface="Segoe UI" panose="020B0502040204020203" pitchFamily="34" charset="0"/>
                <a:sym typeface="Roboto Mono Medium"/>
              </a:rPr>
              <a:t>, </a:t>
            </a:r>
            <a:r>
              <a:rPr lang="en-US" sz="1000" i="1">
                <a:latin typeface="Segoe UI"/>
                <a:ea typeface="Roboto Mono Medium"/>
                <a:cs typeface="Segoe UI" panose="020B0502040204020203" pitchFamily="34" charset="0"/>
                <a:sym typeface="Roboto Mono Medium"/>
                <a:hlinkClick r:id="rId5"/>
              </a:rPr>
              <a:t>Adecco 2025</a:t>
            </a:r>
            <a:r>
              <a:rPr lang="en-US" sz="1000" i="1">
                <a:latin typeface="Segoe UI"/>
                <a:ea typeface="Roboto Mono Medium"/>
                <a:cs typeface="Segoe UI" panose="020B0502040204020203" pitchFamily="34" charset="0"/>
                <a:sym typeface="Roboto Mono Medium"/>
              </a:rPr>
              <a:t>, </a:t>
            </a:r>
            <a:r>
              <a:rPr lang="en-US" sz="1000" i="1">
                <a:latin typeface="Segoe UI"/>
                <a:ea typeface="Roboto Mono Medium"/>
                <a:cs typeface="Segoe UI" panose="020B0502040204020203" pitchFamily="34" charset="0"/>
                <a:sym typeface="Roboto Mono Medium"/>
                <a:hlinkClick r:id="rId6"/>
              </a:rPr>
              <a:t>Gartner 2023</a:t>
            </a:r>
            <a:r>
              <a:rPr lang="en-US" sz="1000" i="1">
                <a:latin typeface="Segoe UI"/>
                <a:ea typeface="Roboto Mono Medium"/>
                <a:cs typeface="Segoe UI" panose="020B0502040204020203" pitchFamily="34" charset="0"/>
                <a:sym typeface="Roboto Mono Medium"/>
              </a:rPr>
              <a:t>, </a:t>
            </a:r>
            <a:r>
              <a:rPr lang="en-US" sz="1000" i="1">
                <a:latin typeface="Segoe UI"/>
                <a:ea typeface="Roboto Mono Medium"/>
                <a:cs typeface="Segoe UI" panose="020B0502040204020203" pitchFamily="34" charset="0"/>
                <a:sym typeface="Roboto Mono Medium"/>
                <a:hlinkClick r:id="rId7"/>
              </a:rPr>
              <a:t>Comet Survey</a:t>
            </a:r>
            <a:endParaRPr lang="en-US" sz="1000" i="1">
              <a:latin typeface="Roboto Mono Medium"/>
              <a:ea typeface="Roboto Mono Medium"/>
              <a:cs typeface="Roboto Mono Medium"/>
              <a:sym typeface="Roboto Mono Medium"/>
            </a:endParaRPr>
          </a:p>
        </p:txBody>
      </p:sp>
      <p:sp>
        <p:nvSpPr>
          <p:cNvPr id="11" name="Rounded Rectangle 27">
            <a:extLst>
              <a:ext uri="{FF2B5EF4-FFF2-40B4-BE49-F238E27FC236}">
                <a16:creationId xmlns:a16="http://schemas.microsoft.com/office/drawing/2014/main" id="{4F3664CF-BDDE-69EA-DC0D-5C7A252805B3}"/>
              </a:ext>
            </a:extLst>
          </p:cNvPr>
          <p:cNvSpPr/>
          <p:nvPr/>
        </p:nvSpPr>
        <p:spPr bwMode="auto">
          <a:xfrm>
            <a:off x="571500" y="5976256"/>
            <a:ext cx="10810284" cy="430933"/>
          </a:xfrm>
          <a:prstGeom prst="roundRect">
            <a:avLst>
              <a:gd name="adj" fmla="val 23300"/>
            </a:avLst>
          </a:prstGeom>
          <a:solidFill>
            <a:schemeClr val="bg2"/>
          </a:solidFill>
          <a:ln w="12700" cap="flat" cmpd="sng" algn="ctr">
            <a:noFill/>
            <a:prstDash val="solid"/>
            <a:miter lim="800000"/>
          </a:ln>
          <a:effectLst/>
        </p:spPr>
        <p:txBody>
          <a:bodyPr lIns="91440" tIns="45720" rIns="91440" bIns="45720" rtlCol="0" anchor="ctr"/>
          <a:lstStyle/>
          <a:p>
            <a:pPr algn="ctr" fontAlgn="base">
              <a:defRPr/>
            </a:pPr>
            <a:r>
              <a:rPr lang="en-US" sz="1600" b="1">
                <a:solidFill>
                  <a:schemeClr val="accent1"/>
                </a:solidFill>
              </a:rPr>
              <a:t>You don’t need more AI ideas. You need a system to deliver them – reliably, at scale, with business impact</a:t>
            </a:r>
            <a:endParaRPr lang="en-CA" sz="1600" b="1" kern="0">
              <a:solidFill>
                <a:schemeClr val="accent1"/>
              </a:solidFill>
              <a:latin typeface="Segoe Sans Display Semibold" pitchFamily="2" charset="0"/>
              <a:cs typeface="Segoe Sans Display Semibold" pitchFamily="2" charset="0"/>
            </a:endParaRPr>
          </a:p>
        </p:txBody>
      </p:sp>
      <p:sp>
        <p:nvSpPr>
          <p:cNvPr id="4" name="Rectangle: Rounded Corners 18">
            <a:extLst>
              <a:ext uri="{FF2B5EF4-FFF2-40B4-BE49-F238E27FC236}">
                <a16:creationId xmlns:a16="http://schemas.microsoft.com/office/drawing/2014/main" id="{8E030770-4E43-FB80-826C-731E0914051E}"/>
              </a:ext>
              <a:ext uri="{C183D7F6-B498-43B3-948B-1728B52AA6E4}">
                <adec:decorative xmlns:adec="http://schemas.microsoft.com/office/drawing/2017/decorative" val="1"/>
              </a:ext>
            </a:extLst>
          </p:cNvPr>
          <p:cNvSpPr>
            <a:spLocks/>
          </p:cNvSpPr>
          <p:nvPr/>
        </p:nvSpPr>
        <p:spPr bwMode="auto">
          <a:xfrm>
            <a:off x="5163805" y="2398603"/>
            <a:ext cx="2012858" cy="3371899"/>
          </a:xfrm>
          <a:prstGeom prst="roundRect">
            <a:avLst>
              <a:gd name="adj" fmla="val 2547"/>
            </a:avLst>
          </a:prstGeom>
          <a:solidFill>
            <a:schemeClr val="bg1"/>
          </a:solidFill>
          <a:ln w="19050" cap="rnd">
            <a:noFill/>
            <a:prstDash val="solid"/>
            <a:roun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0000" tIns="1280160" rIns="91440" bIns="182880" numCol="1" spcCol="0" rtlCol="0" fromWordArt="0" anchor="t" anchorCtr="0" forceAA="0" compatLnSpc="1">
            <a:prstTxWarp prst="textNoShape">
              <a:avLst/>
            </a:prstTxWarp>
            <a:noAutofit/>
          </a:bodyPr>
          <a:lstStyle/>
          <a:p>
            <a:pPr algn="ctr"/>
            <a:r>
              <a:rPr lang="en-US" sz="1200"/>
              <a:t>Replace siloed PoCs with a coordinated roadmap to align leadership and focus investment.</a:t>
            </a:r>
          </a:p>
          <a:p>
            <a:pPr algn="ctr">
              <a:lnSpc>
                <a:spcPct val="90000"/>
              </a:lnSpc>
              <a:defRPr/>
            </a:pPr>
            <a:endParaRPr lang="en-US" sz="1600" b="1">
              <a:solidFill>
                <a:srgbClr val="000000"/>
              </a:solidFill>
              <a:latin typeface="Segoe Sans Text"/>
              <a:cs typeface="Segoe UI" panose="020B0502040204020203" pitchFamily="34" charset="0"/>
            </a:endParaRPr>
          </a:p>
          <a:p>
            <a:pPr algn="ctr">
              <a:lnSpc>
                <a:spcPct val="90000"/>
              </a:lnSpc>
              <a:defRPr/>
            </a:pPr>
            <a:r>
              <a:rPr lang="en-US" sz="1200" b="1">
                <a:solidFill>
                  <a:srgbClr val="000000"/>
                </a:solidFill>
                <a:latin typeface="Segoe Sans Text"/>
                <a:cs typeface="Segoe UI" panose="020B0502040204020203" pitchFamily="34" charset="0"/>
              </a:rPr>
              <a:t>“Only 10% of companies are 'AI future-ready' with strategy and talent in place.” </a:t>
            </a:r>
            <a:r>
              <a:rPr lang="en-US" sz="1050">
                <a:solidFill>
                  <a:srgbClr val="000000"/>
                </a:solidFill>
                <a:latin typeface="Segoe Sans Text"/>
                <a:cs typeface="Segoe UI" panose="020B0502040204020203" pitchFamily="34" charset="0"/>
              </a:rPr>
              <a:t> Adecco, 2025</a:t>
            </a:r>
            <a:endParaRPr lang="en-US" sz="1200">
              <a:solidFill>
                <a:srgbClr val="000000"/>
              </a:solidFill>
              <a:latin typeface="Segoe Sans Text"/>
              <a:cs typeface="Segoe UI" panose="020B0502040204020203" pitchFamily="34" charset="0"/>
            </a:endParaRPr>
          </a:p>
        </p:txBody>
      </p:sp>
      <p:sp>
        <p:nvSpPr>
          <p:cNvPr id="6" name="Rectangle: Rounded Corners 18">
            <a:extLst>
              <a:ext uri="{FF2B5EF4-FFF2-40B4-BE49-F238E27FC236}">
                <a16:creationId xmlns:a16="http://schemas.microsoft.com/office/drawing/2014/main" id="{E8166DBC-6FE1-33AA-5D55-FCE54EB022B7}"/>
              </a:ext>
              <a:ext uri="{C183D7F6-B498-43B3-948B-1728B52AA6E4}">
                <adec:decorative xmlns:adec="http://schemas.microsoft.com/office/drawing/2017/decorative" val="1"/>
              </a:ext>
            </a:extLst>
          </p:cNvPr>
          <p:cNvSpPr>
            <a:spLocks/>
          </p:cNvSpPr>
          <p:nvPr/>
        </p:nvSpPr>
        <p:spPr bwMode="auto">
          <a:xfrm>
            <a:off x="7422840" y="2398603"/>
            <a:ext cx="2012858" cy="3371899"/>
          </a:xfrm>
          <a:prstGeom prst="roundRect">
            <a:avLst>
              <a:gd name="adj" fmla="val 2547"/>
            </a:avLst>
          </a:prstGeom>
          <a:solidFill>
            <a:schemeClr val="bg1"/>
          </a:solidFill>
          <a:ln w="19050" cap="rnd">
            <a:noFill/>
            <a:prstDash val="solid"/>
            <a:roun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0000" tIns="1280160" rIns="91440" bIns="182880" numCol="1" spcCol="0" rtlCol="0" fromWordArt="0" anchor="t" anchorCtr="0" forceAA="0" compatLnSpc="1">
            <a:prstTxWarp prst="textNoShape">
              <a:avLst/>
            </a:prstTxWarp>
            <a:noAutofit/>
          </a:bodyPr>
          <a:lstStyle/>
          <a:p>
            <a:pPr algn="ctr"/>
            <a:r>
              <a:rPr lang="en-US" sz="1200"/>
              <a:t>Many companies lack quality, accessible data and scalable infrastructure (platforms, </a:t>
            </a:r>
            <a:r>
              <a:rPr lang="en-US" sz="1200" err="1"/>
              <a:t>MLOps</a:t>
            </a:r>
            <a:r>
              <a:rPr lang="en-US" sz="1200"/>
              <a:t>) needed for enterprise AI.</a:t>
            </a:r>
          </a:p>
          <a:p>
            <a:pPr algn="ctr"/>
            <a:endParaRPr lang="en-US" sz="1100">
              <a:solidFill>
                <a:srgbClr val="000000"/>
              </a:solidFill>
              <a:latin typeface="Segoe Sans Text"/>
              <a:cs typeface="Segoe UI Semibold" panose="020B0702040204020203" pitchFamily="34" charset="0"/>
            </a:endParaRPr>
          </a:p>
          <a:p>
            <a:pPr algn="ctr">
              <a:lnSpc>
                <a:spcPct val="90000"/>
              </a:lnSpc>
              <a:defRPr/>
            </a:pPr>
            <a:r>
              <a:rPr lang="en-US" sz="1200" b="1">
                <a:solidFill>
                  <a:srgbClr val="000000"/>
                </a:solidFill>
                <a:latin typeface="Segoe Sans Text"/>
                <a:cs typeface="Segoe UI" panose="020B0502040204020203" pitchFamily="34" charset="0"/>
              </a:rPr>
              <a:t>“58% of AI teams still manually track experiments.” </a:t>
            </a:r>
            <a:r>
              <a:rPr lang="en-US" sz="1050">
                <a:solidFill>
                  <a:srgbClr val="000000"/>
                </a:solidFill>
                <a:latin typeface="Segoe Sans Text"/>
                <a:cs typeface="Segoe UI" panose="020B0502040204020203" pitchFamily="34" charset="0"/>
              </a:rPr>
              <a:t>Comet, 2024</a:t>
            </a:r>
          </a:p>
        </p:txBody>
      </p:sp>
      <p:sp>
        <p:nvSpPr>
          <p:cNvPr id="7" name="Rectangle: Rounded Corners 18">
            <a:extLst>
              <a:ext uri="{FF2B5EF4-FFF2-40B4-BE49-F238E27FC236}">
                <a16:creationId xmlns:a16="http://schemas.microsoft.com/office/drawing/2014/main" id="{7184F20E-7E15-FA02-CEC9-DD72F8ED4192}"/>
              </a:ext>
              <a:ext uri="{C183D7F6-B498-43B3-948B-1728B52AA6E4}">
                <adec:decorative xmlns:adec="http://schemas.microsoft.com/office/drawing/2017/decorative" val="1"/>
              </a:ext>
            </a:extLst>
          </p:cNvPr>
          <p:cNvSpPr>
            <a:spLocks/>
          </p:cNvSpPr>
          <p:nvPr/>
        </p:nvSpPr>
        <p:spPr bwMode="auto">
          <a:xfrm>
            <a:off x="9681876" y="2398603"/>
            <a:ext cx="2012858" cy="3371899"/>
          </a:xfrm>
          <a:prstGeom prst="roundRect">
            <a:avLst>
              <a:gd name="adj" fmla="val 2547"/>
            </a:avLst>
          </a:prstGeom>
          <a:solidFill>
            <a:schemeClr val="bg1"/>
          </a:solidFill>
          <a:ln w="19050" cap="rnd">
            <a:noFill/>
            <a:prstDash val="solid"/>
            <a:roun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0000" tIns="1280160" rIns="91440" bIns="182880" numCol="1" spcCol="0" rtlCol="0" fromWordArt="0" anchor="t" anchorCtr="0" forceAA="0" compatLnSpc="1">
            <a:prstTxWarp prst="textNoShape">
              <a:avLst/>
            </a:prstTxWarp>
            <a:noAutofit/>
          </a:bodyPr>
          <a:lstStyle/>
          <a:p>
            <a:pPr algn="ctr"/>
            <a:r>
              <a:rPr lang="en-US" sz="1200"/>
              <a:t>Create upskilling programs and embed AI in real workflows to maximize usage and business adoption.</a:t>
            </a:r>
          </a:p>
          <a:p>
            <a:pPr algn="ctr"/>
            <a:endParaRPr lang="en-US" sz="1200"/>
          </a:p>
          <a:p>
            <a:pPr algn="ctr"/>
            <a:endParaRPr lang="en-US" sz="1200"/>
          </a:p>
          <a:p>
            <a:pPr algn="ctr">
              <a:lnSpc>
                <a:spcPct val="90000"/>
              </a:lnSpc>
              <a:defRPr/>
            </a:pPr>
            <a:r>
              <a:rPr lang="en-US" sz="1200" b="1">
                <a:solidFill>
                  <a:srgbClr val="000000"/>
                </a:solidFill>
                <a:latin typeface="Segoe Sans Text"/>
                <a:cs typeface="Segoe UI" panose="020B0502040204020203" pitchFamily="34" charset="0"/>
              </a:rPr>
              <a:t>“60% expect skills upgrade, but only 34% offer AI training.” </a:t>
            </a:r>
            <a:r>
              <a:rPr lang="en-US" sz="1050">
                <a:solidFill>
                  <a:srgbClr val="000000"/>
                </a:solidFill>
                <a:latin typeface="Segoe Sans Text"/>
                <a:cs typeface="Segoe UI" panose="020B0502040204020203" pitchFamily="34" charset="0"/>
              </a:rPr>
              <a:t> Adecco, 2025</a:t>
            </a:r>
          </a:p>
        </p:txBody>
      </p:sp>
      <p:sp>
        <p:nvSpPr>
          <p:cNvPr id="8" name="Rectangle: Rounded Corners 18">
            <a:extLst>
              <a:ext uri="{FF2B5EF4-FFF2-40B4-BE49-F238E27FC236}">
                <a16:creationId xmlns:a16="http://schemas.microsoft.com/office/drawing/2014/main" id="{5A80F2FB-0200-4D16-312D-9CBFF9D4745C}"/>
              </a:ext>
              <a:ext uri="{C183D7F6-B498-43B3-948B-1728B52AA6E4}">
                <adec:decorative xmlns:adec="http://schemas.microsoft.com/office/drawing/2017/decorative" val="1"/>
              </a:ext>
            </a:extLst>
          </p:cNvPr>
          <p:cNvSpPr>
            <a:spLocks/>
          </p:cNvSpPr>
          <p:nvPr/>
        </p:nvSpPr>
        <p:spPr bwMode="auto">
          <a:xfrm>
            <a:off x="699485" y="2397753"/>
            <a:ext cx="2012858" cy="3371899"/>
          </a:xfrm>
          <a:prstGeom prst="roundRect">
            <a:avLst>
              <a:gd name="adj" fmla="val 2547"/>
            </a:avLst>
          </a:prstGeom>
          <a:solidFill>
            <a:schemeClr val="bg1"/>
          </a:solidFill>
          <a:ln w="19050" cap="rnd">
            <a:noFill/>
            <a:prstDash val="solid"/>
            <a:roun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0000" tIns="1280160" rIns="91440" bIns="182880" numCol="1" spcCol="0" rtlCol="0" fromWordArt="0" anchor="t" anchorCtr="0" forceAA="0" compatLnSpc="1">
            <a:prstTxWarp prst="textNoShape">
              <a:avLst/>
            </a:prstTxWarp>
            <a:noAutofit/>
          </a:bodyPr>
          <a:lstStyle/>
          <a:p>
            <a:pPr algn="ctr"/>
            <a:r>
              <a:rPr lang="en-US" sz="1200"/>
              <a:t>Define success upfront using KPIs and outcome metrics to track business value delivered through AI applications.</a:t>
            </a:r>
          </a:p>
          <a:p>
            <a:pPr algn="ctr"/>
            <a:endParaRPr lang="en-US" sz="1200">
              <a:solidFill>
                <a:srgbClr val="000000"/>
              </a:solidFill>
              <a:latin typeface="Segoe Sans Text"/>
              <a:cs typeface="Segoe UI Semibold" panose="020B0702040204020203" pitchFamily="34" charset="0"/>
            </a:endParaRPr>
          </a:p>
          <a:p>
            <a:pPr algn="ctr"/>
            <a:endParaRPr lang="en-US" sz="1200">
              <a:solidFill>
                <a:srgbClr val="000000"/>
              </a:solidFill>
              <a:latin typeface="Segoe Sans Text"/>
              <a:cs typeface="Segoe UI Semibold" panose="020B0702040204020203" pitchFamily="34" charset="0"/>
            </a:endParaRPr>
          </a:p>
          <a:p>
            <a:pPr algn="ctr">
              <a:lnSpc>
                <a:spcPct val="90000"/>
              </a:lnSpc>
              <a:defRPr/>
            </a:pPr>
            <a:r>
              <a:rPr lang="en-US" sz="1200" b="1">
                <a:solidFill>
                  <a:srgbClr val="000000"/>
                </a:solidFill>
                <a:latin typeface="Segoe Sans Text"/>
                <a:cs typeface="Segoe UI" panose="020B0502040204020203" pitchFamily="34" charset="0"/>
              </a:rPr>
              <a:t>“Only mature orgs track business KPIs tied to AI.” </a:t>
            </a:r>
            <a:r>
              <a:rPr lang="en-US" sz="1050">
                <a:solidFill>
                  <a:srgbClr val="000000"/>
                </a:solidFill>
                <a:latin typeface="Segoe Sans Text"/>
                <a:cs typeface="Segoe UI" panose="020B0502040204020203" pitchFamily="34" charset="0"/>
              </a:rPr>
              <a:t>Gartner, 2023</a:t>
            </a:r>
          </a:p>
        </p:txBody>
      </p:sp>
      <p:sp>
        <p:nvSpPr>
          <p:cNvPr id="9" name="Rectangle: Rounded Corners 18">
            <a:extLst>
              <a:ext uri="{FF2B5EF4-FFF2-40B4-BE49-F238E27FC236}">
                <a16:creationId xmlns:a16="http://schemas.microsoft.com/office/drawing/2014/main" id="{B7BCE0C7-32E2-AFE4-4D9A-299850B8465C}"/>
              </a:ext>
              <a:ext uri="{C183D7F6-B498-43B3-948B-1728B52AA6E4}">
                <adec:decorative xmlns:adec="http://schemas.microsoft.com/office/drawing/2017/decorative" val="1"/>
              </a:ext>
            </a:extLst>
          </p:cNvPr>
          <p:cNvSpPr>
            <a:spLocks/>
          </p:cNvSpPr>
          <p:nvPr/>
        </p:nvSpPr>
        <p:spPr bwMode="auto">
          <a:xfrm>
            <a:off x="2932239" y="2397753"/>
            <a:ext cx="2012858" cy="3371899"/>
          </a:xfrm>
          <a:prstGeom prst="roundRect">
            <a:avLst>
              <a:gd name="adj" fmla="val 2547"/>
            </a:avLst>
          </a:prstGeom>
          <a:solidFill>
            <a:schemeClr val="bg1"/>
          </a:solidFill>
          <a:ln w="19050" cap="rnd">
            <a:noFill/>
            <a:prstDash val="solid"/>
            <a:round/>
          </a:ln>
          <a:effectLst>
            <a:outerShdw blurRad="127000" dist="63500" dir="8100000" algn="tr" rotWithShape="0">
              <a:srgbClr val="000000">
                <a:lumMod val="50000"/>
                <a:lumOff val="50000"/>
                <a:alpha val="15000"/>
              </a:srgbClr>
            </a:outerShdw>
          </a:effectLst>
        </p:spPr>
        <p:txBody>
          <a:bodyPr rot="0" spcFirstLastPara="0" vertOverflow="overflow" horzOverflow="overflow" vert="horz" wrap="square" lIns="90000" tIns="1280160" rIns="91440" bIns="182880" numCol="1" spcCol="0" rtlCol="0" fromWordArt="0" anchor="t" anchorCtr="0" forceAA="0" compatLnSpc="1">
            <a:prstTxWarp prst="textNoShape">
              <a:avLst/>
            </a:prstTxWarp>
            <a:noAutofit/>
          </a:bodyPr>
          <a:lstStyle/>
          <a:p>
            <a:pPr algn="ctr"/>
            <a:r>
              <a:rPr lang="en-US" sz="1200"/>
              <a:t>Deliver production-grade AI apps in weeks - not months - to gain momentum and prove impact early.</a:t>
            </a:r>
          </a:p>
          <a:p>
            <a:pPr algn="ctr"/>
            <a:endParaRPr lang="en-US" sz="1200">
              <a:solidFill>
                <a:srgbClr val="000000"/>
              </a:solidFill>
              <a:latin typeface="Segoe Sans Text"/>
              <a:cs typeface="Segoe UI Semibold" panose="020B0702040204020203" pitchFamily="34" charset="0"/>
            </a:endParaRPr>
          </a:p>
          <a:p>
            <a:pPr algn="ctr">
              <a:lnSpc>
                <a:spcPct val="90000"/>
              </a:lnSpc>
              <a:defRPr/>
            </a:pPr>
            <a:r>
              <a:rPr lang="en-US" sz="1400" b="1">
                <a:solidFill>
                  <a:srgbClr val="000000"/>
                </a:solidFill>
                <a:latin typeface="Segoe Sans Text"/>
                <a:cs typeface="Segoe UI" panose="020B0502040204020203" pitchFamily="34" charset="0"/>
              </a:rPr>
              <a:t>“</a:t>
            </a:r>
            <a:r>
              <a:rPr lang="en-US" sz="1200" b="1">
                <a:solidFill>
                  <a:srgbClr val="000000"/>
                </a:solidFill>
                <a:latin typeface="Segoe Sans Text"/>
                <a:cs typeface="Segoe UI" panose="020B0502040204020203" pitchFamily="34" charset="0"/>
              </a:rPr>
              <a:t>Most AI initiatives take 12+ months to deliver results, slowing stakeholder buy-in.” </a:t>
            </a:r>
            <a:r>
              <a:rPr lang="en-US" sz="1050" i="1">
                <a:solidFill>
                  <a:srgbClr val="000000"/>
                </a:solidFill>
                <a:latin typeface="Segoe Sans Text"/>
                <a:cs typeface="Segoe UI" panose="020B0502040204020203" pitchFamily="34" charset="0"/>
              </a:rPr>
              <a:t> MIT/BCG, 2022</a:t>
            </a:r>
            <a:endParaRPr lang="en-US" sz="1400" i="1">
              <a:solidFill>
                <a:srgbClr val="000000"/>
              </a:solidFill>
              <a:latin typeface="Segoe Sans Text"/>
              <a:cs typeface="Segoe UI" panose="020B0502040204020203" pitchFamily="34" charset="0"/>
            </a:endParaRPr>
          </a:p>
        </p:txBody>
      </p:sp>
      <p:sp>
        <p:nvSpPr>
          <p:cNvPr id="51" name="Oval 50">
            <a:extLst>
              <a:ext uri="{FF2B5EF4-FFF2-40B4-BE49-F238E27FC236}">
                <a16:creationId xmlns:a16="http://schemas.microsoft.com/office/drawing/2014/main" id="{9E6E48D4-0F57-97B6-5E91-78BE99402248}"/>
              </a:ext>
              <a:ext uri="{C183D7F6-B498-43B3-948B-1728B52AA6E4}">
                <adec:decorative xmlns:adec="http://schemas.microsoft.com/office/drawing/2017/decorative" val="0"/>
              </a:ext>
            </a:extLst>
          </p:cNvPr>
          <p:cNvSpPr/>
          <p:nvPr/>
        </p:nvSpPr>
        <p:spPr bwMode="auto">
          <a:xfrm>
            <a:off x="588263" y="1509906"/>
            <a:ext cx="334916" cy="334916"/>
          </a:xfrm>
          <a:prstGeom prst="ellipse">
            <a:avLst/>
          </a:prstGeom>
          <a:gradFill flip="none" rotWithShape="1">
            <a:gsLst>
              <a:gs pos="26000">
                <a:schemeClr val="accent1">
                  <a:lumMod val="94000"/>
                </a:schemeClr>
              </a:gs>
              <a:gs pos="92000">
                <a:schemeClr val="accent5">
                  <a:lumMod val="90000"/>
                </a:schemeClr>
              </a:gs>
            </a:gsLst>
            <a:lin ang="18900000" scaled="1"/>
            <a:tileRect/>
          </a:gradFill>
          <a:ln w="63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27627" fontAlgn="base"/>
            <a:r>
              <a:rPr lang="en-US" sz="1600" b="1" kern="0">
                <a:solidFill>
                  <a:schemeClr val="bg1"/>
                </a:solidFill>
                <a:ea typeface="Segoe UI Black" panose="020B0A02040204020203" pitchFamily="34" charset="0"/>
                <a:cs typeface="Segoe UI Light" panose="020B0502040204020203" pitchFamily="34" charset="0"/>
              </a:rPr>
              <a:t>1</a:t>
            </a:r>
          </a:p>
        </p:txBody>
      </p:sp>
      <p:sp>
        <p:nvSpPr>
          <p:cNvPr id="52" name="Rectangle 51">
            <a:extLst>
              <a:ext uri="{FF2B5EF4-FFF2-40B4-BE49-F238E27FC236}">
                <a16:creationId xmlns:a16="http://schemas.microsoft.com/office/drawing/2014/main" id="{2ABA390A-9AE7-E353-8F73-D2665F69E3A1}"/>
              </a:ext>
            </a:extLst>
          </p:cNvPr>
          <p:cNvSpPr/>
          <p:nvPr/>
        </p:nvSpPr>
        <p:spPr bwMode="auto">
          <a:xfrm>
            <a:off x="4916150" y="1496069"/>
            <a:ext cx="3083449" cy="738664"/>
          </a:xfrm>
          <a:prstGeom prst="rect">
            <a:avLst/>
          </a:prstGeom>
          <a:noFill/>
          <a:ln w="63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b="1"/>
              <a:t>Delivering production-grade AI apps quickly </a:t>
            </a:r>
            <a:r>
              <a:rPr lang="en-US" sz="1600"/>
              <a:t>to demonstrate value and sustain momentum</a:t>
            </a:r>
          </a:p>
        </p:txBody>
      </p:sp>
      <p:sp>
        <p:nvSpPr>
          <p:cNvPr id="53" name="Rectangle 52">
            <a:extLst>
              <a:ext uri="{FF2B5EF4-FFF2-40B4-BE49-F238E27FC236}">
                <a16:creationId xmlns:a16="http://schemas.microsoft.com/office/drawing/2014/main" id="{39BBA8E5-9AC7-7912-9863-4E8435F3E3B3}"/>
              </a:ext>
            </a:extLst>
          </p:cNvPr>
          <p:cNvSpPr/>
          <p:nvPr/>
        </p:nvSpPr>
        <p:spPr bwMode="auto">
          <a:xfrm>
            <a:off x="8718925" y="1496188"/>
            <a:ext cx="3083449" cy="738664"/>
          </a:xfrm>
          <a:prstGeom prst="rect">
            <a:avLst/>
          </a:prstGeom>
          <a:noFill/>
          <a:ln w="63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t>Building an AI Application Factory to </a:t>
            </a:r>
            <a:r>
              <a:rPr lang="en-US" sz="1600" b="1"/>
              <a:t>industrialize delivery and scale</a:t>
            </a:r>
            <a:r>
              <a:rPr lang="en-US" sz="1600"/>
              <a:t> across use cases</a:t>
            </a:r>
          </a:p>
        </p:txBody>
      </p:sp>
      <p:sp>
        <p:nvSpPr>
          <p:cNvPr id="54" name="Rectangle 53">
            <a:extLst>
              <a:ext uri="{FF2B5EF4-FFF2-40B4-BE49-F238E27FC236}">
                <a16:creationId xmlns:a16="http://schemas.microsoft.com/office/drawing/2014/main" id="{CDA5D0BB-7D17-9487-F42F-43311BA78F70}"/>
              </a:ext>
            </a:extLst>
          </p:cNvPr>
          <p:cNvSpPr/>
          <p:nvPr/>
        </p:nvSpPr>
        <p:spPr bwMode="auto">
          <a:xfrm>
            <a:off x="1108954" y="1496069"/>
            <a:ext cx="3083449" cy="738664"/>
          </a:xfrm>
          <a:prstGeom prst="rect">
            <a:avLst/>
          </a:prstGeom>
          <a:noFill/>
          <a:ln w="63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b="1"/>
              <a:t>Embedding AI into business operations </a:t>
            </a:r>
            <a:r>
              <a:rPr lang="en-US" sz="1600"/>
              <a:t>through aligned KPIs, governance, and upskilling</a:t>
            </a:r>
          </a:p>
        </p:txBody>
      </p:sp>
      <p:sp>
        <p:nvSpPr>
          <p:cNvPr id="55" name="Oval 54">
            <a:extLst>
              <a:ext uri="{FF2B5EF4-FFF2-40B4-BE49-F238E27FC236}">
                <a16:creationId xmlns:a16="http://schemas.microsoft.com/office/drawing/2014/main" id="{EA363043-E5B0-B746-912A-AF175584FF69}"/>
              </a:ext>
              <a:ext uri="{C183D7F6-B498-43B3-948B-1728B52AA6E4}">
                <adec:decorative xmlns:adec="http://schemas.microsoft.com/office/drawing/2017/decorative" val="0"/>
              </a:ext>
            </a:extLst>
          </p:cNvPr>
          <p:cNvSpPr/>
          <p:nvPr/>
        </p:nvSpPr>
        <p:spPr bwMode="auto">
          <a:xfrm>
            <a:off x="4345680" y="1509906"/>
            <a:ext cx="334916" cy="334916"/>
          </a:xfrm>
          <a:prstGeom prst="ellipse">
            <a:avLst/>
          </a:prstGeom>
          <a:gradFill flip="none" rotWithShape="1">
            <a:gsLst>
              <a:gs pos="26000">
                <a:schemeClr val="accent1">
                  <a:lumMod val="94000"/>
                </a:schemeClr>
              </a:gs>
              <a:gs pos="92000">
                <a:schemeClr val="accent5">
                  <a:lumMod val="90000"/>
                </a:schemeClr>
              </a:gs>
            </a:gsLst>
            <a:lin ang="18900000" scaled="1"/>
            <a:tileRect/>
          </a:gradFill>
          <a:ln w="63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27627" fontAlgn="base"/>
            <a:r>
              <a:rPr lang="en-US" sz="1600" b="1" kern="0">
                <a:solidFill>
                  <a:schemeClr val="bg1"/>
                </a:solidFill>
                <a:ea typeface="Segoe UI Black" panose="020B0A02040204020203" pitchFamily="34" charset="0"/>
                <a:cs typeface="Segoe UI Light" panose="020B0502040204020203" pitchFamily="34" charset="0"/>
              </a:rPr>
              <a:t>2</a:t>
            </a:r>
          </a:p>
        </p:txBody>
      </p:sp>
      <p:sp>
        <p:nvSpPr>
          <p:cNvPr id="56" name="Oval 55">
            <a:extLst>
              <a:ext uri="{FF2B5EF4-FFF2-40B4-BE49-F238E27FC236}">
                <a16:creationId xmlns:a16="http://schemas.microsoft.com/office/drawing/2014/main" id="{A4DB0DFA-6A07-36C8-0ACD-294B16CAC579}"/>
              </a:ext>
              <a:ext uri="{C183D7F6-B498-43B3-948B-1728B52AA6E4}">
                <adec:decorative xmlns:adec="http://schemas.microsoft.com/office/drawing/2017/decorative" val="0"/>
              </a:ext>
            </a:extLst>
          </p:cNvPr>
          <p:cNvSpPr/>
          <p:nvPr/>
        </p:nvSpPr>
        <p:spPr bwMode="auto">
          <a:xfrm>
            <a:off x="8198234" y="1509906"/>
            <a:ext cx="334916" cy="334916"/>
          </a:xfrm>
          <a:prstGeom prst="ellipse">
            <a:avLst/>
          </a:prstGeom>
          <a:gradFill flip="none" rotWithShape="1">
            <a:gsLst>
              <a:gs pos="26000">
                <a:schemeClr val="accent1">
                  <a:lumMod val="94000"/>
                </a:schemeClr>
              </a:gs>
              <a:gs pos="92000">
                <a:schemeClr val="accent5">
                  <a:lumMod val="90000"/>
                </a:schemeClr>
              </a:gs>
            </a:gsLst>
            <a:lin ang="18900000" scaled="1"/>
            <a:tileRect/>
          </a:gradFill>
          <a:ln w="6350"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1027627" fontAlgn="base"/>
            <a:r>
              <a:rPr lang="en-US" sz="1600" b="1" kern="0">
                <a:solidFill>
                  <a:schemeClr val="bg1"/>
                </a:solidFill>
                <a:ea typeface="Segoe UI Black" panose="020B0A02040204020203" pitchFamily="34" charset="0"/>
                <a:cs typeface="Segoe UI Light" panose="020B0502040204020203" pitchFamily="34" charset="0"/>
              </a:rPr>
              <a:t>3</a:t>
            </a:r>
          </a:p>
        </p:txBody>
      </p:sp>
      <p:sp>
        <p:nvSpPr>
          <p:cNvPr id="67" name="Graphic 14">
            <a:extLst>
              <a:ext uri="{FF2B5EF4-FFF2-40B4-BE49-F238E27FC236}">
                <a16:creationId xmlns:a16="http://schemas.microsoft.com/office/drawing/2014/main" id="{6808CB38-9B34-3591-D5F7-891C4F864914}"/>
              </a:ext>
              <a:ext uri="{C183D7F6-B498-43B3-948B-1728B52AA6E4}">
                <adec:decorative xmlns:adec="http://schemas.microsoft.com/office/drawing/2017/decorative" val="1"/>
              </a:ext>
            </a:extLst>
          </p:cNvPr>
          <p:cNvSpPr/>
          <p:nvPr/>
        </p:nvSpPr>
        <p:spPr>
          <a:xfrm>
            <a:off x="1554743" y="3281412"/>
            <a:ext cx="302342" cy="302338"/>
          </a:xfrm>
          <a:custGeom>
            <a:avLst/>
            <a:gdLst>
              <a:gd name="connsiteX0" fmla="*/ 95270 w 190540"/>
              <a:gd name="connsiteY0" fmla="*/ 0 h 190539"/>
              <a:gd name="connsiteX1" fmla="*/ 127908 w 190540"/>
              <a:gd name="connsiteY1" fmla="*/ 5738 h 190539"/>
              <a:gd name="connsiteX2" fmla="*/ 116538 w 190540"/>
              <a:gd name="connsiteY2" fmla="*/ 17109 h 190539"/>
              <a:gd name="connsiteX3" fmla="*/ 95270 w 190540"/>
              <a:gd name="connsiteY3" fmla="*/ 14288 h 190539"/>
              <a:gd name="connsiteX4" fmla="*/ 14287 w 190540"/>
              <a:gd name="connsiteY4" fmla="*/ 95270 h 190539"/>
              <a:gd name="connsiteX5" fmla="*/ 95270 w 190540"/>
              <a:gd name="connsiteY5" fmla="*/ 176252 h 190539"/>
              <a:gd name="connsiteX6" fmla="*/ 176253 w 190540"/>
              <a:gd name="connsiteY6" fmla="*/ 95270 h 190539"/>
              <a:gd name="connsiteX7" fmla="*/ 173439 w 190540"/>
              <a:gd name="connsiteY7" fmla="*/ 74030 h 190539"/>
              <a:gd name="connsiteX8" fmla="*/ 184812 w 190540"/>
              <a:gd name="connsiteY8" fmla="*/ 62657 h 190539"/>
              <a:gd name="connsiteX9" fmla="*/ 190540 w 190540"/>
              <a:gd name="connsiteY9" fmla="*/ 95270 h 190539"/>
              <a:gd name="connsiteX10" fmla="*/ 95270 w 190540"/>
              <a:gd name="connsiteY10" fmla="*/ 190540 h 190539"/>
              <a:gd name="connsiteX11" fmla="*/ 0 w 190540"/>
              <a:gd name="connsiteY11" fmla="*/ 95270 h 190539"/>
              <a:gd name="connsiteX12" fmla="*/ 95270 w 190540"/>
              <a:gd name="connsiteY12" fmla="*/ 0 h 190539"/>
              <a:gd name="connsiteX13" fmla="*/ 95270 w 190540"/>
              <a:gd name="connsiteY13" fmla="*/ 38120 h 190539"/>
              <a:gd name="connsiteX14" fmla="*/ 109575 w 190540"/>
              <a:gd name="connsiteY14" fmla="*/ 39925 h 190539"/>
              <a:gd name="connsiteX15" fmla="*/ 109576 w 190540"/>
              <a:gd name="connsiteY15" fmla="*/ 54853 h 190539"/>
              <a:gd name="connsiteX16" fmla="*/ 95270 w 190540"/>
              <a:gd name="connsiteY16" fmla="*/ 52408 h 190539"/>
              <a:gd name="connsiteX17" fmla="*/ 52407 w 190540"/>
              <a:gd name="connsiteY17" fmla="*/ 95270 h 190539"/>
              <a:gd name="connsiteX18" fmla="*/ 95270 w 190540"/>
              <a:gd name="connsiteY18" fmla="*/ 138133 h 190539"/>
              <a:gd name="connsiteX19" fmla="*/ 138133 w 190540"/>
              <a:gd name="connsiteY19" fmla="*/ 95270 h 190539"/>
              <a:gd name="connsiteX20" fmla="*/ 135693 w 190540"/>
              <a:gd name="connsiteY20" fmla="*/ 80983 h 190539"/>
              <a:gd name="connsiteX21" fmla="*/ 150619 w 190540"/>
              <a:gd name="connsiteY21" fmla="*/ 80983 h 190539"/>
              <a:gd name="connsiteX22" fmla="*/ 152420 w 190540"/>
              <a:gd name="connsiteY22" fmla="*/ 95270 h 190539"/>
              <a:gd name="connsiteX23" fmla="*/ 95270 w 190540"/>
              <a:gd name="connsiteY23" fmla="*/ 152420 h 190539"/>
              <a:gd name="connsiteX24" fmla="*/ 38120 w 190540"/>
              <a:gd name="connsiteY24" fmla="*/ 95270 h 190539"/>
              <a:gd name="connsiteX25" fmla="*/ 95270 w 190540"/>
              <a:gd name="connsiteY25" fmla="*/ 38120 h 190539"/>
              <a:gd name="connsiteX26" fmla="*/ 114320 w 190540"/>
              <a:gd name="connsiteY26" fmla="*/ 95270 h 190539"/>
              <a:gd name="connsiteX27" fmla="*/ 95270 w 190540"/>
              <a:gd name="connsiteY27" fmla="*/ 114320 h 190539"/>
              <a:gd name="connsiteX28" fmla="*/ 76220 w 190540"/>
              <a:gd name="connsiteY28" fmla="*/ 95270 h 190539"/>
              <a:gd name="connsiteX29" fmla="*/ 95270 w 190540"/>
              <a:gd name="connsiteY29" fmla="*/ 76220 h 190539"/>
              <a:gd name="connsiteX30" fmla="*/ 102722 w 190540"/>
              <a:gd name="connsiteY30" fmla="*/ 77733 h 190539"/>
              <a:gd name="connsiteX31" fmla="*/ 119101 w 190540"/>
              <a:gd name="connsiteY31" fmla="*/ 61354 h 190539"/>
              <a:gd name="connsiteX32" fmla="*/ 119100 w 190540"/>
              <a:gd name="connsiteY32" fmla="*/ 30977 h 190539"/>
              <a:gd name="connsiteX33" fmla="*/ 121192 w 190540"/>
              <a:gd name="connsiteY33" fmla="*/ 25925 h 190539"/>
              <a:gd name="connsiteX34" fmla="*/ 145004 w 190540"/>
              <a:gd name="connsiteY34" fmla="*/ 2112 h 190539"/>
              <a:gd name="connsiteX35" fmla="*/ 152789 w 190540"/>
              <a:gd name="connsiteY35" fmla="*/ 563 h 190539"/>
              <a:gd name="connsiteX36" fmla="*/ 157199 w 190540"/>
              <a:gd name="connsiteY36" fmla="*/ 7163 h 190539"/>
              <a:gd name="connsiteX37" fmla="*/ 157199 w 190540"/>
              <a:gd name="connsiteY37" fmla="*/ 33357 h 190539"/>
              <a:gd name="connsiteX38" fmla="*/ 183394 w 190540"/>
              <a:gd name="connsiteY38" fmla="*/ 33358 h 190539"/>
              <a:gd name="connsiteX39" fmla="*/ 189994 w 190540"/>
              <a:gd name="connsiteY39" fmla="*/ 37768 h 190539"/>
              <a:gd name="connsiteX40" fmla="*/ 188447 w 190540"/>
              <a:gd name="connsiteY40" fmla="*/ 45553 h 190539"/>
              <a:gd name="connsiteX41" fmla="*/ 164633 w 190540"/>
              <a:gd name="connsiteY41" fmla="*/ 69365 h 190539"/>
              <a:gd name="connsiteX42" fmla="*/ 159582 w 190540"/>
              <a:gd name="connsiteY42" fmla="*/ 71458 h 190539"/>
              <a:gd name="connsiteX43" fmla="*/ 129203 w 190540"/>
              <a:gd name="connsiteY43" fmla="*/ 71458 h 190539"/>
              <a:gd name="connsiteX44" fmla="*/ 112818 w 190540"/>
              <a:gd name="connsiteY44" fmla="*/ 87843 h 190539"/>
              <a:gd name="connsiteX45" fmla="*/ 114320 w 190540"/>
              <a:gd name="connsiteY45" fmla="*/ 95270 h 190539"/>
              <a:gd name="connsiteX46" fmla="*/ 156623 w 190540"/>
              <a:gd name="connsiteY46" fmla="*/ 57170 h 190539"/>
              <a:gd name="connsiteX47" fmla="*/ 166148 w 190540"/>
              <a:gd name="connsiteY47" fmla="*/ 47645 h 190539"/>
              <a:gd name="connsiteX48" fmla="*/ 150055 w 190540"/>
              <a:gd name="connsiteY48" fmla="*/ 47645 h 190539"/>
              <a:gd name="connsiteX49" fmla="*/ 142911 w 190540"/>
              <a:gd name="connsiteY49" fmla="*/ 40501 h 190539"/>
              <a:gd name="connsiteX50" fmla="*/ 142911 w 190540"/>
              <a:gd name="connsiteY50" fmla="*/ 24410 h 190539"/>
              <a:gd name="connsiteX51" fmla="*/ 133387 w 190540"/>
              <a:gd name="connsiteY51" fmla="*/ 33935 h 190539"/>
              <a:gd name="connsiteX52" fmla="*/ 133388 w 190540"/>
              <a:gd name="connsiteY52" fmla="*/ 56609 h 190539"/>
              <a:gd name="connsiteX53" fmla="*/ 133676 w 190540"/>
              <a:gd name="connsiteY53" fmla="*/ 56881 h 190539"/>
              <a:gd name="connsiteX54" fmla="*/ 133949 w 190540"/>
              <a:gd name="connsiteY54" fmla="*/ 57170 h 190539"/>
              <a:gd name="connsiteX55" fmla="*/ 156623 w 190540"/>
              <a:gd name="connsiteY55" fmla="*/ 57170 h 19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90540" h="190539">
                <a:moveTo>
                  <a:pt x="95270" y="0"/>
                </a:moveTo>
                <a:cubicBezTo>
                  <a:pt x="106735" y="0"/>
                  <a:pt x="117727" y="2025"/>
                  <a:pt x="127908" y="5738"/>
                </a:cubicBezTo>
                <a:lnTo>
                  <a:pt x="116538" y="17109"/>
                </a:lnTo>
                <a:cubicBezTo>
                  <a:pt x="109760" y="15269"/>
                  <a:pt x="102630" y="14288"/>
                  <a:pt x="95270" y="14288"/>
                </a:cubicBezTo>
                <a:cubicBezTo>
                  <a:pt x="50545" y="14288"/>
                  <a:pt x="14287" y="50545"/>
                  <a:pt x="14287" y="95270"/>
                </a:cubicBezTo>
                <a:cubicBezTo>
                  <a:pt x="14287" y="139995"/>
                  <a:pt x="50545" y="176252"/>
                  <a:pt x="95270" y="176252"/>
                </a:cubicBezTo>
                <a:cubicBezTo>
                  <a:pt x="139996" y="176252"/>
                  <a:pt x="176253" y="139995"/>
                  <a:pt x="176253" y="95270"/>
                </a:cubicBezTo>
                <a:cubicBezTo>
                  <a:pt x="176253" y="87920"/>
                  <a:pt x="175273" y="80799"/>
                  <a:pt x="173439" y="74030"/>
                </a:cubicBezTo>
                <a:lnTo>
                  <a:pt x="184812" y="62657"/>
                </a:lnTo>
                <a:cubicBezTo>
                  <a:pt x="188518" y="72831"/>
                  <a:pt x="190540" y="83815"/>
                  <a:pt x="190540" y="95270"/>
                </a:cubicBezTo>
                <a:cubicBezTo>
                  <a:pt x="190540" y="147887"/>
                  <a:pt x="147886" y="190540"/>
                  <a:pt x="95270" y="190540"/>
                </a:cubicBezTo>
                <a:cubicBezTo>
                  <a:pt x="42654" y="190540"/>
                  <a:pt x="0" y="147887"/>
                  <a:pt x="0" y="95270"/>
                </a:cubicBezTo>
                <a:cubicBezTo>
                  <a:pt x="0" y="42654"/>
                  <a:pt x="42654" y="0"/>
                  <a:pt x="95270" y="0"/>
                </a:cubicBezTo>
                <a:close/>
                <a:moveTo>
                  <a:pt x="95270" y="38120"/>
                </a:moveTo>
                <a:cubicBezTo>
                  <a:pt x="100210" y="38120"/>
                  <a:pt x="105003" y="38747"/>
                  <a:pt x="109575" y="39925"/>
                </a:cubicBezTo>
                <a:lnTo>
                  <a:pt x="109576" y="54853"/>
                </a:lnTo>
                <a:cubicBezTo>
                  <a:pt x="105102" y="53269"/>
                  <a:pt x="100286" y="52408"/>
                  <a:pt x="95270" y="52408"/>
                </a:cubicBezTo>
                <a:cubicBezTo>
                  <a:pt x="71598" y="52408"/>
                  <a:pt x="52407" y="71598"/>
                  <a:pt x="52407" y="95270"/>
                </a:cubicBezTo>
                <a:cubicBezTo>
                  <a:pt x="52407" y="118942"/>
                  <a:pt x="71598" y="138133"/>
                  <a:pt x="95270" y="138133"/>
                </a:cubicBezTo>
                <a:cubicBezTo>
                  <a:pt x="118942" y="138133"/>
                  <a:pt x="138133" y="118942"/>
                  <a:pt x="138133" y="95270"/>
                </a:cubicBezTo>
                <a:cubicBezTo>
                  <a:pt x="138133" y="90260"/>
                  <a:pt x="137272" y="85451"/>
                  <a:pt x="135693" y="80983"/>
                </a:cubicBezTo>
                <a:lnTo>
                  <a:pt x="150619" y="80983"/>
                </a:lnTo>
                <a:cubicBezTo>
                  <a:pt x="151794" y="85549"/>
                  <a:pt x="152420" y="90337"/>
                  <a:pt x="152420" y="95270"/>
                </a:cubicBezTo>
                <a:cubicBezTo>
                  <a:pt x="152420" y="126833"/>
                  <a:pt x="126833" y="152420"/>
                  <a:pt x="95270" y="152420"/>
                </a:cubicBezTo>
                <a:cubicBezTo>
                  <a:pt x="63707" y="152420"/>
                  <a:pt x="38120" y="126833"/>
                  <a:pt x="38120" y="95270"/>
                </a:cubicBezTo>
                <a:cubicBezTo>
                  <a:pt x="38120" y="63707"/>
                  <a:pt x="63707" y="38120"/>
                  <a:pt x="95270" y="38120"/>
                </a:cubicBezTo>
                <a:close/>
                <a:moveTo>
                  <a:pt x="114320" y="95270"/>
                </a:moveTo>
                <a:cubicBezTo>
                  <a:pt x="114320" y="105791"/>
                  <a:pt x="105790" y="114320"/>
                  <a:pt x="95270" y="114320"/>
                </a:cubicBezTo>
                <a:cubicBezTo>
                  <a:pt x="84749" y="114320"/>
                  <a:pt x="76220" y="105791"/>
                  <a:pt x="76220" y="95270"/>
                </a:cubicBezTo>
                <a:cubicBezTo>
                  <a:pt x="76220" y="84749"/>
                  <a:pt x="84749" y="76220"/>
                  <a:pt x="95270" y="76220"/>
                </a:cubicBezTo>
                <a:cubicBezTo>
                  <a:pt x="97914" y="76220"/>
                  <a:pt x="100433" y="76759"/>
                  <a:pt x="102722" y="77733"/>
                </a:cubicBezTo>
                <a:lnTo>
                  <a:pt x="119101" y="61354"/>
                </a:lnTo>
                <a:lnTo>
                  <a:pt x="119100" y="30977"/>
                </a:lnTo>
                <a:cubicBezTo>
                  <a:pt x="119100" y="29082"/>
                  <a:pt x="119852" y="27265"/>
                  <a:pt x="121192" y="25925"/>
                </a:cubicBezTo>
                <a:lnTo>
                  <a:pt x="145004" y="2112"/>
                </a:lnTo>
                <a:cubicBezTo>
                  <a:pt x="147047" y="69"/>
                  <a:pt x="150120" y="-542"/>
                  <a:pt x="152789" y="563"/>
                </a:cubicBezTo>
                <a:cubicBezTo>
                  <a:pt x="155459" y="1669"/>
                  <a:pt x="157199" y="4274"/>
                  <a:pt x="157199" y="7163"/>
                </a:cubicBezTo>
                <a:lnTo>
                  <a:pt x="157199" y="33357"/>
                </a:lnTo>
                <a:lnTo>
                  <a:pt x="183394" y="33358"/>
                </a:lnTo>
                <a:cubicBezTo>
                  <a:pt x="186284" y="33358"/>
                  <a:pt x="188889" y="35098"/>
                  <a:pt x="189994" y="37768"/>
                </a:cubicBezTo>
                <a:cubicBezTo>
                  <a:pt x="191100" y="40437"/>
                  <a:pt x="190490" y="43510"/>
                  <a:pt x="188447" y="45553"/>
                </a:cubicBezTo>
                <a:lnTo>
                  <a:pt x="164633" y="69365"/>
                </a:lnTo>
                <a:cubicBezTo>
                  <a:pt x="163293" y="70705"/>
                  <a:pt x="161476" y="71458"/>
                  <a:pt x="159582" y="71458"/>
                </a:cubicBezTo>
                <a:lnTo>
                  <a:pt x="129203" y="71458"/>
                </a:lnTo>
                <a:lnTo>
                  <a:pt x="112818" y="87843"/>
                </a:lnTo>
                <a:cubicBezTo>
                  <a:pt x="113785" y="90125"/>
                  <a:pt x="114320" y="92635"/>
                  <a:pt x="114320" y="95270"/>
                </a:cubicBezTo>
                <a:close/>
                <a:moveTo>
                  <a:pt x="156623" y="57170"/>
                </a:moveTo>
                <a:lnTo>
                  <a:pt x="166148" y="47645"/>
                </a:lnTo>
                <a:lnTo>
                  <a:pt x="150055" y="47645"/>
                </a:lnTo>
                <a:cubicBezTo>
                  <a:pt x="146110" y="47645"/>
                  <a:pt x="142911" y="44446"/>
                  <a:pt x="142911" y="40501"/>
                </a:cubicBezTo>
                <a:lnTo>
                  <a:pt x="142911" y="24410"/>
                </a:lnTo>
                <a:lnTo>
                  <a:pt x="133387" y="33935"/>
                </a:lnTo>
                <a:lnTo>
                  <a:pt x="133388" y="56609"/>
                </a:lnTo>
                <a:cubicBezTo>
                  <a:pt x="133486" y="56696"/>
                  <a:pt x="133583" y="56787"/>
                  <a:pt x="133676" y="56881"/>
                </a:cubicBezTo>
                <a:cubicBezTo>
                  <a:pt x="133770" y="56976"/>
                  <a:pt x="133862" y="57072"/>
                  <a:pt x="133949" y="57170"/>
                </a:cubicBezTo>
                <a:lnTo>
                  <a:pt x="156623" y="57170"/>
                </a:ln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
        <p:nvSpPr>
          <p:cNvPr id="68" name="Graphic 16">
            <a:extLst>
              <a:ext uri="{FF2B5EF4-FFF2-40B4-BE49-F238E27FC236}">
                <a16:creationId xmlns:a16="http://schemas.microsoft.com/office/drawing/2014/main" id="{D8DA318A-F7E4-AA19-3110-95D7E277F5F6}"/>
              </a:ext>
              <a:ext uri="{C183D7F6-B498-43B3-948B-1728B52AA6E4}">
                <adec:decorative xmlns:adec="http://schemas.microsoft.com/office/drawing/2017/decorative" val="1"/>
              </a:ext>
            </a:extLst>
          </p:cNvPr>
          <p:cNvSpPr/>
          <p:nvPr/>
        </p:nvSpPr>
        <p:spPr>
          <a:xfrm>
            <a:off x="10529609" y="3282291"/>
            <a:ext cx="317392" cy="302280"/>
          </a:xfrm>
          <a:custGeom>
            <a:avLst/>
            <a:gdLst>
              <a:gd name="connsiteX0" fmla="*/ 33338 w 200025"/>
              <a:gd name="connsiteY0" fmla="*/ 38100 h 190500"/>
              <a:gd name="connsiteX1" fmla="*/ 57150 w 200025"/>
              <a:gd name="connsiteY1" fmla="*/ 14288 h 190500"/>
              <a:gd name="connsiteX2" fmla="*/ 80963 w 200025"/>
              <a:gd name="connsiteY2" fmla="*/ 38100 h 190500"/>
              <a:gd name="connsiteX3" fmla="*/ 57150 w 200025"/>
              <a:gd name="connsiteY3" fmla="*/ 61913 h 190500"/>
              <a:gd name="connsiteX4" fmla="*/ 33338 w 200025"/>
              <a:gd name="connsiteY4" fmla="*/ 38100 h 190500"/>
              <a:gd name="connsiteX5" fmla="*/ 57150 w 200025"/>
              <a:gd name="connsiteY5" fmla="*/ 0 h 190500"/>
              <a:gd name="connsiteX6" fmla="*/ 19050 w 200025"/>
              <a:gd name="connsiteY6" fmla="*/ 38100 h 190500"/>
              <a:gd name="connsiteX7" fmla="*/ 57150 w 200025"/>
              <a:gd name="connsiteY7" fmla="*/ 76200 h 190500"/>
              <a:gd name="connsiteX8" fmla="*/ 95250 w 200025"/>
              <a:gd name="connsiteY8" fmla="*/ 38100 h 190500"/>
              <a:gd name="connsiteX9" fmla="*/ 57150 w 200025"/>
              <a:gd name="connsiteY9" fmla="*/ 0 h 190500"/>
              <a:gd name="connsiteX10" fmla="*/ 128588 w 200025"/>
              <a:gd name="connsiteY10" fmla="*/ 47625 h 190500"/>
              <a:gd name="connsiteX11" fmla="*/ 142875 w 200025"/>
              <a:gd name="connsiteY11" fmla="*/ 33338 h 190500"/>
              <a:gd name="connsiteX12" fmla="*/ 157163 w 200025"/>
              <a:gd name="connsiteY12" fmla="*/ 47625 h 190500"/>
              <a:gd name="connsiteX13" fmla="*/ 142875 w 200025"/>
              <a:gd name="connsiteY13" fmla="*/ 61913 h 190500"/>
              <a:gd name="connsiteX14" fmla="*/ 128588 w 200025"/>
              <a:gd name="connsiteY14" fmla="*/ 47625 h 190500"/>
              <a:gd name="connsiteX15" fmla="*/ 142875 w 200025"/>
              <a:gd name="connsiteY15" fmla="*/ 19050 h 190500"/>
              <a:gd name="connsiteX16" fmla="*/ 114300 w 200025"/>
              <a:gd name="connsiteY16" fmla="*/ 47625 h 190500"/>
              <a:gd name="connsiteX17" fmla="*/ 142875 w 200025"/>
              <a:gd name="connsiteY17" fmla="*/ 76200 h 190500"/>
              <a:gd name="connsiteX18" fmla="*/ 171450 w 200025"/>
              <a:gd name="connsiteY18" fmla="*/ 47625 h 190500"/>
              <a:gd name="connsiteX19" fmla="*/ 142875 w 200025"/>
              <a:gd name="connsiteY19" fmla="*/ 19050 h 190500"/>
              <a:gd name="connsiteX20" fmla="*/ 21431 w 200025"/>
              <a:gd name="connsiteY20" fmla="*/ 95250 h 190500"/>
              <a:gd name="connsiteX21" fmla="*/ 0 w 200025"/>
              <a:gd name="connsiteY21" fmla="*/ 116681 h 190500"/>
              <a:gd name="connsiteX22" fmla="*/ 0 w 200025"/>
              <a:gd name="connsiteY22" fmla="*/ 119073 h 190500"/>
              <a:gd name="connsiteX23" fmla="*/ 0 w 200025"/>
              <a:gd name="connsiteY23" fmla="*/ 119083 h 190500"/>
              <a:gd name="connsiteX24" fmla="*/ 0 w 200025"/>
              <a:gd name="connsiteY24" fmla="*/ 119108 h 190500"/>
              <a:gd name="connsiteX25" fmla="*/ 1 w 200025"/>
              <a:gd name="connsiteY25" fmla="*/ 119168 h 190500"/>
              <a:gd name="connsiteX26" fmla="*/ 3 w 200025"/>
              <a:gd name="connsiteY26" fmla="*/ 119326 h 190500"/>
              <a:gd name="connsiteX27" fmla="*/ 20 w 200025"/>
              <a:gd name="connsiteY27" fmla="*/ 119797 h 190500"/>
              <a:gd name="connsiteX28" fmla="*/ 133 w 200025"/>
              <a:gd name="connsiteY28" fmla="*/ 121308 h 190500"/>
              <a:gd name="connsiteX29" fmla="*/ 968 w 200025"/>
              <a:gd name="connsiteY29" fmla="*/ 126267 h 190500"/>
              <a:gd name="connsiteX30" fmla="*/ 7542 w 200025"/>
              <a:gd name="connsiteY30" fmla="*/ 141019 h 190500"/>
              <a:gd name="connsiteX31" fmla="*/ 57150 w 200025"/>
              <a:gd name="connsiteY31" fmla="*/ 161925 h 190500"/>
              <a:gd name="connsiteX32" fmla="*/ 88352 w 200025"/>
              <a:gd name="connsiteY32" fmla="*/ 156013 h 190500"/>
              <a:gd name="connsiteX33" fmla="*/ 85803 w 200025"/>
              <a:gd name="connsiteY33" fmla="*/ 141255 h 190500"/>
              <a:gd name="connsiteX34" fmla="*/ 57150 w 200025"/>
              <a:gd name="connsiteY34" fmla="*/ 147638 h 190500"/>
              <a:gd name="connsiteX35" fmla="*/ 19247 w 200025"/>
              <a:gd name="connsiteY35" fmla="*/ 132825 h 190500"/>
              <a:gd name="connsiteX36" fmla="*/ 14882 w 200025"/>
              <a:gd name="connsiteY36" fmla="*/ 123020 h 190500"/>
              <a:gd name="connsiteX37" fmla="*/ 14350 w 200025"/>
              <a:gd name="connsiteY37" fmla="*/ 119886 h 190500"/>
              <a:gd name="connsiteX38" fmla="*/ 14292 w 200025"/>
              <a:gd name="connsiteY38" fmla="*/ 119131 h 190500"/>
              <a:gd name="connsiteX39" fmla="*/ 14288 w 200025"/>
              <a:gd name="connsiteY39" fmla="*/ 119012 h 190500"/>
              <a:gd name="connsiteX40" fmla="*/ 14288 w 200025"/>
              <a:gd name="connsiteY40" fmla="*/ 116681 h 190500"/>
              <a:gd name="connsiteX41" fmla="*/ 21431 w 200025"/>
              <a:gd name="connsiteY41" fmla="*/ 109538 h 190500"/>
              <a:gd name="connsiteX42" fmla="*/ 92699 w 200025"/>
              <a:gd name="connsiteY42" fmla="*/ 109538 h 190500"/>
              <a:gd name="connsiteX43" fmla="*/ 101351 w 200025"/>
              <a:gd name="connsiteY43" fmla="*/ 96994 h 190500"/>
              <a:gd name="connsiteX44" fmla="*/ 92869 w 200025"/>
              <a:gd name="connsiteY44" fmla="*/ 95250 h 190500"/>
              <a:gd name="connsiteX45" fmla="*/ 21431 w 200025"/>
              <a:gd name="connsiteY45" fmla="*/ 95250 h 190500"/>
              <a:gd name="connsiteX46" fmla="*/ 200025 w 200025"/>
              <a:gd name="connsiteY46" fmla="*/ 138113 h 190500"/>
              <a:gd name="connsiteX47" fmla="*/ 147638 w 200025"/>
              <a:gd name="connsiteY47" fmla="*/ 190500 h 190500"/>
              <a:gd name="connsiteX48" fmla="*/ 95250 w 200025"/>
              <a:gd name="connsiteY48" fmla="*/ 138113 h 190500"/>
              <a:gd name="connsiteX49" fmla="*/ 147638 w 200025"/>
              <a:gd name="connsiteY49" fmla="*/ 85725 h 190500"/>
              <a:gd name="connsiteX50" fmla="*/ 200025 w 200025"/>
              <a:gd name="connsiteY50" fmla="*/ 138113 h 190500"/>
              <a:gd name="connsiteX51" fmla="*/ 179581 w 200025"/>
              <a:gd name="connsiteY51" fmla="*/ 115694 h 190500"/>
              <a:gd name="connsiteX52" fmla="*/ 172844 w 200025"/>
              <a:gd name="connsiteY52" fmla="*/ 115694 h 190500"/>
              <a:gd name="connsiteX53" fmla="*/ 138113 w 200025"/>
              <a:gd name="connsiteY53" fmla="*/ 150427 h 190500"/>
              <a:gd name="connsiteX54" fmla="*/ 122431 w 200025"/>
              <a:gd name="connsiteY54" fmla="*/ 134744 h 190500"/>
              <a:gd name="connsiteX55" fmla="*/ 115694 w 200025"/>
              <a:gd name="connsiteY55" fmla="*/ 134744 h 190500"/>
              <a:gd name="connsiteX56" fmla="*/ 115694 w 200025"/>
              <a:gd name="connsiteY56" fmla="*/ 141481 h 190500"/>
              <a:gd name="connsiteX57" fmla="*/ 134744 w 200025"/>
              <a:gd name="connsiteY57" fmla="*/ 160531 h 190500"/>
              <a:gd name="connsiteX58" fmla="*/ 141481 w 200025"/>
              <a:gd name="connsiteY58" fmla="*/ 160531 h 190500"/>
              <a:gd name="connsiteX59" fmla="*/ 179581 w 200025"/>
              <a:gd name="connsiteY59" fmla="*/ 122431 h 190500"/>
              <a:gd name="connsiteX60" fmla="*/ 179581 w 200025"/>
              <a:gd name="connsiteY60" fmla="*/ 115694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0025" h="190500">
                <a:moveTo>
                  <a:pt x="33338" y="38100"/>
                </a:moveTo>
                <a:cubicBezTo>
                  <a:pt x="33338" y="24949"/>
                  <a:pt x="43999" y="14288"/>
                  <a:pt x="57150" y="14288"/>
                </a:cubicBezTo>
                <a:cubicBezTo>
                  <a:pt x="70301" y="14288"/>
                  <a:pt x="80963" y="24949"/>
                  <a:pt x="80963" y="38100"/>
                </a:cubicBezTo>
                <a:cubicBezTo>
                  <a:pt x="80963" y="51251"/>
                  <a:pt x="70301" y="61913"/>
                  <a:pt x="57150" y="61913"/>
                </a:cubicBezTo>
                <a:cubicBezTo>
                  <a:pt x="43999" y="61913"/>
                  <a:pt x="33338" y="51251"/>
                  <a:pt x="33338" y="38100"/>
                </a:cubicBezTo>
                <a:close/>
                <a:moveTo>
                  <a:pt x="57150" y="0"/>
                </a:moveTo>
                <a:cubicBezTo>
                  <a:pt x="36108" y="0"/>
                  <a:pt x="19050" y="17058"/>
                  <a:pt x="19050" y="38100"/>
                </a:cubicBezTo>
                <a:cubicBezTo>
                  <a:pt x="19050" y="59142"/>
                  <a:pt x="36108" y="76200"/>
                  <a:pt x="57150" y="76200"/>
                </a:cubicBezTo>
                <a:cubicBezTo>
                  <a:pt x="78192" y="76200"/>
                  <a:pt x="95250" y="59142"/>
                  <a:pt x="95250" y="38100"/>
                </a:cubicBezTo>
                <a:cubicBezTo>
                  <a:pt x="95250" y="17058"/>
                  <a:pt x="78192" y="0"/>
                  <a:pt x="57150" y="0"/>
                </a:cubicBezTo>
                <a:close/>
                <a:moveTo>
                  <a:pt x="128588" y="47625"/>
                </a:moveTo>
                <a:cubicBezTo>
                  <a:pt x="128588" y="39734"/>
                  <a:pt x="134985" y="33338"/>
                  <a:pt x="142875" y="33338"/>
                </a:cubicBezTo>
                <a:cubicBezTo>
                  <a:pt x="150766" y="33338"/>
                  <a:pt x="157163" y="39734"/>
                  <a:pt x="157163" y="47625"/>
                </a:cubicBezTo>
                <a:cubicBezTo>
                  <a:pt x="157163" y="55516"/>
                  <a:pt x="150766" y="61913"/>
                  <a:pt x="142875" y="61913"/>
                </a:cubicBezTo>
                <a:cubicBezTo>
                  <a:pt x="134985" y="61913"/>
                  <a:pt x="128588" y="55516"/>
                  <a:pt x="128588" y="47625"/>
                </a:cubicBezTo>
                <a:close/>
                <a:moveTo>
                  <a:pt x="142875" y="19050"/>
                </a:moveTo>
                <a:cubicBezTo>
                  <a:pt x="127093" y="19050"/>
                  <a:pt x="114300" y="31844"/>
                  <a:pt x="114300" y="47625"/>
                </a:cubicBezTo>
                <a:cubicBezTo>
                  <a:pt x="114300" y="63406"/>
                  <a:pt x="127093" y="76200"/>
                  <a:pt x="142875" y="76200"/>
                </a:cubicBezTo>
                <a:cubicBezTo>
                  <a:pt x="158657" y="76200"/>
                  <a:pt x="171450" y="63406"/>
                  <a:pt x="171450" y="47625"/>
                </a:cubicBezTo>
                <a:cubicBezTo>
                  <a:pt x="171450" y="31844"/>
                  <a:pt x="158657" y="19050"/>
                  <a:pt x="142875" y="19050"/>
                </a:cubicBezTo>
                <a:close/>
                <a:moveTo>
                  <a:pt x="21431" y="95250"/>
                </a:moveTo>
                <a:cubicBezTo>
                  <a:pt x="9595" y="95250"/>
                  <a:pt x="0" y="104845"/>
                  <a:pt x="0" y="116681"/>
                </a:cubicBezTo>
                <a:lnTo>
                  <a:pt x="0" y="119073"/>
                </a:lnTo>
                <a:lnTo>
                  <a:pt x="0" y="119083"/>
                </a:lnTo>
                <a:lnTo>
                  <a:pt x="0" y="119108"/>
                </a:lnTo>
                <a:lnTo>
                  <a:pt x="1" y="119168"/>
                </a:lnTo>
                <a:lnTo>
                  <a:pt x="3" y="119326"/>
                </a:lnTo>
                <a:cubicBezTo>
                  <a:pt x="6" y="119449"/>
                  <a:pt x="11" y="119606"/>
                  <a:pt x="20" y="119797"/>
                </a:cubicBezTo>
                <a:cubicBezTo>
                  <a:pt x="38" y="120176"/>
                  <a:pt x="71" y="120687"/>
                  <a:pt x="133" y="121308"/>
                </a:cubicBezTo>
                <a:cubicBezTo>
                  <a:pt x="257" y="122550"/>
                  <a:pt x="498" y="124254"/>
                  <a:pt x="968" y="126267"/>
                </a:cubicBezTo>
                <a:cubicBezTo>
                  <a:pt x="1905" y="130279"/>
                  <a:pt x="3777" y="135640"/>
                  <a:pt x="7542" y="141019"/>
                </a:cubicBezTo>
                <a:cubicBezTo>
                  <a:pt x="15342" y="152161"/>
                  <a:pt x="30211" y="161925"/>
                  <a:pt x="57150" y="161925"/>
                </a:cubicBezTo>
                <a:cubicBezTo>
                  <a:pt x="70189" y="161925"/>
                  <a:pt x="80401" y="159637"/>
                  <a:pt x="88352" y="156013"/>
                </a:cubicBezTo>
                <a:cubicBezTo>
                  <a:pt x="86933" y="151306"/>
                  <a:pt x="86058" y="146361"/>
                  <a:pt x="85803" y="141255"/>
                </a:cubicBezTo>
                <a:cubicBezTo>
                  <a:pt x="79660" y="144883"/>
                  <a:pt x="70606" y="147638"/>
                  <a:pt x="57150" y="147638"/>
                </a:cubicBezTo>
                <a:cubicBezTo>
                  <a:pt x="34083" y="147638"/>
                  <a:pt x="23949" y="139542"/>
                  <a:pt x="19247" y="132825"/>
                </a:cubicBezTo>
                <a:cubicBezTo>
                  <a:pt x="16761" y="129274"/>
                  <a:pt x="15508" y="125705"/>
                  <a:pt x="14882" y="123020"/>
                </a:cubicBezTo>
                <a:cubicBezTo>
                  <a:pt x="14570" y="121685"/>
                  <a:pt x="14421" y="120598"/>
                  <a:pt x="14350" y="119886"/>
                </a:cubicBezTo>
                <a:cubicBezTo>
                  <a:pt x="14314" y="119532"/>
                  <a:pt x="14299" y="119274"/>
                  <a:pt x="14292" y="119131"/>
                </a:cubicBezTo>
                <a:lnTo>
                  <a:pt x="14288" y="119012"/>
                </a:lnTo>
                <a:lnTo>
                  <a:pt x="14288" y="116681"/>
                </a:lnTo>
                <a:cubicBezTo>
                  <a:pt x="14288" y="112736"/>
                  <a:pt x="17486" y="109538"/>
                  <a:pt x="21431" y="109538"/>
                </a:cubicBezTo>
                <a:lnTo>
                  <a:pt x="92699" y="109538"/>
                </a:lnTo>
                <a:cubicBezTo>
                  <a:pt x="95066" y="104997"/>
                  <a:pt x="97979" y="100787"/>
                  <a:pt x="101351" y="96994"/>
                </a:cubicBezTo>
                <a:cubicBezTo>
                  <a:pt x="98749" y="95872"/>
                  <a:pt x="95882" y="95250"/>
                  <a:pt x="92869" y="95250"/>
                </a:cubicBezTo>
                <a:lnTo>
                  <a:pt x="21431" y="95250"/>
                </a:lnTo>
                <a:close/>
                <a:moveTo>
                  <a:pt x="200025" y="138113"/>
                </a:moveTo>
                <a:cubicBezTo>
                  <a:pt x="200025" y="167046"/>
                  <a:pt x="176571" y="190500"/>
                  <a:pt x="147638" y="190500"/>
                </a:cubicBezTo>
                <a:cubicBezTo>
                  <a:pt x="118704" y="190500"/>
                  <a:pt x="95250" y="167046"/>
                  <a:pt x="95250" y="138113"/>
                </a:cubicBezTo>
                <a:cubicBezTo>
                  <a:pt x="95250" y="109179"/>
                  <a:pt x="118704" y="85725"/>
                  <a:pt x="147638" y="85725"/>
                </a:cubicBezTo>
                <a:cubicBezTo>
                  <a:pt x="176571" y="85725"/>
                  <a:pt x="200025" y="109179"/>
                  <a:pt x="200025" y="138113"/>
                </a:cubicBezTo>
                <a:close/>
                <a:moveTo>
                  <a:pt x="179581" y="115694"/>
                </a:moveTo>
                <a:cubicBezTo>
                  <a:pt x="177720" y="113835"/>
                  <a:pt x="174705" y="113835"/>
                  <a:pt x="172844" y="115694"/>
                </a:cubicBezTo>
                <a:lnTo>
                  <a:pt x="138113" y="150427"/>
                </a:lnTo>
                <a:lnTo>
                  <a:pt x="122431" y="134744"/>
                </a:lnTo>
                <a:cubicBezTo>
                  <a:pt x="120570" y="132885"/>
                  <a:pt x="117555" y="132885"/>
                  <a:pt x="115694" y="134744"/>
                </a:cubicBezTo>
                <a:cubicBezTo>
                  <a:pt x="113835" y="136605"/>
                  <a:pt x="113835" y="139620"/>
                  <a:pt x="115694" y="141481"/>
                </a:cubicBezTo>
                <a:lnTo>
                  <a:pt x="134744" y="160531"/>
                </a:lnTo>
                <a:cubicBezTo>
                  <a:pt x="136605" y="162390"/>
                  <a:pt x="139620" y="162390"/>
                  <a:pt x="141481" y="160531"/>
                </a:cubicBezTo>
                <a:lnTo>
                  <a:pt x="179581" y="122431"/>
                </a:lnTo>
                <a:cubicBezTo>
                  <a:pt x="181440" y="120570"/>
                  <a:pt x="181440" y="117555"/>
                  <a:pt x="179581" y="115694"/>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
        <p:nvSpPr>
          <p:cNvPr id="69" name="Graphic 22">
            <a:extLst>
              <a:ext uri="{FF2B5EF4-FFF2-40B4-BE49-F238E27FC236}">
                <a16:creationId xmlns:a16="http://schemas.microsoft.com/office/drawing/2014/main" id="{6FCB44DF-2CD8-ED5F-EAD2-F11E15C9F0A4}"/>
              </a:ext>
              <a:ext uri="{C183D7F6-B498-43B3-948B-1728B52AA6E4}">
                <adec:decorative xmlns:adec="http://schemas.microsoft.com/office/drawing/2017/decorative" val="1"/>
              </a:ext>
            </a:extLst>
          </p:cNvPr>
          <p:cNvSpPr/>
          <p:nvPr/>
        </p:nvSpPr>
        <p:spPr>
          <a:xfrm>
            <a:off x="3787757" y="3281667"/>
            <a:ext cx="301822" cy="301832"/>
          </a:xfrm>
          <a:custGeom>
            <a:avLst/>
            <a:gdLst>
              <a:gd name="connsiteX0" fmla="*/ 88716 w 190212"/>
              <a:gd name="connsiteY0" fmla="*/ 14265 h 190218"/>
              <a:gd name="connsiteX1" fmla="*/ 95268 w 190212"/>
              <a:gd name="connsiteY1" fmla="*/ 6576 h 190218"/>
              <a:gd name="connsiteX2" fmla="*/ 87580 w 190212"/>
              <a:gd name="connsiteY2" fmla="*/ 23 h 190218"/>
              <a:gd name="connsiteX3" fmla="*/ 0 w 190212"/>
              <a:gd name="connsiteY3" fmla="*/ 94968 h 190218"/>
              <a:gd name="connsiteX4" fmla="*/ 95250 w 190212"/>
              <a:gd name="connsiteY4" fmla="*/ 190218 h 190218"/>
              <a:gd name="connsiteX5" fmla="*/ 190189 w 190212"/>
              <a:gd name="connsiteY5" fmla="*/ 102720 h 190218"/>
              <a:gd name="connsiteX6" fmla="*/ 183642 w 190212"/>
              <a:gd name="connsiteY6" fmla="*/ 95026 h 190218"/>
              <a:gd name="connsiteX7" fmla="*/ 175948 w 190212"/>
              <a:gd name="connsiteY7" fmla="*/ 101573 h 190218"/>
              <a:gd name="connsiteX8" fmla="*/ 95250 w 190212"/>
              <a:gd name="connsiteY8" fmla="*/ 175931 h 190218"/>
              <a:gd name="connsiteX9" fmla="*/ 14288 w 190212"/>
              <a:gd name="connsiteY9" fmla="*/ 94968 h 190218"/>
              <a:gd name="connsiteX10" fmla="*/ 88716 w 190212"/>
              <a:gd name="connsiteY10" fmla="*/ 14265 h 190218"/>
              <a:gd name="connsiteX11" fmla="*/ 149516 w 190212"/>
              <a:gd name="connsiteY11" fmla="*/ 25189 h 190218"/>
              <a:gd name="connsiteX12" fmla="*/ 159609 w 190212"/>
              <a:gd name="connsiteY12" fmla="*/ 24752 h 190218"/>
              <a:gd name="connsiteX13" fmla="*/ 165483 w 190212"/>
              <a:gd name="connsiteY13" fmla="*/ 30626 h 190218"/>
              <a:gd name="connsiteX14" fmla="*/ 165043 w 190212"/>
              <a:gd name="connsiteY14" fmla="*/ 40719 h 190218"/>
              <a:gd name="connsiteX15" fmla="*/ 154950 w 190212"/>
              <a:gd name="connsiteY15" fmla="*/ 40280 h 190218"/>
              <a:gd name="connsiteX16" fmla="*/ 149953 w 190212"/>
              <a:gd name="connsiteY16" fmla="*/ 35282 h 190218"/>
              <a:gd name="connsiteX17" fmla="*/ 149516 w 190212"/>
              <a:gd name="connsiteY17" fmla="*/ 25189 h 190218"/>
              <a:gd name="connsiteX18" fmla="*/ 88106 w 190212"/>
              <a:gd name="connsiteY18" fmla="*/ 37819 h 190218"/>
              <a:gd name="connsiteX19" fmla="*/ 95184 w 190212"/>
              <a:gd name="connsiteY19" fmla="*/ 43993 h 190218"/>
              <a:gd name="connsiteX20" fmla="*/ 95250 w 190212"/>
              <a:gd name="connsiteY20" fmla="*/ 44962 h 190218"/>
              <a:gd name="connsiteX21" fmla="*/ 95250 w 190212"/>
              <a:gd name="connsiteY21" fmla="*/ 94969 h 190218"/>
              <a:gd name="connsiteX22" fmla="*/ 126206 w 190212"/>
              <a:gd name="connsiteY22" fmla="*/ 94969 h 190218"/>
              <a:gd name="connsiteX23" fmla="*/ 133350 w 190212"/>
              <a:gd name="connsiteY23" fmla="*/ 102113 h 190218"/>
              <a:gd name="connsiteX24" fmla="*/ 127175 w 190212"/>
              <a:gd name="connsiteY24" fmla="*/ 109191 h 190218"/>
              <a:gd name="connsiteX25" fmla="*/ 126206 w 190212"/>
              <a:gd name="connsiteY25" fmla="*/ 109257 h 190218"/>
              <a:gd name="connsiteX26" fmla="*/ 88106 w 190212"/>
              <a:gd name="connsiteY26" fmla="*/ 109257 h 190218"/>
              <a:gd name="connsiteX27" fmla="*/ 81028 w 190212"/>
              <a:gd name="connsiteY27" fmla="*/ 103081 h 190218"/>
              <a:gd name="connsiteX28" fmla="*/ 80963 w 190212"/>
              <a:gd name="connsiteY28" fmla="*/ 102113 h 190218"/>
              <a:gd name="connsiteX29" fmla="*/ 80963 w 190212"/>
              <a:gd name="connsiteY29" fmla="*/ 44962 h 190218"/>
              <a:gd name="connsiteX30" fmla="*/ 88106 w 190212"/>
              <a:gd name="connsiteY30" fmla="*/ 37819 h 190218"/>
              <a:gd name="connsiteX31" fmla="*/ 112214 w 190212"/>
              <a:gd name="connsiteY31" fmla="*/ 8198 h 190218"/>
              <a:gd name="connsiteX32" fmla="*/ 121021 w 190212"/>
              <a:gd name="connsiteY32" fmla="*/ 3248 h 190218"/>
              <a:gd name="connsiteX33" fmla="*/ 131253 w 190212"/>
              <a:gd name="connsiteY33" fmla="*/ 6760 h 190218"/>
              <a:gd name="connsiteX34" fmla="*/ 135165 w 190212"/>
              <a:gd name="connsiteY34" fmla="*/ 16075 h 190218"/>
              <a:gd name="connsiteX35" fmla="*/ 125849 w 190212"/>
              <a:gd name="connsiteY35" fmla="*/ 19987 h 190218"/>
              <a:gd name="connsiteX36" fmla="*/ 117163 w 190212"/>
              <a:gd name="connsiteY36" fmla="*/ 17005 h 190218"/>
              <a:gd name="connsiteX37" fmla="*/ 112214 w 190212"/>
              <a:gd name="connsiteY37" fmla="*/ 8198 h 190218"/>
              <a:gd name="connsiteX38" fmla="*/ 183440 w 190212"/>
              <a:gd name="connsiteY38" fmla="*/ 58923 h 190218"/>
              <a:gd name="connsiteX39" fmla="*/ 174124 w 190212"/>
              <a:gd name="connsiteY39" fmla="*/ 55017 h 190218"/>
              <a:gd name="connsiteX40" fmla="*/ 170217 w 190212"/>
              <a:gd name="connsiteY40" fmla="*/ 64333 h 190218"/>
              <a:gd name="connsiteX41" fmla="*/ 172579 w 190212"/>
              <a:gd name="connsiteY41" fmla="*/ 70911 h 190218"/>
              <a:gd name="connsiteX42" fmla="*/ 173210 w 190212"/>
              <a:gd name="connsiteY42" fmla="*/ 73047 h 190218"/>
              <a:gd name="connsiteX43" fmla="*/ 182018 w 190212"/>
              <a:gd name="connsiteY43" fmla="*/ 77996 h 190218"/>
              <a:gd name="connsiteX44" fmla="*/ 186966 w 190212"/>
              <a:gd name="connsiteY44" fmla="*/ 69187 h 190218"/>
              <a:gd name="connsiteX45" fmla="*/ 186222 w 190212"/>
              <a:gd name="connsiteY45" fmla="*/ 66671 h 190218"/>
              <a:gd name="connsiteX46" fmla="*/ 183440 w 190212"/>
              <a:gd name="connsiteY46" fmla="*/ 58923 h 19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90212" h="190218">
                <a:moveTo>
                  <a:pt x="88716" y="14265"/>
                </a:moveTo>
                <a:cubicBezTo>
                  <a:pt x="92649" y="13951"/>
                  <a:pt x="95582" y="10509"/>
                  <a:pt x="95268" y="6576"/>
                </a:cubicBezTo>
                <a:cubicBezTo>
                  <a:pt x="94955" y="2643"/>
                  <a:pt x="91512" y="-291"/>
                  <a:pt x="87580" y="23"/>
                </a:cubicBezTo>
                <a:cubicBezTo>
                  <a:pt x="38557" y="3933"/>
                  <a:pt x="0" y="44945"/>
                  <a:pt x="0" y="94968"/>
                </a:cubicBezTo>
                <a:cubicBezTo>
                  <a:pt x="0" y="147574"/>
                  <a:pt x="42645" y="190218"/>
                  <a:pt x="95250" y="190218"/>
                </a:cubicBezTo>
                <a:cubicBezTo>
                  <a:pt x="145246" y="190218"/>
                  <a:pt x="186239" y="151704"/>
                  <a:pt x="190189" y="102720"/>
                </a:cubicBezTo>
                <a:cubicBezTo>
                  <a:pt x="190506" y="98788"/>
                  <a:pt x="187575" y="95343"/>
                  <a:pt x="183642" y="95026"/>
                </a:cubicBezTo>
                <a:cubicBezTo>
                  <a:pt x="179709" y="94709"/>
                  <a:pt x="176265" y="97640"/>
                  <a:pt x="175948" y="101573"/>
                </a:cubicBezTo>
                <a:cubicBezTo>
                  <a:pt x="172591" y="143194"/>
                  <a:pt x="137740" y="175931"/>
                  <a:pt x="95250" y="175931"/>
                </a:cubicBezTo>
                <a:cubicBezTo>
                  <a:pt x="50536" y="175931"/>
                  <a:pt x="14288" y="139682"/>
                  <a:pt x="14288" y="94968"/>
                </a:cubicBezTo>
                <a:cubicBezTo>
                  <a:pt x="14288" y="52455"/>
                  <a:pt x="47060" y="17588"/>
                  <a:pt x="88716" y="14265"/>
                </a:cubicBezTo>
                <a:close/>
                <a:moveTo>
                  <a:pt x="149516" y="25189"/>
                </a:moveTo>
                <a:cubicBezTo>
                  <a:pt x="152183" y="22281"/>
                  <a:pt x="156701" y="22085"/>
                  <a:pt x="159609" y="24752"/>
                </a:cubicBezTo>
                <a:cubicBezTo>
                  <a:pt x="161651" y="26624"/>
                  <a:pt x="163611" y="28584"/>
                  <a:pt x="165483" y="30626"/>
                </a:cubicBezTo>
                <a:cubicBezTo>
                  <a:pt x="168149" y="33534"/>
                  <a:pt x="167951" y="38053"/>
                  <a:pt x="165043" y="40719"/>
                </a:cubicBezTo>
                <a:cubicBezTo>
                  <a:pt x="162135" y="43385"/>
                  <a:pt x="157616" y="43188"/>
                  <a:pt x="154950" y="40280"/>
                </a:cubicBezTo>
                <a:cubicBezTo>
                  <a:pt x="153357" y="38543"/>
                  <a:pt x="151690" y="36875"/>
                  <a:pt x="149953" y="35282"/>
                </a:cubicBezTo>
                <a:cubicBezTo>
                  <a:pt x="147045" y="32615"/>
                  <a:pt x="146850" y="28096"/>
                  <a:pt x="149516" y="25189"/>
                </a:cubicBezTo>
                <a:close/>
                <a:moveTo>
                  <a:pt x="88106" y="37819"/>
                </a:moveTo>
                <a:cubicBezTo>
                  <a:pt x="91721" y="37819"/>
                  <a:pt x="94712" y="40508"/>
                  <a:pt x="95184" y="43993"/>
                </a:cubicBezTo>
                <a:lnTo>
                  <a:pt x="95250" y="44962"/>
                </a:lnTo>
                <a:lnTo>
                  <a:pt x="95250" y="94969"/>
                </a:lnTo>
                <a:lnTo>
                  <a:pt x="126206" y="94969"/>
                </a:lnTo>
                <a:cubicBezTo>
                  <a:pt x="130150" y="94969"/>
                  <a:pt x="133350" y="98169"/>
                  <a:pt x="133350" y="102113"/>
                </a:cubicBezTo>
                <a:cubicBezTo>
                  <a:pt x="133350" y="105728"/>
                  <a:pt x="130661" y="108717"/>
                  <a:pt x="127175" y="109191"/>
                </a:cubicBezTo>
                <a:lnTo>
                  <a:pt x="126206" y="109257"/>
                </a:lnTo>
                <a:lnTo>
                  <a:pt x="88106" y="109257"/>
                </a:lnTo>
                <a:cubicBezTo>
                  <a:pt x="84492" y="109257"/>
                  <a:pt x="81501" y="106567"/>
                  <a:pt x="81028" y="103081"/>
                </a:cubicBezTo>
                <a:lnTo>
                  <a:pt x="80963" y="102113"/>
                </a:lnTo>
                <a:lnTo>
                  <a:pt x="80963" y="44962"/>
                </a:lnTo>
                <a:cubicBezTo>
                  <a:pt x="80963" y="41019"/>
                  <a:pt x="84163" y="37819"/>
                  <a:pt x="88106" y="37819"/>
                </a:cubicBezTo>
                <a:close/>
                <a:moveTo>
                  <a:pt x="112214" y="8198"/>
                </a:moveTo>
                <a:cubicBezTo>
                  <a:pt x="113279" y="4399"/>
                  <a:pt x="117222" y="2183"/>
                  <a:pt x="121021" y="3248"/>
                </a:cubicBezTo>
                <a:cubicBezTo>
                  <a:pt x="124517" y="4229"/>
                  <a:pt x="127932" y="5404"/>
                  <a:pt x="131253" y="6760"/>
                </a:cubicBezTo>
                <a:cubicBezTo>
                  <a:pt x="134905" y="8253"/>
                  <a:pt x="136656" y="12423"/>
                  <a:pt x="135165" y="16075"/>
                </a:cubicBezTo>
                <a:cubicBezTo>
                  <a:pt x="133672" y="19728"/>
                  <a:pt x="129502" y="21479"/>
                  <a:pt x="125849" y="19987"/>
                </a:cubicBezTo>
                <a:cubicBezTo>
                  <a:pt x="123030" y="18835"/>
                  <a:pt x="120131" y="17838"/>
                  <a:pt x="117163" y="17005"/>
                </a:cubicBezTo>
                <a:cubicBezTo>
                  <a:pt x="113365" y="15940"/>
                  <a:pt x="111148" y="11997"/>
                  <a:pt x="112214" y="8198"/>
                </a:cubicBezTo>
                <a:close/>
                <a:moveTo>
                  <a:pt x="183440" y="58923"/>
                </a:moveTo>
                <a:cubicBezTo>
                  <a:pt x="181947" y="55272"/>
                  <a:pt x="177775" y="53523"/>
                  <a:pt x="174124" y="55017"/>
                </a:cubicBezTo>
                <a:cubicBezTo>
                  <a:pt x="170472" y="56510"/>
                  <a:pt x="168723" y="60682"/>
                  <a:pt x="170217" y="64333"/>
                </a:cubicBezTo>
                <a:cubicBezTo>
                  <a:pt x="171096" y="66481"/>
                  <a:pt x="171884" y="68675"/>
                  <a:pt x="172579" y="70911"/>
                </a:cubicBezTo>
                <a:cubicBezTo>
                  <a:pt x="172799" y="71619"/>
                  <a:pt x="173009" y="72331"/>
                  <a:pt x="173210" y="73047"/>
                </a:cubicBezTo>
                <a:cubicBezTo>
                  <a:pt x="174276" y="76846"/>
                  <a:pt x="178219" y="79061"/>
                  <a:pt x="182018" y="77996"/>
                </a:cubicBezTo>
                <a:cubicBezTo>
                  <a:pt x="185817" y="76930"/>
                  <a:pt x="188032" y="72986"/>
                  <a:pt x="186966" y="69187"/>
                </a:cubicBezTo>
                <a:cubicBezTo>
                  <a:pt x="186730" y="68344"/>
                  <a:pt x="186482" y="67505"/>
                  <a:pt x="186222" y="66671"/>
                </a:cubicBezTo>
                <a:cubicBezTo>
                  <a:pt x="185404" y="64037"/>
                  <a:pt x="184475" y="61453"/>
                  <a:pt x="183440" y="58923"/>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
        <p:nvSpPr>
          <p:cNvPr id="70" name="Freeform: Shape 69">
            <a:extLst>
              <a:ext uri="{FF2B5EF4-FFF2-40B4-BE49-F238E27FC236}">
                <a16:creationId xmlns:a16="http://schemas.microsoft.com/office/drawing/2014/main" id="{02777BC3-5DF0-10E4-AEA6-F5CBF03EC84C}"/>
              </a:ext>
              <a:ext uri="{C183D7F6-B498-43B3-948B-1728B52AA6E4}">
                <adec:decorative xmlns:adec="http://schemas.microsoft.com/office/drawing/2017/decorative" val="1"/>
              </a:ext>
            </a:extLst>
          </p:cNvPr>
          <p:cNvSpPr/>
          <p:nvPr/>
        </p:nvSpPr>
        <p:spPr>
          <a:xfrm>
            <a:off x="8276887" y="3282261"/>
            <a:ext cx="304764" cy="302340"/>
          </a:xfrm>
          <a:custGeom>
            <a:avLst/>
            <a:gdLst>
              <a:gd name="connsiteX0" fmla="*/ 85725 w 133350"/>
              <a:gd name="connsiteY0" fmla="*/ 104775 h 142875"/>
              <a:gd name="connsiteX1" fmla="*/ 95250 w 133350"/>
              <a:gd name="connsiteY1" fmla="*/ 114300 h 142875"/>
              <a:gd name="connsiteX2" fmla="*/ 85725 w 133350"/>
              <a:gd name="connsiteY2" fmla="*/ 123825 h 142875"/>
              <a:gd name="connsiteX3" fmla="*/ 76200 w 133350"/>
              <a:gd name="connsiteY3" fmla="*/ 114300 h 142875"/>
              <a:gd name="connsiteX4" fmla="*/ 85725 w 133350"/>
              <a:gd name="connsiteY4" fmla="*/ 104775 h 142875"/>
              <a:gd name="connsiteX5" fmla="*/ 47625 w 133350"/>
              <a:gd name="connsiteY5" fmla="*/ 104775 h 142875"/>
              <a:gd name="connsiteX6" fmla="*/ 57150 w 133350"/>
              <a:gd name="connsiteY6" fmla="*/ 114300 h 142875"/>
              <a:gd name="connsiteX7" fmla="*/ 47625 w 133350"/>
              <a:gd name="connsiteY7" fmla="*/ 123825 h 142875"/>
              <a:gd name="connsiteX8" fmla="*/ 38100 w 133350"/>
              <a:gd name="connsiteY8" fmla="*/ 114300 h 142875"/>
              <a:gd name="connsiteX9" fmla="*/ 47625 w 133350"/>
              <a:gd name="connsiteY9" fmla="*/ 104775 h 142875"/>
              <a:gd name="connsiteX10" fmla="*/ 104775 w 133350"/>
              <a:gd name="connsiteY10" fmla="*/ 76200 h 142875"/>
              <a:gd name="connsiteX11" fmla="*/ 114300 w 133350"/>
              <a:gd name="connsiteY11" fmla="*/ 85725 h 142875"/>
              <a:gd name="connsiteX12" fmla="*/ 104775 w 133350"/>
              <a:gd name="connsiteY12" fmla="*/ 95250 h 142875"/>
              <a:gd name="connsiteX13" fmla="*/ 95250 w 133350"/>
              <a:gd name="connsiteY13" fmla="*/ 85725 h 142875"/>
              <a:gd name="connsiteX14" fmla="*/ 104775 w 133350"/>
              <a:gd name="connsiteY14" fmla="*/ 76200 h 142875"/>
              <a:gd name="connsiteX15" fmla="*/ 66675 w 133350"/>
              <a:gd name="connsiteY15" fmla="*/ 76200 h 142875"/>
              <a:gd name="connsiteX16" fmla="*/ 76200 w 133350"/>
              <a:gd name="connsiteY16" fmla="*/ 85725 h 142875"/>
              <a:gd name="connsiteX17" fmla="*/ 66675 w 133350"/>
              <a:gd name="connsiteY17" fmla="*/ 95250 h 142875"/>
              <a:gd name="connsiteX18" fmla="*/ 57150 w 133350"/>
              <a:gd name="connsiteY18" fmla="*/ 85725 h 142875"/>
              <a:gd name="connsiteX19" fmla="*/ 66675 w 133350"/>
              <a:gd name="connsiteY19" fmla="*/ 76200 h 142875"/>
              <a:gd name="connsiteX20" fmla="*/ 28575 w 133350"/>
              <a:gd name="connsiteY20" fmla="*/ 76200 h 142875"/>
              <a:gd name="connsiteX21" fmla="*/ 38100 w 133350"/>
              <a:gd name="connsiteY21" fmla="*/ 85725 h 142875"/>
              <a:gd name="connsiteX22" fmla="*/ 28575 w 133350"/>
              <a:gd name="connsiteY22" fmla="*/ 95250 h 142875"/>
              <a:gd name="connsiteX23" fmla="*/ 19050 w 133350"/>
              <a:gd name="connsiteY23" fmla="*/ 85725 h 142875"/>
              <a:gd name="connsiteX24" fmla="*/ 28575 w 133350"/>
              <a:gd name="connsiteY24" fmla="*/ 76200 h 142875"/>
              <a:gd name="connsiteX25" fmla="*/ 4763 w 133350"/>
              <a:gd name="connsiteY25" fmla="*/ 57150 h 142875"/>
              <a:gd name="connsiteX26" fmla="*/ 9525 w 133350"/>
              <a:gd name="connsiteY26" fmla="*/ 61913 h 142875"/>
              <a:gd name="connsiteX27" fmla="*/ 9525 w 133350"/>
              <a:gd name="connsiteY27" fmla="*/ 119063 h 142875"/>
              <a:gd name="connsiteX28" fmla="*/ 23813 w 133350"/>
              <a:gd name="connsiteY28" fmla="*/ 133350 h 142875"/>
              <a:gd name="connsiteX29" fmla="*/ 109538 w 133350"/>
              <a:gd name="connsiteY29" fmla="*/ 133350 h 142875"/>
              <a:gd name="connsiteX30" fmla="*/ 123825 w 133350"/>
              <a:gd name="connsiteY30" fmla="*/ 119063 h 142875"/>
              <a:gd name="connsiteX31" fmla="*/ 123825 w 133350"/>
              <a:gd name="connsiteY31" fmla="*/ 61913 h 142875"/>
              <a:gd name="connsiteX32" fmla="*/ 128588 w 133350"/>
              <a:gd name="connsiteY32" fmla="*/ 57150 h 142875"/>
              <a:gd name="connsiteX33" fmla="*/ 133350 w 133350"/>
              <a:gd name="connsiteY33" fmla="*/ 61913 h 142875"/>
              <a:gd name="connsiteX34" fmla="*/ 133350 w 133350"/>
              <a:gd name="connsiteY34" fmla="*/ 119063 h 142875"/>
              <a:gd name="connsiteX35" fmla="*/ 109538 w 133350"/>
              <a:gd name="connsiteY35" fmla="*/ 142875 h 142875"/>
              <a:gd name="connsiteX36" fmla="*/ 23813 w 133350"/>
              <a:gd name="connsiteY36" fmla="*/ 142875 h 142875"/>
              <a:gd name="connsiteX37" fmla="*/ 0 w 133350"/>
              <a:gd name="connsiteY37" fmla="*/ 119063 h 142875"/>
              <a:gd name="connsiteX38" fmla="*/ 0 w 133350"/>
              <a:gd name="connsiteY38" fmla="*/ 61913 h 142875"/>
              <a:gd name="connsiteX39" fmla="*/ 4763 w 133350"/>
              <a:gd name="connsiteY39" fmla="*/ 57150 h 142875"/>
              <a:gd name="connsiteX40" fmla="*/ 71437 w 133350"/>
              <a:gd name="connsiteY40" fmla="*/ 0 h 142875"/>
              <a:gd name="connsiteX41" fmla="*/ 76200 w 133350"/>
              <a:gd name="connsiteY41" fmla="*/ 4763 h 142875"/>
              <a:gd name="connsiteX42" fmla="*/ 76200 w 133350"/>
              <a:gd name="connsiteY42" fmla="*/ 40891 h 142875"/>
              <a:gd name="connsiteX43" fmla="*/ 87116 w 133350"/>
              <a:gd name="connsiteY43" fmla="*/ 29975 h 142875"/>
              <a:gd name="connsiteX44" fmla="*/ 90487 w 133350"/>
              <a:gd name="connsiteY44" fmla="*/ 28585 h 142875"/>
              <a:gd name="connsiteX45" fmla="*/ 93859 w 133350"/>
              <a:gd name="connsiteY45" fmla="*/ 29975 h 142875"/>
              <a:gd name="connsiteX46" fmla="*/ 93859 w 133350"/>
              <a:gd name="connsiteY46" fmla="*/ 36709 h 142875"/>
              <a:gd name="connsiteX47" fmla="*/ 74809 w 133350"/>
              <a:gd name="connsiteY47" fmla="*/ 55759 h 142875"/>
              <a:gd name="connsiteX48" fmla="*/ 68075 w 133350"/>
              <a:gd name="connsiteY48" fmla="*/ 55759 h 142875"/>
              <a:gd name="connsiteX49" fmla="*/ 49025 w 133350"/>
              <a:gd name="connsiteY49" fmla="*/ 36709 h 142875"/>
              <a:gd name="connsiteX50" fmla="*/ 49025 w 133350"/>
              <a:gd name="connsiteY50" fmla="*/ 29975 h 142875"/>
              <a:gd name="connsiteX51" fmla="*/ 55759 w 133350"/>
              <a:gd name="connsiteY51" fmla="*/ 29975 h 142875"/>
              <a:gd name="connsiteX52" fmla="*/ 66675 w 133350"/>
              <a:gd name="connsiteY52" fmla="*/ 40891 h 142875"/>
              <a:gd name="connsiteX53" fmla="*/ 66675 w 133350"/>
              <a:gd name="connsiteY53" fmla="*/ 4763 h 142875"/>
              <a:gd name="connsiteX54" fmla="*/ 71437 w 133350"/>
              <a:gd name="connsiteY54" fmla="*/ 0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33350" h="142875">
                <a:moveTo>
                  <a:pt x="85725" y="104775"/>
                </a:moveTo>
                <a:cubicBezTo>
                  <a:pt x="90986" y="104775"/>
                  <a:pt x="95250" y="109039"/>
                  <a:pt x="95250" y="114300"/>
                </a:cubicBezTo>
                <a:cubicBezTo>
                  <a:pt x="95250" y="119561"/>
                  <a:pt x="90986" y="123825"/>
                  <a:pt x="85725" y="123825"/>
                </a:cubicBezTo>
                <a:cubicBezTo>
                  <a:pt x="80464" y="123825"/>
                  <a:pt x="76200" y="119561"/>
                  <a:pt x="76200" y="114300"/>
                </a:cubicBezTo>
                <a:cubicBezTo>
                  <a:pt x="76200" y="109039"/>
                  <a:pt x="80464" y="104775"/>
                  <a:pt x="85725" y="104775"/>
                </a:cubicBezTo>
                <a:close/>
                <a:moveTo>
                  <a:pt x="47625" y="104775"/>
                </a:moveTo>
                <a:cubicBezTo>
                  <a:pt x="52885" y="104775"/>
                  <a:pt x="57150" y="109039"/>
                  <a:pt x="57150" y="114300"/>
                </a:cubicBezTo>
                <a:cubicBezTo>
                  <a:pt x="57150" y="119561"/>
                  <a:pt x="52885" y="123825"/>
                  <a:pt x="47625" y="123825"/>
                </a:cubicBezTo>
                <a:cubicBezTo>
                  <a:pt x="42365" y="123825"/>
                  <a:pt x="38100" y="119561"/>
                  <a:pt x="38100" y="114300"/>
                </a:cubicBezTo>
                <a:cubicBezTo>
                  <a:pt x="38100" y="109039"/>
                  <a:pt x="42365" y="104775"/>
                  <a:pt x="47625" y="104775"/>
                </a:cubicBezTo>
                <a:close/>
                <a:moveTo>
                  <a:pt x="104775" y="76200"/>
                </a:moveTo>
                <a:cubicBezTo>
                  <a:pt x="110036" y="76200"/>
                  <a:pt x="114300" y="80464"/>
                  <a:pt x="114300" y="85725"/>
                </a:cubicBezTo>
                <a:cubicBezTo>
                  <a:pt x="114300" y="90985"/>
                  <a:pt x="110036" y="95250"/>
                  <a:pt x="104775" y="95250"/>
                </a:cubicBezTo>
                <a:cubicBezTo>
                  <a:pt x="99514" y="95250"/>
                  <a:pt x="95250" y="90985"/>
                  <a:pt x="95250" y="85725"/>
                </a:cubicBezTo>
                <a:cubicBezTo>
                  <a:pt x="95250" y="80464"/>
                  <a:pt x="99514" y="76200"/>
                  <a:pt x="104775" y="76200"/>
                </a:cubicBezTo>
                <a:close/>
                <a:moveTo>
                  <a:pt x="66675" y="76200"/>
                </a:moveTo>
                <a:cubicBezTo>
                  <a:pt x="71935" y="76200"/>
                  <a:pt x="76200" y="80464"/>
                  <a:pt x="76200" y="85725"/>
                </a:cubicBezTo>
                <a:cubicBezTo>
                  <a:pt x="76200" y="90985"/>
                  <a:pt x="71935" y="95250"/>
                  <a:pt x="66675" y="95250"/>
                </a:cubicBezTo>
                <a:cubicBezTo>
                  <a:pt x="61415" y="95250"/>
                  <a:pt x="57150" y="90985"/>
                  <a:pt x="57150" y="85725"/>
                </a:cubicBezTo>
                <a:cubicBezTo>
                  <a:pt x="57150" y="80464"/>
                  <a:pt x="61415" y="76200"/>
                  <a:pt x="66675" y="76200"/>
                </a:cubicBezTo>
                <a:close/>
                <a:moveTo>
                  <a:pt x="28575" y="76200"/>
                </a:moveTo>
                <a:cubicBezTo>
                  <a:pt x="33835" y="76200"/>
                  <a:pt x="38100" y="80464"/>
                  <a:pt x="38100" y="85725"/>
                </a:cubicBezTo>
                <a:cubicBezTo>
                  <a:pt x="38100" y="90985"/>
                  <a:pt x="33835" y="95250"/>
                  <a:pt x="28575" y="95250"/>
                </a:cubicBezTo>
                <a:cubicBezTo>
                  <a:pt x="23315" y="95250"/>
                  <a:pt x="19050" y="90985"/>
                  <a:pt x="19050" y="85725"/>
                </a:cubicBezTo>
                <a:cubicBezTo>
                  <a:pt x="19050" y="80464"/>
                  <a:pt x="23315" y="76200"/>
                  <a:pt x="28575" y="76200"/>
                </a:cubicBezTo>
                <a:close/>
                <a:moveTo>
                  <a:pt x="4763" y="57150"/>
                </a:moveTo>
                <a:cubicBezTo>
                  <a:pt x="7391" y="57150"/>
                  <a:pt x="9525" y="59284"/>
                  <a:pt x="9525" y="61913"/>
                </a:cubicBezTo>
                <a:lnTo>
                  <a:pt x="9525" y="119063"/>
                </a:lnTo>
                <a:cubicBezTo>
                  <a:pt x="9525" y="126940"/>
                  <a:pt x="15935" y="133350"/>
                  <a:pt x="23813" y="133350"/>
                </a:cubicBezTo>
                <a:lnTo>
                  <a:pt x="109538" y="133350"/>
                </a:lnTo>
                <a:cubicBezTo>
                  <a:pt x="117415" y="133350"/>
                  <a:pt x="123825" y="126940"/>
                  <a:pt x="123825" y="119063"/>
                </a:cubicBezTo>
                <a:lnTo>
                  <a:pt x="123825" y="61913"/>
                </a:lnTo>
                <a:cubicBezTo>
                  <a:pt x="123825" y="59284"/>
                  <a:pt x="125959" y="57150"/>
                  <a:pt x="128588" y="57150"/>
                </a:cubicBezTo>
                <a:cubicBezTo>
                  <a:pt x="131216" y="57150"/>
                  <a:pt x="133350" y="59284"/>
                  <a:pt x="133350" y="61913"/>
                </a:cubicBezTo>
                <a:lnTo>
                  <a:pt x="133350" y="119063"/>
                </a:lnTo>
                <a:cubicBezTo>
                  <a:pt x="133350" y="132197"/>
                  <a:pt x="122672" y="142875"/>
                  <a:pt x="109538" y="142875"/>
                </a:cubicBezTo>
                <a:lnTo>
                  <a:pt x="23813" y="142875"/>
                </a:lnTo>
                <a:cubicBezTo>
                  <a:pt x="10678" y="142875"/>
                  <a:pt x="0" y="132197"/>
                  <a:pt x="0" y="119063"/>
                </a:cubicBezTo>
                <a:lnTo>
                  <a:pt x="0" y="61913"/>
                </a:lnTo>
                <a:cubicBezTo>
                  <a:pt x="0" y="59284"/>
                  <a:pt x="2134" y="57150"/>
                  <a:pt x="4763" y="57150"/>
                </a:cubicBezTo>
                <a:close/>
                <a:moveTo>
                  <a:pt x="71437" y="0"/>
                </a:moveTo>
                <a:cubicBezTo>
                  <a:pt x="74066" y="0"/>
                  <a:pt x="76200" y="2134"/>
                  <a:pt x="76200" y="4763"/>
                </a:cubicBezTo>
                <a:lnTo>
                  <a:pt x="76200" y="40891"/>
                </a:lnTo>
                <a:lnTo>
                  <a:pt x="87116" y="29975"/>
                </a:lnTo>
                <a:cubicBezTo>
                  <a:pt x="88049" y="29042"/>
                  <a:pt x="89268" y="28585"/>
                  <a:pt x="90487" y="28585"/>
                </a:cubicBezTo>
                <a:cubicBezTo>
                  <a:pt x="91707" y="28585"/>
                  <a:pt x="92926" y="29051"/>
                  <a:pt x="93859" y="29975"/>
                </a:cubicBezTo>
                <a:cubicBezTo>
                  <a:pt x="95717" y="31833"/>
                  <a:pt x="95717" y="34852"/>
                  <a:pt x="93859" y="36709"/>
                </a:cubicBezTo>
                <a:lnTo>
                  <a:pt x="74809" y="55759"/>
                </a:lnTo>
                <a:cubicBezTo>
                  <a:pt x="72952" y="57617"/>
                  <a:pt x="69932" y="57617"/>
                  <a:pt x="68075" y="55759"/>
                </a:cubicBezTo>
                <a:lnTo>
                  <a:pt x="49025" y="36709"/>
                </a:lnTo>
                <a:cubicBezTo>
                  <a:pt x="47168" y="34852"/>
                  <a:pt x="47168" y="31833"/>
                  <a:pt x="49025" y="29975"/>
                </a:cubicBezTo>
                <a:cubicBezTo>
                  <a:pt x="50882" y="28118"/>
                  <a:pt x="53902" y="28118"/>
                  <a:pt x="55759" y="29975"/>
                </a:cubicBezTo>
                <a:lnTo>
                  <a:pt x="66675" y="40891"/>
                </a:lnTo>
                <a:lnTo>
                  <a:pt x="66675" y="4763"/>
                </a:lnTo>
                <a:cubicBezTo>
                  <a:pt x="66675" y="2134"/>
                  <a:pt x="68808" y="0"/>
                  <a:pt x="71437" y="0"/>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tlCol="0" anchor="ctr"/>
          <a:lstStyle/>
          <a:p>
            <a:pPr algn="ctr"/>
            <a:endParaRPr lang="en-US" kern="0">
              <a:solidFill>
                <a:srgbClr val="000000"/>
              </a:solidFill>
              <a:latin typeface="Segoe Sans Text Semilight"/>
            </a:endParaRPr>
          </a:p>
        </p:txBody>
      </p:sp>
      <p:sp>
        <p:nvSpPr>
          <p:cNvPr id="72" name="Rounded Rectangle 27">
            <a:extLst>
              <a:ext uri="{FF2B5EF4-FFF2-40B4-BE49-F238E27FC236}">
                <a16:creationId xmlns:a16="http://schemas.microsoft.com/office/drawing/2014/main" id="{056E87A9-ED1F-E239-3BE9-8C2CC3C8804A}"/>
              </a:ext>
            </a:extLst>
          </p:cNvPr>
          <p:cNvSpPr/>
          <p:nvPr/>
        </p:nvSpPr>
        <p:spPr bwMode="auto">
          <a:xfrm>
            <a:off x="3070210" y="2493937"/>
            <a:ext cx="173691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Accelerate </a:t>
            </a:r>
            <a:br>
              <a:rPr lang="en-US" sz="1600" kern="0">
                <a:solidFill>
                  <a:srgbClr val="FFFFFF"/>
                </a:solidFill>
                <a:latin typeface="Segoe Sans Display Semibold" pitchFamily="2" charset="0"/>
                <a:cs typeface="Segoe Sans Display Semibold" pitchFamily="2" charset="0"/>
              </a:rPr>
            </a:br>
            <a:r>
              <a:rPr lang="en-US" sz="1600" kern="0">
                <a:solidFill>
                  <a:srgbClr val="FFFFFF"/>
                </a:solidFill>
                <a:latin typeface="Segoe Sans Display Semibold" pitchFamily="2" charset="0"/>
                <a:cs typeface="Segoe Sans Display Semibold" pitchFamily="2" charset="0"/>
              </a:rPr>
              <a:t>Time-to-Value</a:t>
            </a:r>
          </a:p>
        </p:txBody>
      </p:sp>
      <p:sp>
        <p:nvSpPr>
          <p:cNvPr id="73" name="Rounded Rectangle 27">
            <a:extLst>
              <a:ext uri="{FF2B5EF4-FFF2-40B4-BE49-F238E27FC236}">
                <a16:creationId xmlns:a16="http://schemas.microsoft.com/office/drawing/2014/main" id="{04DD9A1B-9437-0E14-68E2-D070381ACC3E}"/>
              </a:ext>
            </a:extLst>
          </p:cNvPr>
          <p:cNvSpPr/>
          <p:nvPr/>
        </p:nvSpPr>
        <p:spPr bwMode="auto">
          <a:xfrm>
            <a:off x="5301775" y="2525167"/>
            <a:ext cx="173691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Unify Strategy &amp; Governance</a:t>
            </a:r>
          </a:p>
        </p:txBody>
      </p:sp>
      <p:sp>
        <p:nvSpPr>
          <p:cNvPr id="74" name="Rounded Rectangle 27">
            <a:extLst>
              <a:ext uri="{FF2B5EF4-FFF2-40B4-BE49-F238E27FC236}">
                <a16:creationId xmlns:a16="http://schemas.microsoft.com/office/drawing/2014/main" id="{E79BA0AF-EA57-EE71-2F85-109CC0E19FC7}"/>
              </a:ext>
            </a:extLst>
          </p:cNvPr>
          <p:cNvSpPr/>
          <p:nvPr/>
        </p:nvSpPr>
        <p:spPr bwMode="auto">
          <a:xfrm>
            <a:off x="7560811" y="2525167"/>
            <a:ext cx="173691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Create Foundations</a:t>
            </a:r>
          </a:p>
        </p:txBody>
      </p:sp>
      <p:sp>
        <p:nvSpPr>
          <p:cNvPr id="75" name="Rounded Rectangle 27">
            <a:extLst>
              <a:ext uri="{FF2B5EF4-FFF2-40B4-BE49-F238E27FC236}">
                <a16:creationId xmlns:a16="http://schemas.microsoft.com/office/drawing/2014/main" id="{3ABC27A7-9418-16D3-DFE1-205DB92DE2DB}"/>
              </a:ext>
            </a:extLst>
          </p:cNvPr>
          <p:cNvSpPr/>
          <p:nvPr/>
        </p:nvSpPr>
        <p:spPr bwMode="auto">
          <a:xfrm>
            <a:off x="9819847" y="2525167"/>
            <a:ext cx="173691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Enable your Workforce</a:t>
            </a:r>
          </a:p>
        </p:txBody>
      </p:sp>
      <p:sp>
        <p:nvSpPr>
          <p:cNvPr id="76" name="Rounded Rectangle 27">
            <a:extLst>
              <a:ext uri="{FF2B5EF4-FFF2-40B4-BE49-F238E27FC236}">
                <a16:creationId xmlns:a16="http://schemas.microsoft.com/office/drawing/2014/main" id="{15B21812-3290-EF8A-3D7C-E26773D79D15}"/>
              </a:ext>
            </a:extLst>
          </p:cNvPr>
          <p:cNvSpPr/>
          <p:nvPr/>
        </p:nvSpPr>
        <p:spPr bwMode="auto">
          <a:xfrm>
            <a:off x="837456" y="2524317"/>
            <a:ext cx="1736916" cy="640080"/>
          </a:xfrm>
          <a:prstGeom prst="roundRect">
            <a:avLst>
              <a:gd name="adj" fmla="val 23300"/>
            </a:avLst>
          </a:prstGeom>
          <a:solidFill>
            <a:schemeClr val="accent1"/>
          </a:solidFill>
          <a:ln w="12700" cap="flat" cmpd="sng" algn="ctr">
            <a:noFill/>
            <a:prstDash val="solid"/>
            <a:miter lim="800000"/>
          </a:ln>
          <a:effectLst/>
        </p:spPr>
        <p:txBody>
          <a:bodyPr rtlCol="0" anchor="ctr"/>
          <a:lstStyle/>
          <a:p>
            <a:pPr algn="ctr" fontAlgn="base">
              <a:defRPr/>
            </a:pPr>
            <a:r>
              <a:rPr lang="en-US" sz="1600" kern="0">
                <a:solidFill>
                  <a:srgbClr val="FFFFFF"/>
                </a:solidFill>
                <a:latin typeface="Segoe Sans Display Semibold" pitchFamily="2" charset="0"/>
                <a:cs typeface="Segoe Sans Display Semibold" pitchFamily="2" charset="0"/>
              </a:rPr>
              <a:t>Align to Business KPIs</a:t>
            </a:r>
          </a:p>
        </p:txBody>
      </p:sp>
      <p:sp>
        <p:nvSpPr>
          <p:cNvPr id="79" name="Graphic 77">
            <a:extLst>
              <a:ext uri="{FF2B5EF4-FFF2-40B4-BE49-F238E27FC236}">
                <a16:creationId xmlns:a16="http://schemas.microsoft.com/office/drawing/2014/main" id="{833104C9-CCAE-E569-8B7A-74AB5C860476}"/>
              </a:ext>
              <a:ext uri="{C183D7F6-B498-43B3-948B-1728B52AA6E4}">
                <adec:decorative xmlns:adec="http://schemas.microsoft.com/office/drawing/2017/decorative" val="1"/>
              </a:ext>
            </a:extLst>
          </p:cNvPr>
          <p:cNvSpPr/>
          <p:nvPr/>
        </p:nvSpPr>
        <p:spPr>
          <a:xfrm>
            <a:off x="6047291" y="3282261"/>
            <a:ext cx="245885" cy="302086"/>
          </a:xfrm>
          <a:custGeom>
            <a:avLst/>
            <a:gdLst>
              <a:gd name="connsiteX0" fmla="*/ 125179 w 166687"/>
              <a:gd name="connsiteY0" fmla="*/ 47447 h 204787"/>
              <a:gd name="connsiteX1" fmla="*/ 123831 w 166687"/>
              <a:gd name="connsiteY1" fmla="*/ 37434 h 204787"/>
              <a:gd name="connsiteX2" fmla="*/ 133842 w 166687"/>
              <a:gd name="connsiteY2" fmla="*/ 36086 h 204787"/>
              <a:gd name="connsiteX3" fmla="*/ 166688 w 166687"/>
              <a:gd name="connsiteY3" fmla="*/ 102394 h 204787"/>
              <a:gd name="connsiteX4" fmla="*/ 90196 w 166687"/>
              <a:gd name="connsiteY4" fmla="*/ 185459 h 204787"/>
              <a:gd name="connsiteX5" fmla="*/ 97343 w 166687"/>
              <a:gd name="connsiteY5" fmla="*/ 192593 h 204787"/>
              <a:gd name="connsiteX6" fmla="*/ 98034 w 166687"/>
              <a:gd name="connsiteY6" fmla="*/ 193394 h 204787"/>
              <a:gd name="connsiteX7" fmla="*/ 97343 w 166687"/>
              <a:gd name="connsiteY7" fmla="*/ 202695 h 204787"/>
              <a:gd name="connsiteX8" fmla="*/ 87239 w 166687"/>
              <a:gd name="connsiteY8" fmla="*/ 202695 h 204787"/>
              <a:gd name="connsiteX9" fmla="*/ 68189 w 166687"/>
              <a:gd name="connsiteY9" fmla="*/ 183645 h 204787"/>
              <a:gd name="connsiteX10" fmla="*/ 67498 w 166687"/>
              <a:gd name="connsiteY10" fmla="*/ 182844 h 204787"/>
              <a:gd name="connsiteX11" fmla="*/ 68189 w 166687"/>
              <a:gd name="connsiteY11" fmla="*/ 173543 h 204787"/>
              <a:gd name="connsiteX12" fmla="*/ 71361 w 166687"/>
              <a:gd name="connsiteY12" fmla="*/ 170371 h 204787"/>
              <a:gd name="connsiteX13" fmla="*/ 83346 w 166687"/>
              <a:gd name="connsiteY13" fmla="*/ 171408 h 204787"/>
              <a:gd name="connsiteX14" fmla="*/ 90948 w 166687"/>
              <a:gd name="connsiteY14" fmla="*/ 170994 h 204787"/>
              <a:gd name="connsiteX15" fmla="*/ 90900 w 166687"/>
              <a:gd name="connsiteY15" fmla="*/ 171041 h 204787"/>
              <a:gd name="connsiteX16" fmla="*/ 152400 w 166687"/>
              <a:gd name="connsiteY16" fmla="*/ 102394 h 204787"/>
              <a:gd name="connsiteX17" fmla="*/ 125179 w 166687"/>
              <a:gd name="connsiteY17" fmla="*/ 47447 h 204787"/>
              <a:gd name="connsiteX18" fmla="*/ 69345 w 166687"/>
              <a:gd name="connsiteY18" fmla="*/ 12195 h 204787"/>
              <a:gd name="connsiteX19" fmla="*/ 69345 w 166687"/>
              <a:gd name="connsiteY19" fmla="*/ 2092 h 204787"/>
              <a:gd name="connsiteX20" fmla="*/ 79448 w 166687"/>
              <a:gd name="connsiteY20" fmla="*/ 2092 h 204787"/>
              <a:gd name="connsiteX21" fmla="*/ 98498 w 166687"/>
              <a:gd name="connsiteY21" fmla="*/ 21142 h 204787"/>
              <a:gd name="connsiteX22" fmla="*/ 98498 w 166687"/>
              <a:gd name="connsiteY22" fmla="*/ 31245 h 204787"/>
              <a:gd name="connsiteX23" fmla="*/ 95323 w 166687"/>
              <a:gd name="connsiteY23" fmla="*/ 34420 h 204787"/>
              <a:gd name="connsiteX24" fmla="*/ 83346 w 166687"/>
              <a:gd name="connsiteY24" fmla="*/ 33384 h 204787"/>
              <a:gd name="connsiteX25" fmla="*/ 75726 w 166687"/>
              <a:gd name="connsiteY25" fmla="*/ 33800 h 204787"/>
              <a:gd name="connsiteX26" fmla="*/ 75778 w 166687"/>
              <a:gd name="connsiteY26" fmla="*/ 33747 h 204787"/>
              <a:gd name="connsiteX27" fmla="*/ 14288 w 166687"/>
              <a:gd name="connsiteY27" fmla="*/ 102394 h 204787"/>
              <a:gd name="connsiteX28" fmla="*/ 39396 w 166687"/>
              <a:gd name="connsiteY28" fmla="*/ 155663 h 204787"/>
              <a:gd name="connsiteX29" fmla="*/ 40354 w 166687"/>
              <a:gd name="connsiteY29" fmla="*/ 165721 h 204787"/>
              <a:gd name="connsiteX30" fmla="*/ 30297 w 166687"/>
              <a:gd name="connsiteY30" fmla="*/ 166679 h 204787"/>
              <a:gd name="connsiteX31" fmla="*/ 0 w 166687"/>
              <a:gd name="connsiteY31" fmla="*/ 102394 h 204787"/>
              <a:gd name="connsiteX32" fmla="*/ 76482 w 166687"/>
              <a:gd name="connsiteY32" fmla="*/ 19328 h 204787"/>
              <a:gd name="connsiteX33" fmla="*/ 69345 w 166687"/>
              <a:gd name="connsiteY33" fmla="*/ 12195 h 204787"/>
              <a:gd name="connsiteX34" fmla="*/ 112207 w 166687"/>
              <a:gd name="connsiteY34" fmla="*/ 93157 h 204787"/>
              <a:gd name="connsiteX35" fmla="*/ 112207 w 166687"/>
              <a:gd name="connsiteY35" fmla="*/ 83055 h 204787"/>
              <a:gd name="connsiteX36" fmla="*/ 102105 w 166687"/>
              <a:gd name="connsiteY36" fmla="*/ 83055 h 204787"/>
              <a:gd name="connsiteX37" fmla="*/ 73819 w 166687"/>
              <a:gd name="connsiteY37" fmla="*/ 111341 h 204787"/>
              <a:gd name="connsiteX38" fmla="*/ 64582 w 166687"/>
              <a:gd name="connsiteY38" fmla="*/ 102105 h 204787"/>
              <a:gd name="connsiteX39" fmla="*/ 54480 w 166687"/>
              <a:gd name="connsiteY39" fmla="*/ 102105 h 204787"/>
              <a:gd name="connsiteX40" fmla="*/ 54480 w 166687"/>
              <a:gd name="connsiteY40" fmla="*/ 112207 h 204787"/>
              <a:gd name="connsiteX41" fmla="*/ 68768 w 166687"/>
              <a:gd name="connsiteY41" fmla="*/ 126495 h 204787"/>
              <a:gd name="connsiteX42" fmla="*/ 78870 w 166687"/>
              <a:gd name="connsiteY42" fmla="*/ 126495 h 204787"/>
              <a:gd name="connsiteX43" fmla="*/ 112207 w 166687"/>
              <a:gd name="connsiteY43" fmla="*/ 93157 h 204787"/>
              <a:gd name="connsiteX44" fmla="*/ 83344 w 166687"/>
              <a:gd name="connsiteY44" fmla="*/ 159544 h 204787"/>
              <a:gd name="connsiteX45" fmla="*/ 140494 w 166687"/>
              <a:gd name="connsiteY45" fmla="*/ 102394 h 204787"/>
              <a:gd name="connsiteX46" fmla="*/ 83344 w 166687"/>
              <a:gd name="connsiteY46" fmla="*/ 45244 h 204787"/>
              <a:gd name="connsiteX47" fmla="*/ 26194 w 166687"/>
              <a:gd name="connsiteY47" fmla="*/ 102394 h 204787"/>
              <a:gd name="connsiteX48" fmla="*/ 83344 w 166687"/>
              <a:gd name="connsiteY48" fmla="*/ 159544 h 204787"/>
              <a:gd name="connsiteX49" fmla="*/ 83344 w 166687"/>
              <a:gd name="connsiteY49" fmla="*/ 145256 h 204787"/>
              <a:gd name="connsiteX50" fmla="*/ 40481 w 166687"/>
              <a:gd name="connsiteY50" fmla="*/ 102394 h 204787"/>
              <a:gd name="connsiteX51" fmla="*/ 83344 w 166687"/>
              <a:gd name="connsiteY51" fmla="*/ 59531 h 204787"/>
              <a:gd name="connsiteX52" fmla="*/ 126206 w 166687"/>
              <a:gd name="connsiteY52" fmla="*/ 102394 h 204787"/>
              <a:gd name="connsiteX53" fmla="*/ 83344 w 166687"/>
              <a:gd name="connsiteY53" fmla="*/ 145256 h 204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66687" h="204787">
                <a:moveTo>
                  <a:pt x="125179" y="47447"/>
                </a:moveTo>
                <a:cubicBezTo>
                  <a:pt x="122041" y="45054"/>
                  <a:pt x="121438" y="40571"/>
                  <a:pt x="123831" y="37434"/>
                </a:cubicBezTo>
                <a:cubicBezTo>
                  <a:pt x="126222" y="34297"/>
                  <a:pt x="130706" y="33694"/>
                  <a:pt x="133842" y="36086"/>
                </a:cubicBezTo>
                <a:cubicBezTo>
                  <a:pt x="154383" y="51751"/>
                  <a:pt x="166688" y="76060"/>
                  <a:pt x="166688" y="102394"/>
                </a:cubicBezTo>
                <a:cubicBezTo>
                  <a:pt x="166688" y="146116"/>
                  <a:pt x="133020" y="181975"/>
                  <a:pt x="90196" y="185459"/>
                </a:cubicBezTo>
                <a:lnTo>
                  <a:pt x="97343" y="192593"/>
                </a:lnTo>
                <a:lnTo>
                  <a:pt x="98034" y="193394"/>
                </a:lnTo>
                <a:cubicBezTo>
                  <a:pt x="100109" y="196190"/>
                  <a:pt x="99878" y="200159"/>
                  <a:pt x="97343" y="202695"/>
                </a:cubicBezTo>
                <a:cubicBezTo>
                  <a:pt x="94553" y="205485"/>
                  <a:pt x="90029" y="205485"/>
                  <a:pt x="87239" y="202695"/>
                </a:cubicBezTo>
                <a:lnTo>
                  <a:pt x="68189" y="183645"/>
                </a:lnTo>
                <a:lnTo>
                  <a:pt x="67498" y="182844"/>
                </a:lnTo>
                <a:cubicBezTo>
                  <a:pt x="65422" y="180047"/>
                  <a:pt x="65653" y="176078"/>
                  <a:pt x="68189" y="173543"/>
                </a:cubicBezTo>
                <a:lnTo>
                  <a:pt x="71361" y="170371"/>
                </a:lnTo>
                <a:cubicBezTo>
                  <a:pt x="75253" y="171053"/>
                  <a:pt x="79258" y="171408"/>
                  <a:pt x="83346" y="171408"/>
                </a:cubicBezTo>
                <a:cubicBezTo>
                  <a:pt x="85915" y="171408"/>
                  <a:pt x="88451" y="171268"/>
                  <a:pt x="90948" y="170994"/>
                </a:cubicBezTo>
                <a:lnTo>
                  <a:pt x="90900" y="171041"/>
                </a:lnTo>
                <a:cubicBezTo>
                  <a:pt x="125484" y="167278"/>
                  <a:pt x="152400" y="137979"/>
                  <a:pt x="152400" y="102394"/>
                </a:cubicBezTo>
                <a:cubicBezTo>
                  <a:pt x="152400" y="80564"/>
                  <a:pt x="142212" y="60438"/>
                  <a:pt x="125179" y="47447"/>
                </a:cubicBezTo>
                <a:close/>
                <a:moveTo>
                  <a:pt x="69345" y="12195"/>
                </a:moveTo>
                <a:cubicBezTo>
                  <a:pt x="66555" y="9405"/>
                  <a:pt x="66555" y="4882"/>
                  <a:pt x="69345" y="2092"/>
                </a:cubicBezTo>
                <a:cubicBezTo>
                  <a:pt x="72135" y="-697"/>
                  <a:pt x="76658" y="-697"/>
                  <a:pt x="79448" y="2092"/>
                </a:cubicBezTo>
                <a:lnTo>
                  <a:pt x="98498" y="21142"/>
                </a:lnTo>
                <a:cubicBezTo>
                  <a:pt x="101288" y="23932"/>
                  <a:pt x="101288" y="28455"/>
                  <a:pt x="98498" y="31245"/>
                </a:cubicBezTo>
                <a:lnTo>
                  <a:pt x="95323" y="34420"/>
                </a:lnTo>
                <a:cubicBezTo>
                  <a:pt x="91433" y="33739"/>
                  <a:pt x="87431" y="33384"/>
                  <a:pt x="83346" y="33384"/>
                </a:cubicBezTo>
                <a:cubicBezTo>
                  <a:pt x="80770" y="33384"/>
                  <a:pt x="78228" y="33525"/>
                  <a:pt x="75726" y="33800"/>
                </a:cubicBezTo>
                <a:lnTo>
                  <a:pt x="75778" y="33747"/>
                </a:lnTo>
                <a:cubicBezTo>
                  <a:pt x="41199" y="37515"/>
                  <a:pt x="14288" y="66812"/>
                  <a:pt x="14288" y="102394"/>
                </a:cubicBezTo>
                <a:cubicBezTo>
                  <a:pt x="14288" y="123274"/>
                  <a:pt x="23602" y="142617"/>
                  <a:pt x="39396" y="155663"/>
                </a:cubicBezTo>
                <a:cubicBezTo>
                  <a:pt x="42438" y="158176"/>
                  <a:pt x="42867" y="162679"/>
                  <a:pt x="40354" y="165721"/>
                </a:cubicBezTo>
                <a:cubicBezTo>
                  <a:pt x="37842" y="168763"/>
                  <a:pt x="33339" y="169192"/>
                  <a:pt x="30297" y="166679"/>
                </a:cubicBezTo>
                <a:cubicBezTo>
                  <a:pt x="11252" y="150946"/>
                  <a:pt x="0" y="127583"/>
                  <a:pt x="0" y="102394"/>
                </a:cubicBezTo>
                <a:cubicBezTo>
                  <a:pt x="0" y="58675"/>
                  <a:pt x="33662" y="22818"/>
                  <a:pt x="76482" y="19328"/>
                </a:cubicBezTo>
                <a:lnTo>
                  <a:pt x="69345" y="12195"/>
                </a:lnTo>
                <a:close/>
                <a:moveTo>
                  <a:pt x="112207" y="93157"/>
                </a:moveTo>
                <a:cubicBezTo>
                  <a:pt x="114997" y="90367"/>
                  <a:pt x="114997" y="85845"/>
                  <a:pt x="112207" y="83055"/>
                </a:cubicBezTo>
                <a:cubicBezTo>
                  <a:pt x="109417" y="80265"/>
                  <a:pt x="104895" y="80265"/>
                  <a:pt x="102105" y="83055"/>
                </a:cubicBezTo>
                <a:lnTo>
                  <a:pt x="73819" y="111341"/>
                </a:lnTo>
                <a:lnTo>
                  <a:pt x="64582" y="102105"/>
                </a:lnTo>
                <a:cubicBezTo>
                  <a:pt x="61793" y="99315"/>
                  <a:pt x="57270" y="99315"/>
                  <a:pt x="54480" y="102105"/>
                </a:cubicBezTo>
                <a:cubicBezTo>
                  <a:pt x="51690" y="104895"/>
                  <a:pt x="51690" y="109417"/>
                  <a:pt x="54480" y="112207"/>
                </a:cubicBezTo>
                <a:lnTo>
                  <a:pt x="68768" y="126495"/>
                </a:lnTo>
                <a:cubicBezTo>
                  <a:pt x="71558" y="129285"/>
                  <a:pt x="76080" y="129285"/>
                  <a:pt x="78870" y="126495"/>
                </a:cubicBezTo>
                <a:lnTo>
                  <a:pt x="112207" y="93157"/>
                </a:lnTo>
                <a:close/>
                <a:moveTo>
                  <a:pt x="83344" y="159544"/>
                </a:moveTo>
                <a:cubicBezTo>
                  <a:pt x="114907" y="159544"/>
                  <a:pt x="140494" y="133957"/>
                  <a:pt x="140494" y="102394"/>
                </a:cubicBezTo>
                <a:cubicBezTo>
                  <a:pt x="140494" y="70831"/>
                  <a:pt x="114907" y="45244"/>
                  <a:pt x="83344" y="45244"/>
                </a:cubicBezTo>
                <a:cubicBezTo>
                  <a:pt x="51781" y="45244"/>
                  <a:pt x="26194" y="70831"/>
                  <a:pt x="26194" y="102394"/>
                </a:cubicBezTo>
                <a:cubicBezTo>
                  <a:pt x="26194" y="133957"/>
                  <a:pt x="51781" y="159544"/>
                  <a:pt x="83344" y="159544"/>
                </a:cubicBezTo>
                <a:close/>
                <a:moveTo>
                  <a:pt x="83344" y="145256"/>
                </a:moveTo>
                <a:cubicBezTo>
                  <a:pt x="59671" y="145256"/>
                  <a:pt x="40481" y="126066"/>
                  <a:pt x="40481" y="102394"/>
                </a:cubicBezTo>
                <a:cubicBezTo>
                  <a:pt x="40481" y="78721"/>
                  <a:pt x="59671" y="59531"/>
                  <a:pt x="83344" y="59531"/>
                </a:cubicBezTo>
                <a:cubicBezTo>
                  <a:pt x="107016" y="59531"/>
                  <a:pt x="126206" y="78721"/>
                  <a:pt x="126206" y="102394"/>
                </a:cubicBezTo>
                <a:cubicBezTo>
                  <a:pt x="126206" y="126066"/>
                  <a:pt x="107016" y="145256"/>
                  <a:pt x="83344" y="145256"/>
                </a:cubicBezTo>
                <a:close/>
              </a:path>
            </a:pathLst>
          </a:custGeom>
          <a:gradFill flip="none" rotWithShape="1">
            <a:gsLst>
              <a:gs pos="70000">
                <a:schemeClr val="accent1"/>
              </a:gs>
              <a:gs pos="0">
                <a:srgbClr val="49C5B1"/>
              </a:gs>
            </a:gsLst>
            <a:lin ang="810000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kern="0">
              <a:solidFill>
                <a:srgbClr val="000000"/>
              </a:solidFill>
              <a:latin typeface="Segoe Sans Text Semilight"/>
            </a:endParaRPr>
          </a:p>
        </p:txBody>
      </p:sp>
    </p:spTree>
    <p:extLst>
      <p:ext uri="{BB962C8B-B14F-4D97-AF65-F5344CB8AC3E}">
        <p14:creationId xmlns:p14="http://schemas.microsoft.com/office/powerpoint/2010/main" val="21580101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78AE-35C0-BD72-77BA-8EBF6B630D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9CB1FD-EB7C-2662-0144-D410DDC0A59D}"/>
              </a:ext>
            </a:extLst>
          </p:cNvPr>
          <p:cNvSpPr>
            <a:spLocks noGrp="1"/>
          </p:cNvSpPr>
          <p:nvPr>
            <p:ph type="title"/>
          </p:nvPr>
        </p:nvSpPr>
        <p:spPr>
          <a:xfrm>
            <a:off x="588263" y="457200"/>
            <a:ext cx="11018520" cy="553998"/>
          </a:xfrm>
        </p:spPr>
        <p:txBody>
          <a:bodyPr/>
          <a:lstStyle/>
          <a:p>
            <a:pPr>
              <a:tabLst>
                <a:tab pos="2578100" algn="l"/>
              </a:tabLst>
            </a:pPr>
            <a:r>
              <a:rPr lang="en-US">
                <a:cs typeface="Segoe Sans Display"/>
              </a:rPr>
              <a:t>Delivery Options for Partners journey</a:t>
            </a:r>
            <a:endParaRPr lang="en-US"/>
          </a:p>
        </p:txBody>
      </p:sp>
      <p:sp>
        <p:nvSpPr>
          <p:cNvPr id="3" name="Rectangle: Rounded Corners 2">
            <a:extLst>
              <a:ext uri="{FF2B5EF4-FFF2-40B4-BE49-F238E27FC236}">
                <a16:creationId xmlns:a16="http://schemas.microsoft.com/office/drawing/2014/main" id="{7D7CC8B7-87C6-59F4-30E9-DCADF34DB72E}"/>
              </a:ext>
            </a:extLst>
          </p:cNvPr>
          <p:cNvSpPr/>
          <p:nvPr/>
        </p:nvSpPr>
        <p:spPr>
          <a:xfrm>
            <a:off x="588263" y="1097534"/>
            <a:ext cx="11018520" cy="5557266"/>
          </a:xfrm>
          <a:prstGeom prst="roundRect">
            <a:avLst>
              <a:gd name="adj" fmla="val 4868"/>
            </a:avLst>
          </a:prstGeom>
          <a:solidFill>
            <a:schemeClr val="bg1">
              <a:alpha val="70000"/>
            </a:schemeClr>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FFF8F5">
                  <a:lumMod val="50000"/>
                </a:srgbClr>
              </a:solidFill>
              <a:effectLst/>
              <a:uLnTx/>
              <a:uFillTx/>
              <a:latin typeface="Segoe Sans Display Semibold"/>
              <a:ea typeface="+mn-ea"/>
              <a:cs typeface="+mn-cs"/>
            </a:endParaRPr>
          </a:p>
        </p:txBody>
      </p:sp>
      <p:sp>
        <p:nvSpPr>
          <p:cNvPr id="5" name="Oval 4">
            <a:extLst>
              <a:ext uri="{FF2B5EF4-FFF2-40B4-BE49-F238E27FC236}">
                <a16:creationId xmlns:a16="http://schemas.microsoft.com/office/drawing/2014/main" id="{8B6587F0-5948-AC23-F7CD-3F12D1869BE3}"/>
              </a:ext>
            </a:extLst>
          </p:cNvPr>
          <p:cNvSpPr/>
          <p:nvPr/>
        </p:nvSpPr>
        <p:spPr bwMode="auto">
          <a:xfrm>
            <a:off x="800167" y="3573010"/>
            <a:ext cx="466414" cy="466414"/>
          </a:xfrm>
          <a:prstGeom prst="ellipse">
            <a:avLst/>
          </a:prstGeom>
          <a:solidFill>
            <a:schemeClr val="bg2">
              <a:lumMod val="50000"/>
            </a:schemeClr>
          </a:solidFill>
          <a:ln w="22225">
            <a:solidFill>
              <a:schemeClr val="bg1"/>
            </a:solidFill>
            <a:headEnd type="none" w="med" len="med"/>
            <a:tailEnd type="none" w="med" len="med"/>
          </a:ln>
          <a:effectLst>
            <a:outerShdw blurRad="254000" dist="190500" dir="2700000" sx="90000" sy="90000" algn="tl" rotWithShape="0">
              <a:schemeClr val="accent1">
                <a:lumMod val="50000"/>
                <a:alpha val="2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sp>
        <p:nvSpPr>
          <p:cNvPr id="6" name="Freeform: Shape 5">
            <a:extLst>
              <a:ext uri="{FF2B5EF4-FFF2-40B4-BE49-F238E27FC236}">
                <a16:creationId xmlns:a16="http://schemas.microsoft.com/office/drawing/2014/main" id="{6E10C9F7-5268-62CD-7ED5-831E75642EF8}"/>
              </a:ext>
            </a:extLst>
          </p:cNvPr>
          <p:cNvSpPr/>
          <p:nvPr/>
        </p:nvSpPr>
        <p:spPr>
          <a:xfrm>
            <a:off x="1040606" y="3257979"/>
            <a:ext cx="1826753" cy="1096476"/>
          </a:xfrm>
          <a:custGeom>
            <a:avLst/>
            <a:gdLst>
              <a:gd name="connsiteX0" fmla="*/ 298921 w 2290841"/>
              <a:gd name="connsiteY0" fmla="*/ 0 h 1331912"/>
              <a:gd name="connsiteX1" fmla="*/ 1991920 w 2290841"/>
              <a:gd name="connsiteY1" fmla="*/ 0 h 1331912"/>
              <a:gd name="connsiteX2" fmla="*/ 2290841 w 2290841"/>
              <a:gd name="connsiteY2" fmla="*/ 298921 h 1331912"/>
              <a:gd name="connsiteX3" fmla="*/ 2290841 w 2290841"/>
              <a:gd name="connsiteY3" fmla="*/ 1032991 h 1331912"/>
              <a:gd name="connsiteX4" fmla="*/ 1991920 w 2290841"/>
              <a:gd name="connsiteY4" fmla="*/ 1331912 h 1331912"/>
              <a:gd name="connsiteX5" fmla="*/ 298921 w 2290841"/>
              <a:gd name="connsiteY5" fmla="*/ 1331912 h 1331912"/>
              <a:gd name="connsiteX6" fmla="*/ 0 w 2290841"/>
              <a:gd name="connsiteY6" fmla="*/ 1032991 h 1331912"/>
              <a:gd name="connsiteX7" fmla="*/ 0 w 2290841"/>
              <a:gd name="connsiteY7" fmla="*/ 999784 h 1331912"/>
              <a:gd name="connsiteX8" fmla="*/ 333828 w 2290841"/>
              <a:gd name="connsiteY8" fmla="*/ 665956 h 1331912"/>
              <a:gd name="connsiteX9" fmla="*/ 0 w 2290841"/>
              <a:gd name="connsiteY9" fmla="*/ 332128 h 1331912"/>
              <a:gd name="connsiteX10" fmla="*/ 0 w 2290841"/>
              <a:gd name="connsiteY10" fmla="*/ 298921 h 1331912"/>
              <a:gd name="connsiteX11" fmla="*/ 298921 w 2290841"/>
              <a:gd name="connsiteY11" fmla="*/ 0 h 133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90841" h="1331912">
                <a:moveTo>
                  <a:pt x="298921" y="0"/>
                </a:moveTo>
                <a:lnTo>
                  <a:pt x="1991920" y="0"/>
                </a:lnTo>
                <a:cubicBezTo>
                  <a:pt x="2157010" y="0"/>
                  <a:pt x="2290841" y="133831"/>
                  <a:pt x="2290841" y="298921"/>
                </a:cubicBezTo>
                <a:lnTo>
                  <a:pt x="2290841" y="1032991"/>
                </a:lnTo>
                <a:cubicBezTo>
                  <a:pt x="2290841" y="1198081"/>
                  <a:pt x="2157010" y="1331912"/>
                  <a:pt x="1991920" y="1331912"/>
                </a:cubicBezTo>
                <a:lnTo>
                  <a:pt x="298921" y="1331912"/>
                </a:lnTo>
                <a:cubicBezTo>
                  <a:pt x="133831" y="1331912"/>
                  <a:pt x="0" y="1198081"/>
                  <a:pt x="0" y="1032991"/>
                </a:cubicBezTo>
                <a:lnTo>
                  <a:pt x="0" y="999784"/>
                </a:lnTo>
                <a:cubicBezTo>
                  <a:pt x="184368" y="999784"/>
                  <a:pt x="333828" y="850324"/>
                  <a:pt x="333828" y="665956"/>
                </a:cubicBezTo>
                <a:cubicBezTo>
                  <a:pt x="333828" y="481588"/>
                  <a:pt x="184368" y="332128"/>
                  <a:pt x="0" y="332128"/>
                </a:cubicBezTo>
                <a:lnTo>
                  <a:pt x="0" y="298921"/>
                </a:lnTo>
                <a:cubicBezTo>
                  <a:pt x="0" y="133831"/>
                  <a:pt x="133831" y="0"/>
                  <a:pt x="298921" y="0"/>
                </a:cubicBezTo>
                <a:close/>
              </a:path>
            </a:pathLst>
          </a:custGeom>
          <a:solidFill>
            <a:schemeClr val="bg1">
              <a:alpha val="70000"/>
            </a:schemeClr>
          </a:solidFill>
          <a:ln w="6350">
            <a:solidFill>
              <a:schemeClr val="bg2">
                <a:lumMod val="50000"/>
              </a:schemeClr>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091F2C"/>
                </a:solidFill>
                <a:effectLst/>
                <a:uLnTx/>
                <a:uFillTx/>
                <a:latin typeface="Segoe Sans Display Semibold"/>
                <a:ea typeface="+mn-ea"/>
                <a:cs typeface="+mn-cs"/>
              </a:rPr>
              <a:t>Delivery Options for</a:t>
            </a:r>
          </a:p>
          <a:p>
            <a:pPr marL="0" marR="0" lvl="0" indent="0" algn="l" defTabSz="914400"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a:ln>
                  <a:noFill/>
                </a:ln>
                <a:solidFill>
                  <a:srgbClr val="FFF8F5">
                    <a:lumMod val="50000"/>
                  </a:srgbClr>
                </a:solidFill>
                <a:effectLst/>
                <a:uLnTx/>
                <a:uFillTx/>
                <a:latin typeface="Segoe Sans Display Semibold"/>
                <a:ea typeface="+mn-ea"/>
                <a:cs typeface="+mn-cs"/>
              </a:rPr>
              <a:t>Partners</a:t>
            </a:r>
          </a:p>
        </p:txBody>
      </p:sp>
      <p:sp>
        <p:nvSpPr>
          <p:cNvPr id="32" name="Rectangle: Rounded Corners 31">
            <a:extLst>
              <a:ext uri="{FF2B5EF4-FFF2-40B4-BE49-F238E27FC236}">
                <a16:creationId xmlns:a16="http://schemas.microsoft.com/office/drawing/2014/main" id="{474B2ECA-8DE6-D828-2A43-7B56833FC460}"/>
              </a:ext>
            </a:extLst>
          </p:cNvPr>
          <p:cNvSpPr>
            <a:spLocks/>
          </p:cNvSpPr>
          <p:nvPr/>
        </p:nvSpPr>
        <p:spPr>
          <a:xfrm>
            <a:off x="6494949" y="3135156"/>
            <a:ext cx="4924891" cy="736548"/>
          </a:xfrm>
          <a:prstGeom prst="roundRect">
            <a:avLst>
              <a:gd name="adj" fmla="val 15546"/>
            </a:avLst>
          </a:prstGeom>
          <a:solidFill>
            <a:schemeClr val="bg1">
              <a:alpha val="70000"/>
            </a:schemeClr>
          </a:solidFill>
          <a:ln w="6350">
            <a:solidFill>
              <a:schemeClr val="accent3"/>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Innovation Hub + Partner</a:t>
            </a:r>
          </a:p>
          <a:p>
            <a:pPr lvl="0">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Both the Hub and </a:t>
            </a:r>
            <a:r>
              <a:rPr lang="en-US" sz="1200">
                <a:solidFill>
                  <a:srgbClr val="091F2C"/>
                </a:solidFill>
                <a:latin typeface="Segoe Sans Display Semibold"/>
              </a:rPr>
              <a:t>the </a:t>
            </a: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partner co-deliver COE &amp; Envision and the Hub hands over to the Partner + Account Team for </a:t>
            </a:r>
            <a:r>
              <a:rPr lang="en-US" sz="1200">
                <a:solidFill>
                  <a:srgbClr val="091F2C"/>
                </a:solidFill>
                <a:latin typeface="Segoe Sans Display Semibold"/>
              </a:rPr>
              <a:t>AI Foundation Architect &amp; Factory</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mn-cs"/>
            </a:endParaRPr>
          </a:p>
        </p:txBody>
      </p:sp>
      <p:sp>
        <p:nvSpPr>
          <p:cNvPr id="33" name="Rectangle: Rounded Corners 32">
            <a:extLst>
              <a:ext uri="{FF2B5EF4-FFF2-40B4-BE49-F238E27FC236}">
                <a16:creationId xmlns:a16="http://schemas.microsoft.com/office/drawing/2014/main" id="{AF2FF9FA-432C-95F5-D11F-81D34088F497}"/>
              </a:ext>
            </a:extLst>
          </p:cNvPr>
          <p:cNvSpPr>
            <a:spLocks/>
          </p:cNvSpPr>
          <p:nvPr/>
        </p:nvSpPr>
        <p:spPr>
          <a:xfrm>
            <a:off x="6494949" y="2156452"/>
            <a:ext cx="4924891" cy="736548"/>
          </a:xfrm>
          <a:prstGeom prst="roundRect">
            <a:avLst>
              <a:gd name="adj" fmla="val 15546"/>
            </a:avLst>
          </a:prstGeom>
          <a:solidFill>
            <a:schemeClr val="bg1">
              <a:alpha val="70000"/>
            </a:schemeClr>
          </a:solidFill>
          <a:ln w="6350">
            <a:solidFill>
              <a:schemeClr val="accent3"/>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Innovation Hub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Executes all of </a:t>
            </a:r>
            <a:r>
              <a:rPr lang="en-US" sz="1200">
                <a:solidFill>
                  <a:srgbClr val="091F2C"/>
                </a:solidFill>
                <a:latin typeface="Segoe Sans Display Semibold"/>
              </a:rPr>
              <a:t>COE &amp; Envision</a:t>
            </a: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 with the support of the Account Team and hands over to the Partner for AI Foundation Architect &amp; Factory</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Segoe Sans Display Semibold"/>
            </a:endParaRPr>
          </a:p>
        </p:txBody>
      </p:sp>
      <p:sp>
        <p:nvSpPr>
          <p:cNvPr id="34" name="Rectangle: Rounded Corners 33">
            <a:extLst>
              <a:ext uri="{FF2B5EF4-FFF2-40B4-BE49-F238E27FC236}">
                <a16:creationId xmlns:a16="http://schemas.microsoft.com/office/drawing/2014/main" id="{254D18FB-EB9D-DE7D-C9BD-3DCEC3F587D3}"/>
              </a:ext>
            </a:extLst>
          </p:cNvPr>
          <p:cNvSpPr>
            <a:spLocks/>
          </p:cNvSpPr>
          <p:nvPr/>
        </p:nvSpPr>
        <p:spPr>
          <a:xfrm>
            <a:off x="6494949" y="4942056"/>
            <a:ext cx="4924891" cy="736548"/>
          </a:xfrm>
          <a:prstGeom prst="roundRect">
            <a:avLst>
              <a:gd name="adj" fmla="val 15546"/>
            </a:avLst>
          </a:prstGeom>
          <a:solidFill>
            <a:schemeClr val="bg1">
              <a:alpha val="70000"/>
            </a:schemeClr>
          </a:solidFill>
          <a:ln w="6350">
            <a:solidFill>
              <a:schemeClr val="accent1">
                <a:lumMod val="60000"/>
                <a:lumOff val="40000"/>
              </a:schemeClr>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C03BC4"/>
                </a:solidFill>
                <a:effectLst/>
                <a:uLnTx/>
                <a:uFillTx/>
                <a:latin typeface="Segoe Sans Display Semibold"/>
                <a:ea typeface="+mn-ea"/>
                <a:cs typeface="+mn-cs"/>
              </a:rPr>
              <a:t>MSFT Cloud Solution Architects + Partner</a:t>
            </a:r>
          </a:p>
          <a:p>
            <a:pPr>
              <a:defRPr/>
            </a:pPr>
            <a:r>
              <a:rPr lang="en-US" sz="1200">
                <a:solidFill>
                  <a:srgbClr val="091F2C"/>
                </a:solidFill>
                <a:latin typeface="Segoe Sans Display Semibold"/>
              </a:rPr>
              <a:t>Both the Microsoft architect and the partner co-deliver AI Foundation Architect &amp; Factory</a:t>
            </a:r>
          </a:p>
        </p:txBody>
      </p:sp>
      <p:sp>
        <p:nvSpPr>
          <p:cNvPr id="35" name="Rectangle: Rounded Corners 34">
            <a:extLst>
              <a:ext uri="{FF2B5EF4-FFF2-40B4-BE49-F238E27FC236}">
                <a16:creationId xmlns:a16="http://schemas.microsoft.com/office/drawing/2014/main" id="{3743F768-F150-8FCF-6057-9E15D8C6159E}"/>
              </a:ext>
            </a:extLst>
          </p:cNvPr>
          <p:cNvSpPr>
            <a:spLocks/>
          </p:cNvSpPr>
          <p:nvPr/>
        </p:nvSpPr>
        <p:spPr>
          <a:xfrm>
            <a:off x="6494949" y="4082416"/>
            <a:ext cx="4924891" cy="736548"/>
          </a:xfrm>
          <a:prstGeom prst="roundRect">
            <a:avLst>
              <a:gd name="adj" fmla="val 15546"/>
            </a:avLst>
          </a:prstGeom>
          <a:solidFill>
            <a:schemeClr val="bg1">
              <a:alpha val="70000"/>
            </a:schemeClr>
          </a:solidFill>
          <a:ln w="6350">
            <a:solidFill>
              <a:schemeClr val="accent1">
                <a:lumMod val="60000"/>
                <a:lumOff val="40000"/>
              </a:schemeClr>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C03BC4"/>
                </a:solidFill>
                <a:effectLst/>
                <a:uLnTx/>
                <a:uFillTx/>
                <a:latin typeface="Segoe Sans Display Semibold"/>
                <a:ea typeface="+mn-ea"/>
                <a:cs typeface="+mn-cs"/>
              </a:rPr>
              <a:t>Partner </a:t>
            </a:r>
          </a:p>
          <a:p>
            <a:pPr lvl="0">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Executes all of </a:t>
            </a:r>
            <a:r>
              <a:rPr lang="en-US" sz="1200">
                <a:solidFill>
                  <a:srgbClr val="091F2C"/>
                </a:solidFill>
                <a:latin typeface="Segoe Sans Display Semibold"/>
              </a:rPr>
              <a:t>AI Foundation Architect &amp; Factory </a:t>
            </a: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with the support of the Microsoft Account Team</a:t>
            </a:r>
          </a:p>
        </p:txBody>
      </p:sp>
      <p:sp>
        <p:nvSpPr>
          <p:cNvPr id="39" name="Rectangle: Rounded Corners 38">
            <a:extLst>
              <a:ext uri="{FF2B5EF4-FFF2-40B4-BE49-F238E27FC236}">
                <a16:creationId xmlns:a16="http://schemas.microsoft.com/office/drawing/2014/main" id="{19AF8198-6A5F-494D-4FCF-DA5BFABB8F73}"/>
              </a:ext>
            </a:extLst>
          </p:cNvPr>
          <p:cNvSpPr>
            <a:spLocks/>
          </p:cNvSpPr>
          <p:nvPr/>
        </p:nvSpPr>
        <p:spPr>
          <a:xfrm>
            <a:off x="6494949" y="5801697"/>
            <a:ext cx="4924891" cy="736548"/>
          </a:xfrm>
          <a:prstGeom prst="roundRect">
            <a:avLst>
              <a:gd name="adj" fmla="val 15546"/>
            </a:avLst>
          </a:prstGeom>
          <a:solidFill>
            <a:schemeClr val="bg1">
              <a:alpha val="70000"/>
            </a:schemeClr>
          </a:solidFill>
          <a:ln w="6350">
            <a:solidFill>
              <a:schemeClr val="accent1">
                <a:lumMod val="60000"/>
                <a:lumOff val="40000"/>
              </a:schemeClr>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C03BC4"/>
                </a:solidFill>
                <a:effectLst/>
                <a:uLnTx/>
                <a:uFillTx/>
                <a:latin typeface="Segoe Sans Display Semibold"/>
                <a:ea typeface="+mn-ea"/>
                <a:cs typeface="+mn-cs"/>
              </a:rPr>
              <a:t>Partner + ISD</a:t>
            </a:r>
          </a:p>
          <a:p>
            <a:pPr lvl="0">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Both ISD and the partner co-deliver </a:t>
            </a:r>
            <a:r>
              <a:rPr lang="en-US" sz="1200">
                <a:solidFill>
                  <a:srgbClr val="091F2C"/>
                </a:solidFill>
                <a:latin typeface="Segoe Sans Display Semibold"/>
              </a:rPr>
              <a:t>AI Foundation Architect &amp; Factory</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mn-cs"/>
            </a:endParaRPr>
          </a:p>
        </p:txBody>
      </p:sp>
      <p:grpSp>
        <p:nvGrpSpPr>
          <p:cNvPr id="46" name="Group 45">
            <a:extLst>
              <a:ext uri="{FF2B5EF4-FFF2-40B4-BE49-F238E27FC236}">
                <a16:creationId xmlns:a16="http://schemas.microsoft.com/office/drawing/2014/main" id="{13B01C3C-3B2F-B4B4-192E-0D259EBAC9DB}"/>
              </a:ext>
            </a:extLst>
          </p:cNvPr>
          <p:cNvGrpSpPr/>
          <p:nvPr/>
        </p:nvGrpSpPr>
        <p:grpSpPr>
          <a:xfrm>
            <a:off x="5693793" y="4357070"/>
            <a:ext cx="739927" cy="1906521"/>
            <a:chOff x="5693793" y="4079984"/>
            <a:chExt cx="739927" cy="1906521"/>
          </a:xfrm>
        </p:grpSpPr>
        <p:cxnSp>
          <p:nvCxnSpPr>
            <p:cNvPr id="47" name="Straight Connector 46">
              <a:extLst>
                <a:ext uri="{FF2B5EF4-FFF2-40B4-BE49-F238E27FC236}">
                  <a16:creationId xmlns:a16="http://schemas.microsoft.com/office/drawing/2014/main" id="{2B267619-3892-A471-AF6D-052DDAEE1D48}"/>
                </a:ext>
              </a:extLst>
            </p:cNvPr>
            <p:cNvCxnSpPr>
              <a:cxnSpLocks/>
            </p:cNvCxnSpPr>
            <p:nvPr/>
          </p:nvCxnSpPr>
          <p:spPr>
            <a:xfrm>
              <a:off x="6057827" y="4173604"/>
              <a:ext cx="353910" cy="0"/>
            </a:xfrm>
            <a:prstGeom prst="line">
              <a:avLst/>
            </a:prstGeom>
            <a:noFill/>
            <a:ln w="444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48" name="Straight Connector 47">
              <a:extLst>
                <a:ext uri="{FF2B5EF4-FFF2-40B4-BE49-F238E27FC236}">
                  <a16:creationId xmlns:a16="http://schemas.microsoft.com/office/drawing/2014/main" id="{74FF1D97-B550-8FC7-8794-3EBD9E4766BC}"/>
                </a:ext>
              </a:extLst>
            </p:cNvPr>
            <p:cNvCxnSpPr>
              <a:cxnSpLocks/>
            </p:cNvCxnSpPr>
            <p:nvPr/>
          </p:nvCxnSpPr>
          <p:spPr>
            <a:xfrm flipV="1">
              <a:off x="5693793" y="5033245"/>
              <a:ext cx="575102" cy="1"/>
            </a:xfrm>
            <a:prstGeom prst="line">
              <a:avLst/>
            </a:prstGeom>
            <a:noFill/>
            <a:ln w="444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9" name="Arrow: U-Turn 48">
              <a:extLst>
                <a:ext uri="{FF2B5EF4-FFF2-40B4-BE49-F238E27FC236}">
                  <a16:creationId xmlns:a16="http://schemas.microsoft.com/office/drawing/2014/main" id="{3ABB5942-AE48-CA8C-809B-60C63E703E82}"/>
                </a:ext>
              </a:extLst>
            </p:cNvPr>
            <p:cNvSpPr/>
            <p:nvPr/>
          </p:nvSpPr>
          <p:spPr bwMode="auto">
            <a:xfrm rot="16200000">
              <a:off x="5808594" y="5295189"/>
              <a:ext cx="845292" cy="332279"/>
            </a:xfrm>
            <a:prstGeom prst="uturnArrow">
              <a:avLst>
                <a:gd name="adj1" fmla="val 0"/>
                <a:gd name="adj2" fmla="val 0"/>
                <a:gd name="adj3" fmla="val 0"/>
                <a:gd name="adj4" fmla="val 0"/>
                <a:gd name="adj5" fmla="val 100000"/>
              </a:avLst>
            </a:prstGeom>
            <a:noFill/>
            <a:ln w="444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cxnSp>
          <p:nvCxnSpPr>
            <p:cNvPr id="50" name="Straight Connector 49">
              <a:extLst>
                <a:ext uri="{FF2B5EF4-FFF2-40B4-BE49-F238E27FC236}">
                  <a16:creationId xmlns:a16="http://schemas.microsoft.com/office/drawing/2014/main" id="{3970D77D-FE9D-2383-A6C2-0B87D8831935}"/>
                </a:ext>
              </a:extLst>
            </p:cNvPr>
            <p:cNvCxnSpPr>
              <a:cxnSpLocks/>
            </p:cNvCxnSpPr>
            <p:nvPr/>
          </p:nvCxnSpPr>
          <p:spPr>
            <a:xfrm flipV="1">
              <a:off x="6065098" y="4152900"/>
              <a:ext cx="0" cy="1330481"/>
            </a:xfrm>
            <a:prstGeom prst="line">
              <a:avLst/>
            </a:prstGeom>
            <a:noFill/>
            <a:ln w="444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53" name="Group 52">
              <a:extLst>
                <a:ext uri="{FF2B5EF4-FFF2-40B4-BE49-F238E27FC236}">
                  <a16:creationId xmlns:a16="http://schemas.microsoft.com/office/drawing/2014/main" id="{656FCBF1-757E-42E2-FBAB-1CD1EF8659B0}"/>
                </a:ext>
              </a:extLst>
            </p:cNvPr>
            <p:cNvGrpSpPr/>
            <p:nvPr/>
          </p:nvGrpSpPr>
          <p:grpSpPr>
            <a:xfrm>
              <a:off x="6246480" y="4079984"/>
              <a:ext cx="187240" cy="187240"/>
              <a:chOff x="10055355" y="4410075"/>
              <a:chExt cx="249152" cy="249152"/>
            </a:xfrm>
          </p:grpSpPr>
          <p:sp>
            <p:nvSpPr>
              <p:cNvPr id="59" name="Oval 58">
                <a:extLst>
                  <a:ext uri="{FF2B5EF4-FFF2-40B4-BE49-F238E27FC236}">
                    <a16:creationId xmlns:a16="http://schemas.microsoft.com/office/drawing/2014/main" id="{271BB28A-3299-7B17-A2FF-A22C729E8EDF}"/>
                  </a:ext>
                </a:extLst>
              </p:cNvPr>
              <p:cNvSpPr/>
              <p:nvPr/>
            </p:nvSpPr>
            <p:spPr bwMode="auto">
              <a:xfrm>
                <a:off x="10055355" y="4410075"/>
                <a:ext cx="249152" cy="249152"/>
              </a:xfrm>
              <a:prstGeom prst="ellipse">
                <a:avLst/>
              </a:prstGeom>
              <a:solidFill>
                <a:schemeClr val="accent2"/>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60" name="Graphic 59">
                <a:extLst>
                  <a:ext uri="{FF2B5EF4-FFF2-40B4-BE49-F238E27FC236}">
                    <a16:creationId xmlns:a16="http://schemas.microsoft.com/office/drawing/2014/main" id="{38C4435B-2D8D-02F7-32B5-8C31B71F25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398" y="4469607"/>
                <a:ext cx="75686" cy="130084"/>
              </a:xfrm>
              <a:prstGeom prst="rect">
                <a:avLst/>
              </a:prstGeom>
            </p:spPr>
          </p:pic>
        </p:grpSp>
        <p:sp>
          <p:nvSpPr>
            <p:cNvPr id="54" name="Oval 53">
              <a:extLst>
                <a:ext uri="{FF2B5EF4-FFF2-40B4-BE49-F238E27FC236}">
                  <a16:creationId xmlns:a16="http://schemas.microsoft.com/office/drawing/2014/main" id="{BEA4C91B-6403-A256-A81F-7B20504C7B4C}"/>
                </a:ext>
              </a:extLst>
            </p:cNvPr>
            <p:cNvSpPr/>
            <p:nvPr/>
          </p:nvSpPr>
          <p:spPr bwMode="auto">
            <a:xfrm>
              <a:off x="6246480" y="4939625"/>
              <a:ext cx="187240" cy="187240"/>
            </a:xfrm>
            <a:prstGeom prst="ellipse">
              <a:avLst/>
            </a:prstGeom>
            <a:solidFill>
              <a:schemeClr val="accent2"/>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55" name="Graphic 54">
              <a:extLst>
                <a:ext uri="{FF2B5EF4-FFF2-40B4-BE49-F238E27FC236}">
                  <a16:creationId xmlns:a16="http://schemas.microsoft.com/office/drawing/2014/main" id="{CB30989B-8CBB-A857-C92F-99CC3B2E41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1894" y="4984364"/>
              <a:ext cx="56879" cy="97759"/>
            </a:xfrm>
            <a:prstGeom prst="rect">
              <a:avLst/>
            </a:prstGeom>
          </p:spPr>
        </p:pic>
        <p:grpSp>
          <p:nvGrpSpPr>
            <p:cNvPr id="56" name="Group 55">
              <a:extLst>
                <a:ext uri="{FF2B5EF4-FFF2-40B4-BE49-F238E27FC236}">
                  <a16:creationId xmlns:a16="http://schemas.microsoft.com/office/drawing/2014/main" id="{3ADE9F03-7B11-638B-9435-7856EC57D421}"/>
                </a:ext>
              </a:extLst>
            </p:cNvPr>
            <p:cNvGrpSpPr/>
            <p:nvPr/>
          </p:nvGrpSpPr>
          <p:grpSpPr>
            <a:xfrm>
              <a:off x="6246480" y="5799265"/>
              <a:ext cx="187240" cy="187240"/>
              <a:chOff x="10055355" y="4410075"/>
              <a:chExt cx="249152" cy="249152"/>
            </a:xfrm>
          </p:grpSpPr>
          <p:sp>
            <p:nvSpPr>
              <p:cNvPr id="57" name="Oval 56">
                <a:extLst>
                  <a:ext uri="{FF2B5EF4-FFF2-40B4-BE49-F238E27FC236}">
                    <a16:creationId xmlns:a16="http://schemas.microsoft.com/office/drawing/2014/main" id="{19991D43-35EC-B991-424D-EEE53925C8E9}"/>
                  </a:ext>
                </a:extLst>
              </p:cNvPr>
              <p:cNvSpPr/>
              <p:nvPr/>
            </p:nvSpPr>
            <p:spPr bwMode="auto">
              <a:xfrm>
                <a:off x="10055355" y="4410075"/>
                <a:ext cx="249152" cy="249152"/>
              </a:xfrm>
              <a:prstGeom prst="ellipse">
                <a:avLst/>
              </a:prstGeom>
              <a:solidFill>
                <a:schemeClr val="accent2"/>
              </a:solidFill>
              <a:ln w="6350">
                <a:gradFill>
                  <a:gsLst>
                    <a:gs pos="0">
                      <a:schemeClr val="bg1">
                        <a:alpha val="27000"/>
                      </a:schemeClr>
                    </a:gs>
                    <a:gs pos="100000">
                      <a:schemeClr val="bg1">
                        <a:alpha val="59000"/>
                      </a:schemeClr>
                    </a:gs>
                  </a:gsLst>
                  <a:lin ang="5400000" scaled="1"/>
                </a:gra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58" name="Graphic 57">
                <a:extLst>
                  <a:ext uri="{FF2B5EF4-FFF2-40B4-BE49-F238E27FC236}">
                    <a16:creationId xmlns:a16="http://schemas.microsoft.com/office/drawing/2014/main" id="{194823B9-793B-7486-181F-6E26E1BC6A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398" y="4469607"/>
                <a:ext cx="75686" cy="130084"/>
              </a:xfrm>
              <a:prstGeom prst="rect">
                <a:avLst/>
              </a:prstGeom>
            </p:spPr>
          </p:pic>
        </p:grpSp>
      </p:grpSp>
      <p:grpSp>
        <p:nvGrpSpPr>
          <p:cNvPr id="61" name="Group 60">
            <a:extLst>
              <a:ext uri="{FF2B5EF4-FFF2-40B4-BE49-F238E27FC236}">
                <a16:creationId xmlns:a16="http://schemas.microsoft.com/office/drawing/2014/main" id="{E1B6E32F-1B36-E216-9E80-D658432F4DBD}"/>
              </a:ext>
            </a:extLst>
          </p:cNvPr>
          <p:cNvGrpSpPr/>
          <p:nvPr/>
        </p:nvGrpSpPr>
        <p:grpSpPr>
          <a:xfrm>
            <a:off x="2867359" y="2485568"/>
            <a:ext cx="751956" cy="2918381"/>
            <a:chOff x="2867359" y="2485569"/>
            <a:chExt cx="751956" cy="2641296"/>
          </a:xfrm>
        </p:grpSpPr>
        <p:cxnSp>
          <p:nvCxnSpPr>
            <p:cNvPr id="62" name="Straight Connector 61">
              <a:extLst>
                <a:ext uri="{FF2B5EF4-FFF2-40B4-BE49-F238E27FC236}">
                  <a16:creationId xmlns:a16="http://schemas.microsoft.com/office/drawing/2014/main" id="{0712B921-3855-61D4-AC1A-604D4C7F6BDD}"/>
                </a:ext>
              </a:extLst>
            </p:cNvPr>
            <p:cNvCxnSpPr>
              <a:cxnSpLocks/>
            </p:cNvCxnSpPr>
            <p:nvPr/>
          </p:nvCxnSpPr>
          <p:spPr>
            <a:xfrm>
              <a:off x="2867359" y="3806217"/>
              <a:ext cx="314472" cy="0"/>
            </a:xfrm>
            <a:prstGeom prst="line">
              <a:avLst/>
            </a:prstGeom>
            <a:noFill/>
            <a:ln w="6350">
              <a:solidFill>
                <a:schemeClr val="tx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63" name="Group 62">
              <a:extLst>
                <a:ext uri="{FF2B5EF4-FFF2-40B4-BE49-F238E27FC236}">
                  <a16:creationId xmlns:a16="http://schemas.microsoft.com/office/drawing/2014/main" id="{50EA808D-EDCF-2D77-B728-D3A23C6A6175}"/>
                </a:ext>
              </a:extLst>
            </p:cNvPr>
            <p:cNvGrpSpPr/>
            <p:nvPr/>
          </p:nvGrpSpPr>
          <p:grpSpPr>
            <a:xfrm>
              <a:off x="3181831" y="2485569"/>
              <a:ext cx="437484" cy="2641296"/>
              <a:chOff x="3181831" y="2485569"/>
              <a:chExt cx="437484" cy="2641296"/>
            </a:xfrm>
          </p:grpSpPr>
          <p:grpSp>
            <p:nvGrpSpPr>
              <p:cNvPr id="64" name="Group 63">
                <a:extLst>
                  <a:ext uri="{FF2B5EF4-FFF2-40B4-BE49-F238E27FC236}">
                    <a16:creationId xmlns:a16="http://schemas.microsoft.com/office/drawing/2014/main" id="{77A4EF2D-9275-9A40-3238-9B31A756475D}"/>
                  </a:ext>
                </a:extLst>
              </p:cNvPr>
              <p:cNvGrpSpPr/>
              <p:nvPr/>
            </p:nvGrpSpPr>
            <p:grpSpPr>
              <a:xfrm>
                <a:off x="3181831" y="2584985"/>
                <a:ext cx="324956" cy="2453693"/>
                <a:chOff x="3319944" y="2584985"/>
                <a:chExt cx="217949" cy="2453693"/>
              </a:xfrm>
            </p:grpSpPr>
            <p:sp>
              <p:nvSpPr>
                <p:cNvPr id="71" name="Arrow: Bent 70">
                  <a:extLst>
                    <a:ext uri="{FF2B5EF4-FFF2-40B4-BE49-F238E27FC236}">
                      <a16:creationId xmlns:a16="http://schemas.microsoft.com/office/drawing/2014/main" id="{08545534-34DB-E051-1FD6-AACE9C713A28}"/>
                    </a:ext>
                  </a:extLst>
                </p:cNvPr>
                <p:cNvSpPr/>
                <p:nvPr/>
              </p:nvSpPr>
              <p:spPr bwMode="auto">
                <a:xfrm rot="5400000" flipV="1">
                  <a:off x="2875919" y="3029010"/>
                  <a:ext cx="1105997" cy="217947"/>
                </a:xfrm>
                <a:prstGeom prst="bentArrow">
                  <a:avLst>
                    <a:gd name="adj1" fmla="val 25000"/>
                    <a:gd name="adj2" fmla="val 0"/>
                    <a:gd name="adj3" fmla="val 0"/>
                    <a:gd name="adj4" fmla="val 43750"/>
                  </a:avLst>
                </a:prstGeom>
                <a:solidFill>
                  <a:schemeClr val="bg1">
                    <a:alpha val="70000"/>
                  </a:schemeClr>
                </a:solidFill>
                <a:ln w="635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Semibold"/>
                    <a:ea typeface="+mn-ea"/>
                    <a:cs typeface="+mn-cs"/>
                  </a:endParaRPr>
                </a:p>
              </p:txBody>
            </p:sp>
            <p:sp>
              <p:nvSpPr>
                <p:cNvPr id="72" name="Arrow: Bent 71">
                  <a:extLst>
                    <a:ext uri="{FF2B5EF4-FFF2-40B4-BE49-F238E27FC236}">
                      <a16:creationId xmlns:a16="http://schemas.microsoft.com/office/drawing/2014/main" id="{64D5765B-6A10-1468-F514-6796C21E0CFC}"/>
                    </a:ext>
                  </a:extLst>
                </p:cNvPr>
                <p:cNvSpPr/>
                <p:nvPr/>
              </p:nvSpPr>
              <p:spPr bwMode="auto">
                <a:xfrm rot="5400000" flipH="1" flipV="1">
                  <a:off x="2753297" y="4254082"/>
                  <a:ext cx="1351243" cy="217949"/>
                </a:xfrm>
                <a:prstGeom prst="bentArrow">
                  <a:avLst>
                    <a:gd name="adj1" fmla="val 25000"/>
                    <a:gd name="adj2" fmla="val 0"/>
                    <a:gd name="adj3" fmla="val 0"/>
                    <a:gd name="adj4" fmla="val 43750"/>
                  </a:avLst>
                </a:prstGeom>
                <a:solidFill>
                  <a:schemeClr val="bg1">
                    <a:alpha val="70000"/>
                  </a:schemeClr>
                </a:solidFill>
                <a:ln w="635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Semibold"/>
                    <a:ea typeface="+mn-ea"/>
                    <a:cs typeface="+mn-cs"/>
                  </a:endParaRPr>
                </a:p>
              </p:txBody>
            </p:sp>
          </p:grpSp>
          <p:grpSp>
            <p:nvGrpSpPr>
              <p:cNvPr id="65" name="Group 64">
                <a:extLst>
                  <a:ext uri="{FF2B5EF4-FFF2-40B4-BE49-F238E27FC236}">
                    <a16:creationId xmlns:a16="http://schemas.microsoft.com/office/drawing/2014/main" id="{17195F92-0ECC-914A-B08B-026EA6FA9752}"/>
                  </a:ext>
                </a:extLst>
              </p:cNvPr>
              <p:cNvGrpSpPr/>
              <p:nvPr/>
            </p:nvGrpSpPr>
            <p:grpSpPr>
              <a:xfrm>
                <a:off x="3432075" y="2485569"/>
                <a:ext cx="187240" cy="187240"/>
                <a:chOff x="10055355" y="4410075"/>
                <a:chExt cx="249152" cy="249152"/>
              </a:xfrm>
              <a:solidFill>
                <a:srgbClr val="57B9C5"/>
              </a:solidFill>
            </p:grpSpPr>
            <p:sp>
              <p:nvSpPr>
                <p:cNvPr id="69" name="Oval 68">
                  <a:extLst>
                    <a:ext uri="{FF2B5EF4-FFF2-40B4-BE49-F238E27FC236}">
                      <a16:creationId xmlns:a16="http://schemas.microsoft.com/office/drawing/2014/main" id="{F4992A2B-6702-A320-0EA9-943F4D2BA698}"/>
                    </a:ext>
                  </a:extLst>
                </p:cNvPr>
                <p:cNvSpPr/>
                <p:nvPr/>
              </p:nvSpPr>
              <p:spPr bwMode="auto">
                <a:xfrm>
                  <a:off x="10055355" y="4410075"/>
                  <a:ext cx="249152" cy="249152"/>
                </a:xfrm>
                <a:prstGeom prst="ellipse">
                  <a:avLst/>
                </a:prstGeom>
                <a:solidFill>
                  <a:schemeClr val="tx2"/>
                </a:solidFill>
                <a:ln w="6350">
                  <a:solidFill>
                    <a:schemeClr val="tx2"/>
                  </a:soli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70" name="Graphic 69">
                  <a:extLst>
                    <a:ext uri="{FF2B5EF4-FFF2-40B4-BE49-F238E27FC236}">
                      <a16:creationId xmlns:a16="http://schemas.microsoft.com/office/drawing/2014/main" id="{FBB3D2DC-4DC8-91DE-B000-171F40BF5D3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42398" y="4469607"/>
                  <a:ext cx="75686" cy="130084"/>
                </a:xfrm>
                <a:prstGeom prst="rect">
                  <a:avLst/>
                </a:prstGeom>
              </p:spPr>
            </p:pic>
          </p:grpSp>
          <p:grpSp>
            <p:nvGrpSpPr>
              <p:cNvPr id="66" name="Group 65">
                <a:extLst>
                  <a:ext uri="{FF2B5EF4-FFF2-40B4-BE49-F238E27FC236}">
                    <a16:creationId xmlns:a16="http://schemas.microsoft.com/office/drawing/2014/main" id="{C1CB79CA-32E2-17CE-C92F-640DAA596854}"/>
                  </a:ext>
                </a:extLst>
              </p:cNvPr>
              <p:cNvGrpSpPr/>
              <p:nvPr/>
            </p:nvGrpSpPr>
            <p:grpSpPr>
              <a:xfrm>
                <a:off x="3432075" y="4939625"/>
                <a:ext cx="187240" cy="187240"/>
                <a:chOff x="10055355" y="4410075"/>
                <a:chExt cx="249152" cy="249152"/>
              </a:xfrm>
            </p:grpSpPr>
            <p:sp>
              <p:nvSpPr>
                <p:cNvPr id="67" name="Oval 66">
                  <a:extLst>
                    <a:ext uri="{FF2B5EF4-FFF2-40B4-BE49-F238E27FC236}">
                      <a16:creationId xmlns:a16="http://schemas.microsoft.com/office/drawing/2014/main" id="{602C28FF-9280-8D13-55F2-AAC0D103502B}"/>
                    </a:ext>
                  </a:extLst>
                </p:cNvPr>
                <p:cNvSpPr/>
                <p:nvPr/>
              </p:nvSpPr>
              <p:spPr bwMode="auto">
                <a:xfrm>
                  <a:off x="10055355" y="4410075"/>
                  <a:ext cx="249152" cy="249152"/>
                </a:xfrm>
                <a:prstGeom prst="ellipse">
                  <a:avLst/>
                </a:prstGeom>
                <a:solidFill>
                  <a:schemeClr val="tx2"/>
                </a:solidFill>
                <a:ln w="6350">
                  <a:solidFill>
                    <a:schemeClr val="tx2"/>
                  </a:soli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68" name="Graphic 67">
                  <a:extLst>
                    <a:ext uri="{FF2B5EF4-FFF2-40B4-BE49-F238E27FC236}">
                      <a16:creationId xmlns:a16="http://schemas.microsoft.com/office/drawing/2014/main" id="{038F5166-A4A8-D604-ACE0-561A7D0143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398" y="4469607"/>
                  <a:ext cx="75686" cy="130084"/>
                </a:xfrm>
                <a:prstGeom prst="rect">
                  <a:avLst/>
                </a:prstGeom>
              </p:spPr>
            </p:pic>
          </p:grpSp>
        </p:grpSp>
      </p:grpSp>
      <p:sp>
        <p:nvSpPr>
          <p:cNvPr id="73" name="Rectangle: Rounded Corners 72">
            <a:extLst>
              <a:ext uri="{FF2B5EF4-FFF2-40B4-BE49-F238E27FC236}">
                <a16:creationId xmlns:a16="http://schemas.microsoft.com/office/drawing/2014/main" id="{CC9CFE37-4D40-E36F-50B1-90F97E116BD8}"/>
              </a:ext>
            </a:extLst>
          </p:cNvPr>
          <p:cNvSpPr>
            <a:spLocks/>
          </p:cNvSpPr>
          <p:nvPr/>
        </p:nvSpPr>
        <p:spPr>
          <a:xfrm>
            <a:off x="3664301" y="4663924"/>
            <a:ext cx="2041174" cy="1292813"/>
          </a:xfrm>
          <a:prstGeom prst="roundRect">
            <a:avLst>
              <a:gd name="adj" fmla="val 15341"/>
            </a:avLst>
          </a:prstGeom>
          <a:solidFill>
            <a:schemeClr val="bg1">
              <a:alpha val="70000"/>
            </a:schemeClr>
          </a:solidFill>
          <a:ln w="6350">
            <a:solidFill>
              <a:schemeClr val="accent1">
                <a:lumMod val="60000"/>
                <a:lumOff val="40000"/>
              </a:schemeClr>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C03BC4"/>
                </a:solidFill>
                <a:effectLst/>
                <a:uLnTx/>
                <a:uFillTx/>
                <a:latin typeface="Segoe Sans Display Semibold"/>
                <a:ea typeface="+mn-ea"/>
                <a:cs typeface="+mn-cs"/>
              </a:rPr>
              <a:t>Co-Deliver with Microsoft Unified Sales Team</a:t>
            </a:r>
          </a:p>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AI Foundation Architecture &amp; Gen AI Factory</a:t>
            </a:r>
          </a:p>
        </p:txBody>
      </p:sp>
      <p:sp>
        <p:nvSpPr>
          <p:cNvPr id="74" name="Rectangle: Rounded Corners 73">
            <a:extLst>
              <a:ext uri="{FF2B5EF4-FFF2-40B4-BE49-F238E27FC236}">
                <a16:creationId xmlns:a16="http://schemas.microsoft.com/office/drawing/2014/main" id="{4486789B-74F7-1D33-0765-3159E4776B33}"/>
              </a:ext>
            </a:extLst>
          </p:cNvPr>
          <p:cNvSpPr>
            <a:spLocks/>
          </p:cNvSpPr>
          <p:nvPr/>
        </p:nvSpPr>
        <p:spPr>
          <a:xfrm>
            <a:off x="3664301" y="1947418"/>
            <a:ext cx="2041174" cy="1292814"/>
          </a:xfrm>
          <a:prstGeom prst="roundRect">
            <a:avLst>
              <a:gd name="adj" fmla="val 15341"/>
            </a:avLst>
          </a:prstGeom>
          <a:solidFill>
            <a:schemeClr val="bg1">
              <a:alpha val="70000"/>
            </a:schemeClr>
          </a:solidFill>
          <a:ln w="6350">
            <a:solidFill>
              <a:schemeClr val="accent3"/>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US" sz="1400" b="0" i="0" u="none" strike="noStrike" kern="1200" cap="none" spc="0" normalizeH="0" baseline="0" noProof="0">
                <a:ln>
                  <a:noFill/>
                </a:ln>
                <a:solidFill>
                  <a:srgbClr val="0078D4"/>
                </a:solidFill>
                <a:effectLst/>
                <a:uLnTx/>
                <a:uFillTx/>
                <a:latin typeface="Segoe Sans Display Semibold"/>
                <a:ea typeface="+mn-ea"/>
                <a:cs typeface="+mn-cs"/>
              </a:rPr>
              <a:t>Co-Deliver with the Innovation Hub </a:t>
            </a:r>
          </a:p>
          <a:p>
            <a:pPr lvl="0">
              <a:spcBef>
                <a:spcPts val="300"/>
              </a:spcBef>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For Selected Hub  Customers for AI COE &amp; Solution </a:t>
            </a:r>
            <a:r>
              <a:rPr lang="en-US" sz="1200">
                <a:solidFill>
                  <a:srgbClr val="091F2C"/>
                </a:solidFill>
                <a:latin typeface="Segoe Sans Display Semibold"/>
              </a:rPr>
              <a:t>Envisioning</a:t>
            </a:r>
          </a:p>
        </p:txBody>
      </p:sp>
      <p:sp>
        <p:nvSpPr>
          <p:cNvPr id="2" name="Rectangle: Rounded Corners 1">
            <a:extLst>
              <a:ext uri="{FF2B5EF4-FFF2-40B4-BE49-F238E27FC236}">
                <a16:creationId xmlns:a16="http://schemas.microsoft.com/office/drawing/2014/main" id="{32C9921F-7AE4-2E07-8176-CCE5D1110033}"/>
              </a:ext>
            </a:extLst>
          </p:cNvPr>
          <p:cNvSpPr>
            <a:spLocks/>
          </p:cNvSpPr>
          <p:nvPr/>
        </p:nvSpPr>
        <p:spPr>
          <a:xfrm>
            <a:off x="6494949" y="1265219"/>
            <a:ext cx="4924891" cy="736548"/>
          </a:xfrm>
          <a:prstGeom prst="roundRect">
            <a:avLst>
              <a:gd name="adj" fmla="val 15546"/>
            </a:avLst>
          </a:prstGeom>
          <a:solidFill>
            <a:schemeClr val="bg1">
              <a:alpha val="70000"/>
            </a:schemeClr>
          </a:solidFill>
          <a:ln w="6350">
            <a:solidFill>
              <a:schemeClr val="accent3"/>
            </a:solidFill>
            <a:headEnd type="none" w="med" len="med"/>
            <a:tailEnd type="none" w="med" len="med"/>
          </a:ln>
          <a:effectLst>
            <a:outerShdw blurRad="190500" dist="190500" dir="2700000" sx="95000" sy="95000" algn="tl" rotWithShape="0">
              <a:schemeClr val="bg2">
                <a:lumMod val="10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Sans Display Semibold"/>
                <a:ea typeface="+mn-ea"/>
                <a:cs typeface="+mn-cs"/>
              </a:rPr>
              <a:t>Partner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Executes all of </a:t>
            </a:r>
            <a:r>
              <a:rPr lang="en-US" sz="1200">
                <a:solidFill>
                  <a:srgbClr val="091F2C"/>
                </a:solidFill>
                <a:latin typeface="Segoe Sans Display Semibold"/>
              </a:rPr>
              <a:t>COE &amp; Envision</a:t>
            </a: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 with the support of the Account Team.  </a:t>
            </a:r>
            <a:r>
              <a:rPr lang="en-US" sz="1200">
                <a:solidFill>
                  <a:srgbClr val="091F2C"/>
                </a:solidFill>
                <a:latin typeface="Segoe Sans Display Semibold"/>
              </a:rPr>
              <a:t>Manages</a:t>
            </a:r>
            <a:r>
              <a:rPr kumimoji="0" lang="en-US" sz="1200" b="0" i="0" u="none" strike="noStrike" kern="1200" cap="none" spc="0" normalizeH="0" baseline="0" noProof="0">
                <a:ln>
                  <a:noFill/>
                </a:ln>
                <a:solidFill>
                  <a:srgbClr val="091F2C"/>
                </a:solidFill>
                <a:effectLst/>
                <a:uLnTx/>
                <a:uFillTx/>
                <a:latin typeface="Segoe Sans Display Semibold"/>
                <a:ea typeface="+mn-ea"/>
                <a:cs typeface="+mn-cs"/>
              </a:rPr>
              <a:t> the Architect &amp; Factory with the Account Team.</a:t>
            </a:r>
            <a:endParaRPr kumimoji="0" lang="en-US" sz="1200" b="0" i="0" u="none" strike="noStrike" kern="1200" cap="none" spc="0" normalizeH="0" baseline="0" noProof="0">
              <a:ln>
                <a:noFill/>
              </a:ln>
              <a:solidFill>
                <a:srgbClr val="091F2C"/>
              </a:solidFill>
              <a:effectLst/>
              <a:uLnTx/>
              <a:uFillTx/>
              <a:latin typeface="Segoe Sans Display Semibold"/>
              <a:ea typeface="+mn-ea"/>
              <a:cs typeface="Segoe Sans Display Semibold"/>
            </a:endParaRPr>
          </a:p>
        </p:txBody>
      </p:sp>
      <p:grpSp>
        <p:nvGrpSpPr>
          <p:cNvPr id="8" name="Group 7">
            <a:extLst>
              <a:ext uri="{FF2B5EF4-FFF2-40B4-BE49-F238E27FC236}">
                <a16:creationId xmlns:a16="http://schemas.microsoft.com/office/drawing/2014/main" id="{0421276D-ECC5-FDDD-ECFD-94C43A9A9824}"/>
              </a:ext>
            </a:extLst>
          </p:cNvPr>
          <p:cNvGrpSpPr/>
          <p:nvPr/>
        </p:nvGrpSpPr>
        <p:grpSpPr>
          <a:xfrm>
            <a:off x="5723200" y="1633493"/>
            <a:ext cx="739927" cy="1906521"/>
            <a:chOff x="5693793" y="4079984"/>
            <a:chExt cx="739927" cy="1906521"/>
          </a:xfrm>
          <a:solidFill>
            <a:srgbClr val="0070C0"/>
          </a:solidFill>
        </p:grpSpPr>
        <p:cxnSp>
          <p:nvCxnSpPr>
            <p:cNvPr id="13" name="Straight Connector 12">
              <a:extLst>
                <a:ext uri="{FF2B5EF4-FFF2-40B4-BE49-F238E27FC236}">
                  <a16:creationId xmlns:a16="http://schemas.microsoft.com/office/drawing/2014/main" id="{980F9BD8-609A-66AD-9A66-6085A5AA7633}"/>
                </a:ext>
              </a:extLst>
            </p:cNvPr>
            <p:cNvCxnSpPr>
              <a:cxnSpLocks/>
            </p:cNvCxnSpPr>
            <p:nvPr/>
          </p:nvCxnSpPr>
          <p:spPr>
            <a:xfrm>
              <a:off x="6057827" y="4173604"/>
              <a:ext cx="353910" cy="0"/>
            </a:xfrm>
            <a:prstGeom prst="line">
              <a:avLst/>
            </a:prstGeom>
            <a:grpFill/>
            <a:ln w="444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14" name="Straight Connector 13">
              <a:extLst>
                <a:ext uri="{FF2B5EF4-FFF2-40B4-BE49-F238E27FC236}">
                  <a16:creationId xmlns:a16="http://schemas.microsoft.com/office/drawing/2014/main" id="{0092C0AC-4218-8A2B-544B-89A6FF369024}"/>
                </a:ext>
              </a:extLst>
            </p:cNvPr>
            <p:cNvCxnSpPr>
              <a:cxnSpLocks/>
            </p:cNvCxnSpPr>
            <p:nvPr/>
          </p:nvCxnSpPr>
          <p:spPr>
            <a:xfrm flipV="1">
              <a:off x="5693793" y="5033245"/>
              <a:ext cx="575102" cy="1"/>
            </a:xfrm>
            <a:prstGeom prst="line">
              <a:avLst/>
            </a:prstGeom>
            <a:grpFill/>
            <a:ln w="444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5" name="Arrow: U-Turn 14">
              <a:extLst>
                <a:ext uri="{FF2B5EF4-FFF2-40B4-BE49-F238E27FC236}">
                  <a16:creationId xmlns:a16="http://schemas.microsoft.com/office/drawing/2014/main" id="{94493C42-4798-ED37-B2F5-23F1BB0F566D}"/>
                </a:ext>
              </a:extLst>
            </p:cNvPr>
            <p:cNvSpPr/>
            <p:nvPr/>
          </p:nvSpPr>
          <p:spPr bwMode="auto">
            <a:xfrm rot="16200000">
              <a:off x="5808594" y="5295189"/>
              <a:ext cx="845292" cy="332279"/>
            </a:xfrm>
            <a:prstGeom prst="uturnArrow">
              <a:avLst>
                <a:gd name="adj1" fmla="val 0"/>
                <a:gd name="adj2" fmla="val 0"/>
                <a:gd name="adj3" fmla="val 0"/>
                <a:gd name="adj4" fmla="val 0"/>
                <a:gd name="adj5" fmla="val 100000"/>
              </a:avLst>
            </a:prstGeom>
            <a:grpFill/>
            <a:ln w="444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 rIns="91440" bIns="64008"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cxnSp>
          <p:nvCxnSpPr>
            <p:cNvPr id="16" name="Straight Connector 15">
              <a:extLst>
                <a:ext uri="{FF2B5EF4-FFF2-40B4-BE49-F238E27FC236}">
                  <a16:creationId xmlns:a16="http://schemas.microsoft.com/office/drawing/2014/main" id="{C3FF73E1-791E-5746-12CE-7A0A2862D614}"/>
                </a:ext>
              </a:extLst>
            </p:cNvPr>
            <p:cNvCxnSpPr>
              <a:cxnSpLocks/>
            </p:cNvCxnSpPr>
            <p:nvPr/>
          </p:nvCxnSpPr>
          <p:spPr>
            <a:xfrm flipV="1">
              <a:off x="6065098" y="4152900"/>
              <a:ext cx="0" cy="1330481"/>
            </a:xfrm>
            <a:prstGeom prst="line">
              <a:avLst/>
            </a:prstGeom>
            <a:grpFill/>
            <a:ln w="444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17" name="Group 16">
              <a:extLst>
                <a:ext uri="{FF2B5EF4-FFF2-40B4-BE49-F238E27FC236}">
                  <a16:creationId xmlns:a16="http://schemas.microsoft.com/office/drawing/2014/main" id="{D36B42E9-2BFD-BE73-42E1-EDE39E7CEA58}"/>
                </a:ext>
              </a:extLst>
            </p:cNvPr>
            <p:cNvGrpSpPr/>
            <p:nvPr/>
          </p:nvGrpSpPr>
          <p:grpSpPr>
            <a:xfrm>
              <a:off x="6246480" y="4079984"/>
              <a:ext cx="187240" cy="187240"/>
              <a:chOff x="10055355" y="4410075"/>
              <a:chExt cx="249152" cy="249152"/>
            </a:xfrm>
            <a:grpFill/>
          </p:grpSpPr>
          <p:sp>
            <p:nvSpPr>
              <p:cNvPr id="26" name="Oval 25">
                <a:extLst>
                  <a:ext uri="{FF2B5EF4-FFF2-40B4-BE49-F238E27FC236}">
                    <a16:creationId xmlns:a16="http://schemas.microsoft.com/office/drawing/2014/main" id="{B7901504-D877-E998-1894-0B29ADFE0249}"/>
                  </a:ext>
                </a:extLst>
              </p:cNvPr>
              <p:cNvSpPr/>
              <p:nvPr/>
            </p:nvSpPr>
            <p:spPr bwMode="auto">
              <a:xfrm>
                <a:off x="10055355" y="4410075"/>
                <a:ext cx="249152" cy="249152"/>
              </a:xfrm>
              <a:prstGeom prst="ellipse">
                <a:avLst/>
              </a:prstGeom>
              <a:grpFill/>
              <a:ln w="6350">
                <a:solidFill>
                  <a:srgbClr val="0078D4"/>
                </a:soli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27" name="Graphic 26">
                <a:extLst>
                  <a:ext uri="{FF2B5EF4-FFF2-40B4-BE49-F238E27FC236}">
                    <a16:creationId xmlns:a16="http://schemas.microsoft.com/office/drawing/2014/main" id="{6B3AF26E-80E8-3F84-B6AD-C36D4E6102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42398" y="4469607"/>
                <a:ext cx="75686" cy="130084"/>
              </a:xfrm>
              <a:prstGeom prst="rect">
                <a:avLst/>
              </a:prstGeom>
            </p:spPr>
          </p:pic>
        </p:grpSp>
        <p:sp>
          <p:nvSpPr>
            <p:cNvPr id="18" name="Oval 17">
              <a:extLst>
                <a:ext uri="{FF2B5EF4-FFF2-40B4-BE49-F238E27FC236}">
                  <a16:creationId xmlns:a16="http://schemas.microsoft.com/office/drawing/2014/main" id="{A96E6746-3079-F649-C7B7-1FD8BFC6E2C6}"/>
                </a:ext>
              </a:extLst>
            </p:cNvPr>
            <p:cNvSpPr/>
            <p:nvPr/>
          </p:nvSpPr>
          <p:spPr bwMode="auto">
            <a:xfrm>
              <a:off x="6246480" y="4939625"/>
              <a:ext cx="187240" cy="187240"/>
            </a:xfrm>
            <a:prstGeom prst="ellipse">
              <a:avLst/>
            </a:prstGeom>
            <a:grpFill/>
            <a:ln w="6350">
              <a:solidFill>
                <a:srgbClr val="0078D4"/>
              </a:soli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22" name="Graphic 21">
              <a:extLst>
                <a:ext uri="{FF2B5EF4-FFF2-40B4-BE49-F238E27FC236}">
                  <a16:creationId xmlns:a16="http://schemas.microsoft.com/office/drawing/2014/main" id="{5BD5B0C6-CE73-0FC9-19BA-C0DFFEFDC6A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11894" y="4984364"/>
              <a:ext cx="56879" cy="97759"/>
            </a:xfrm>
            <a:prstGeom prst="rect">
              <a:avLst/>
            </a:prstGeom>
          </p:spPr>
        </p:pic>
        <p:grpSp>
          <p:nvGrpSpPr>
            <p:cNvPr id="23" name="Group 22">
              <a:extLst>
                <a:ext uri="{FF2B5EF4-FFF2-40B4-BE49-F238E27FC236}">
                  <a16:creationId xmlns:a16="http://schemas.microsoft.com/office/drawing/2014/main" id="{BC744A86-98BB-91E6-CAD9-AEB2D7CB7544}"/>
                </a:ext>
              </a:extLst>
            </p:cNvPr>
            <p:cNvGrpSpPr/>
            <p:nvPr/>
          </p:nvGrpSpPr>
          <p:grpSpPr>
            <a:xfrm>
              <a:off x="6246480" y="5799265"/>
              <a:ext cx="187240" cy="187240"/>
              <a:chOff x="10055355" y="4410075"/>
              <a:chExt cx="249152" cy="249152"/>
            </a:xfrm>
            <a:grpFill/>
          </p:grpSpPr>
          <p:sp>
            <p:nvSpPr>
              <p:cNvPr id="24" name="Oval 23">
                <a:extLst>
                  <a:ext uri="{FF2B5EF4-FFF2-40B4-BE49-F238E27FC236}">
                    <a16:creationId xmlns:a16="http://schemas.microsoft.com/office/drawing/2014/main" id="{B33E421B-975C-7231-9C94-CF29F2373E95}"/>
                  </a:ext>
                </a:extLst>
              </p:cNvPr>
              <p:cNvSpPr/>
              <p:nvPr/>
            </p:nvSpPr>
            <p:spPr bwMode="auto">
              <a:xfrm>
                <a:off x="10055355" y="4410075"/>
                <a:ext cx="249152" cy="249152"/>
              </a:xfrm>
              <a:prstGeom prst="ellipse">
                <a:avLst/>
              </a:prstGeom>
              <a:grpFill/>
              <a:ln w="6350">
                <a:solidFill>
                  <a:srgbClr val="0078D4"/>
                </a:solidFill>
                <a:headEnd type="none" w="med" len="med"/>
                <a:tailEnd type="none" w="med" len="med"/>
              </a:ln>
              <a:effectLst>
                <a:outerShdw blurRad="254000" dist="355600" dir="2700000" sx="90000" sy="90000" algn="tl" rotWithShape="0">
                  <a:schemeClr val="bg2">
                    <a:lumMod val="1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a:ea typeface="+mn-ea"/>
                  <a:cs typeface="+mn-cs"/>
                </a:endParaRPr>
              </a:p>
            </p:txBody>
          </p:sp>
          <p:pic>
            <p:nvPicPr>
              <p:cNvPr id="25" name="Graphic 24">
                <a:extLst>
                  <a:ext uri="{FF2B5EF4-FFF2-40B4-BE49-F238E27FC236}">
                    <a16:creationId xmlns:a16="http://schemas.microsoft.com/office/drawing/2014/main" id="{8530B81E-DDDF-246F-12AD-770E73B2B9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42398" y="4469607"/>
                <a:ext cx="75686" cy="130084"/>
              </a:xfrm>
              <a:prstGeom prst="rect">
                <a:avLst/>
              </a:prstGeom>
            </p:spPr>
          </p:pic>
        </p:grpSp>
      </p:grpSp>
    </p:spTree>
    <p:extLst>
      <p:ext uri="{BB962C8B-B14F-4D97-AF65-F5344CB8AC3E}">
        <p14:creationId xmlns:p14="http://schemas.microsoft.com/office/powerpoint/2010/main" val="2536270052"/>
      </p:ext>
    </p:extLst>
  </p:cSld>
  <p:clrMapOvr>
    <a:masterClrMapping/>
  </p:clrMapOvr>
  <p:transition>
    <p:fade/>
  </p:transition>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520E6326-84CC-E83A-656B-99C90198B2C2}"/>
              </a:ext>
            </a:extLst>
          </p:cNvPr>
          <p:cNvSpPr/>
          <p:nvPr/>
        </p:nvSpPr>
        <p:spPr bwMode="auto">
          <a:xfrm>
            <a:off x="588263" y="1362076"/>
            <a:ext cx="11018520" cy="5000624"/>
          </a:xfrm>
          <a:prstGeom prst="roundRect">
            <a:avLst>
              <a:gd name="adj" fmla="val 3865"/>
            </a:avLst>
          </a:prstGeom>
          <a:solidFill>
            <a:schemeClr val="bg1"/>
          </a:solidFill>
          <a:ln>
            <a:noFill/>
            <a:headEnd type="none" w="med" len="med"/>
            <a:tailEnd type="none" w="med" len="med"/>
          </a:ln>
          <a:effectLst>
            <a:outerShdw blurRad="139700" dist="38100" dir="4800000" algn="tl" rotWithShape="0">
              <a:schemeClr val="bg1">
                <a:lumMod val="50000"/>
                <a:alpha val="1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Text"/>
              <a:ea typeface="+mn-ea"/>
              <a:cs typeface="Segoe UI" pitchFamily="34" charset="0"/>
            </a:endParaRPr>
          </a:p>
        </p:txBody>
      </p:sp>
      <p:sp>
        <p:nvSpPr>
          <p:cNvPr id="3" name="Title 2">
            <a:extLst>
              <a:ext uri="{FF2B5EF4-FFF2-40B4-BE49-F238E27FC236}">
                <a16:creationId xmlns:a16="http://schemas.microsoft.com/office/drawing/2014/main" id="{3A897B6B-487F-67F7-9863-B1D3784DAAF5}"/>
              </a:ext>
            </a:extLst>
          </p:cNvPr>
          <p:cNvSpPr>
            <a:spLocks noGrp="1"/>
          </p:cNvSpPr>
          <p:nvPr>
            <p:ph type="title"/>
          </p:nvPr>
        </p:nvSpPr>
        <p:spPr/>
        <p:txBody>
          <a:bodyPr/>
          <a:lstStyle/>
          <a:p>
            <a:r>
              <a:rPr lang="en-US"/>
              <a:t>Azure Accelerate </a:t>
            </a:r>
            <a:r>
              <a:rPr lang="en-US">
                <a:solidFill>
                  <a:schemeClr val="tx1"/>
                </a:solidFill>
              </a:rPr>
              <a:t>| AI Transformation offer </a:t>
            </a:r>
          </a:p>
        </p:txBody>
      </p:sp>
      <p:sp>
        <p:nvSpPr>
          <p:cNvPr id="16" name="Footer Placeholder 15">
            <a:extLst>
              <a:ext uri="{FF2B5EF4-FFF2-40B4-BE49-F238E27FC236}">
                <a16:creationId xmlns:a16="http://schemas.microsoft.com/office/drawing/2014/main" id="{31A35856-A334-57AB-2AF3-24E873CB6006}"/>
              </a:ext>
            </a:extLst>
          </p:cNvPr>
          <p:cNvSpPr>
            <a:spLocks noGrp="1"/>
          </p:cNvSpPr>
          <p:nvPr>
            <p:ph type="ftr" sz="quarter" idx="10"/>
          </p:nvPr>
        </p:nvSpPr>
        <p:spPr>
          <a:xfrm>
            <a:off x="4038600" y="6651981"/>
            <a:ext cx="4114800" cy="123111"/>
          </a:xfrm>
          <a:prstGeom prst="rect">
            <a:avLst/>
          </a:prstGeom>
        </p:spPr>
        <p:txBody>
          <a:bodyPr vert="horz" lIns="0" tIns="0" rIns="0" bIns="0" rtlCol="0" anchor="ctr">
            <a:spAutoFit/>
          </a:bodyP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Microsoft Confidential – Internal Only</a:t>
            </a:r>
            <a:endParaRPr kumimoji="0" lang="en-US" sz="8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37" name="Group 36">
            <a:extLst>
              <a:ext uri="{FF2B5EF4-FFF2-40B4-BE49-F238E27FC236}">
                <a16:creationId xmlns:a16="http://schemas.microsoft.com/office/drawing/2014/main" id="{0B30D992-38A7-561F-882E-DD7CF90B36B9}"/>
              </a:ext>
            </a:extLst>
          </p:cNvPr>
          <p:cNvGrpSpPr/>
          <p:nvPr/>
        </p:nvGrpSpPr>
        <p:grpSpPr>
          <a:xfrm>
            <a:off x="11126096" y="4469983"/>
            <a:ext cx="347027" cy="1760730"/>
            <a:chOff x="10752885" y="4221006"/>
            <a:chExt cx="347027" cy="1473802"/>
          </a:xfrm>
        </p:grpSpPr>
        <p:sp>
          <p:nvSpPr>
            <p:cNvPr id="39" name="Right Brace 38">
              <a:extLst>
                <a:ext uri="{FF2B5EF4-FFF2-40B4-BE49-F238E27FC236}">
                  <a16:creationId xmlns:a16="http://schemas.microsoft.com/office/drawing/2014/main" id="{47C6E15F-3665-8565-86D9-F3ABCC66243F}"/>
                </a:ext>
              </a:extLst>
            </p:cNvPr>
            <p:cNvSpPr/>
            <p:nvPr/>
          </p:nvSpPr>
          <p:spPr>
            <a:xfrm>
              <a:off x="10752885" y="4221006"/>
              <a:ext cx="153889" cy="1473802"/>
            </a:xfrm>
            <a:prstGeom prst="rightBrace">
              <a:avLst>
                <a:gd name="adj1" fmla="val 88659"/>
                <a:gd name="adj2" fmla="val 50000"/>
              </a:avLst>
            </a:prstGeom>
            <a:ln>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0" name="TextBox 39">
              <a:extLst>
                <a:ext uri="{FF2B5EF4-FFF2-40B4-BE49-F238E27FC236}">
                  <a16:creationId xmlns:a16="http://schemas.microsoft.com/office/drawing/2014/main" id="{CA4C15F7-49F2-A9E0-0FCB-2F2F897378BB}"/>
                </a:ext>
              </a:extLst>
            </p:cNvPr>
            <p:cNvSpPr txBox="1"/>
            <p:nvPr/>
          </p:nvSpPr>
          <p:spPr>
            <a:xfrm rot="16200000">
              <a:off x="10624460" y="4864124"/>
              <a:ext cx="797016"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Segoe Sans Text Semibold"/>
                  <a:ea typeface="+mn-ea"/>
                  <a:cs typeface="+mn-cs"/>
                </a:rPr>
                <a:t>VALUE DRIVERS</a:t>
              </a:r>
            </a:p>
          </p:txBody>
        </p:sp>
      </p:grpSp>
      <p:grpSp>
        <p:nvGrpSpPr>
          <p:cNvPr id="41" name="Group 40">
            <a:extLst>
              <a:ext uri="{FF2B5EF4-FFF2-40B4-BE49-F238E27FC236}">
                <a16:creationId xmlns:a16="http://schemas.microsoft.com/office/drawing/2014/main" id="{4CAB74F1-5383-63E6-40C2-7A962C75C249}"/>
              </a:ext>
            </a:extLst>
          </p:cNvPr>
          <p:cNvGrpSpPr/>
          <p:nvPr/>
        </p:nvGrpSpPr>
        <p:grpSpPr>
          <a:xfrm>
            <a:off x="875296" y="2679107"/>
            <a:ext cx="2579104" cy="2579104"/>
            <a:chOff x="868311" y="2807377"/>
            <a:chExt cx="2322564" cy="2322564"/>
          </a:xfrm>
        </p:grpSpPr>
        <p:grpSp>
          <p:nvGrpSpPr>
            <p:cNvPr id="42" name="Group 41">
              <a:extLst>
                <a:ext uri="{FF2B5EF4-FFF2-40B4-BE49-F238E27FC236}">
                  <a16:creationId xmlns:a16="http://schemas.microsoft.com/office/drawing/2014/main" id="{17426731-6D84-A48D-59ED-9C9C5B446CF1}"/>
                </a:ext>
              </a:extLst>
            </p:cNvPr>
            <p:cNvGrpSpPr/>
            <p:nvPr/>
          </p:nvGrpSpPr>
          <p:grpSpPr>
            <a:xfrm>
              <a:off x="868311" y="2807377"/>
              <a:ext cx="2322564" cy="2322564"/>
              <a:chOff x="868311" y="2816086"/>
              <a:chExt cx="2322564" cy="2322564"/>
            </a:xfrm>
          </p:grpSpPr>
          <p:sp>
            <p:nvSpPr>
              <p:cNvPr id="44" name="Oval 43">
                <a:extLst>
                  <a:ext uri="{FF2B5EF4-FFF2-40B4-BE49-F238E27FC236}">
                    <a16:creationId xmlns:a16="http://schemas.microsoft.com/office/drawing/2014/main" id="{651FFDC1-2935-653F-303F-F02F2CA2457C}"/>
                  </a:ext>
                </a:extLst>
              </p:cNvPr>
              <p:cNvSpPr/>
              <p:nvPr/>
            </p:nvSpPr>
            <p:spPr bwMode="auto">
              <a:xfrm>
                <a:off x="868311" y="2816086"/>
                <a:ext cx="2322564" cy="2322564"/>
              </a:xfrm>
              <a:prstGeom prst="ellipse">
                <a:avLst/>
              </a:prstGeom>
              <a:gradFill>
                <a:gsLst>
                  <a:gs pos="70000">
                    <a:srgbClr val="F4F4F6"/>
                  </a:gs>
                  <a:gs pos="25000">
                    <a:srgbClr val="F4F4F6"/>
                  </a:gs>
                  <a:gs pos="100000">
                    <a:schemeClr val="bg1"/>
                  </a:gs>
                </a:gsLst>
                <a:lin ang="2700000" scaled="1"/>
              </a:gradFill>
              <a:ln>
                <a:noFill/>
                <a:headEnd type="none" w="med" len="med"/>
                <a:tailEnd type="none" w="med" len="med"/>
              </a:ln>
              <a:effectLst>
                <a:innerShdw blurRad="190500" dist="63500" dir="13500000">
                  <a:schemeClr val="bg1">
                    <a:lumMod val="75000"/>
                    <a:alpha val="25000"/>
                  </a:scheme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err="1">
                  <a:ln>
                    <a:noFill/>
                  </a:ln>
                  <a:solidFill>
                    <a:srgbClr val="0078D4"/>
                  </a:solidFill>
                  <a:effectLst/>
                  <a:uLnTx/>
                  <a:uFillTx/>
                  <a:latin typeface="Segoe Sans Text Semibold"/>
                  <a:ea typeface="+mn-ea"/>
                  <a:cs typeface="+mn-cs"/>
                </a:endParaRPr>
              </a:p>
            </p:txBody>
          </p:sp>
          <p:sp>
            <p:nvSpPr>
              <p:cNvPr id="45" name="Oval 44">
                <a:extLst>
                  <a:ext uri="{FF2B5EF4-FFF2-40B4-BE49-F238E27FC236}">
                    <a16:creationId xmlns:a16="http://schemas.microsoft.com/office/drawing/2014/main" id="{AD2538B1-D79D-E489-E89C-EB50C640B9DB}"/>
                  </a:ext>
                </a:extLst>
              </p:cNvPr>
              <p:cNvSpPr/>
              <p:nvPr/>
            </p:nvSpPr>
            <p:spPr bwMode="auto">
              <a:xfrm>
                <a:off x="993524" y="2940018"/>
                <a:ext cx="2072142" cy="2074703"/>
              </a:xfrm>
              <a:prstGeom prst="ellipse">
                <a:avLst/>
              </a:prstGeom>
              <a:solidFill>
                <a:schemeClr val="bg1"/>
              </a:solidFill>
              <a:ln w="22225" cap="rnd">
                <a:gradFill flip="none" rotWithShape="1">
                  <a:gsLst>
                    <a:gs pos="100000">
                      <a:schemeClr val="accent1"/>
                    </a:gs>
                    <a:gs pos="0">
                      <a:schemeClr val="accent6"/>
                    </a:gs>
                  </a:gsLst>
                  <a:lin ang="8100000" scaled="1"/>
                  <a:tileRect/>
                </a:gradFill>
                <a:headEnd type="none" w="med" len="med"/>
                <a:tailEnd type="none" w="med" len="med"/>
              </a:ln>
              <a:effectLst>
                <a:innerShdw blurRad="50800">
                  <a:prstClr val="black">
                    <a:alpha val="20000"/>
                  </a:prstClr>
                </a:inn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27432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Sans Text Semibold"/>
                    <a:ea typeface="+mn-ea"/>
                    <a:cs typeface="Segoe UI" pitchFamily="34" charset="0"/>
                  </a:rPr>
                  <a:t>AI</a:t>
                </a:r>
                <a:br>
                  <a:rPr kumimoji="0" lang="en-US" sz="2000" b="0" i="0" u="none" strike="noStrike" kern="1200" cap="none" spc="0" normalizeH="0" baseline="0" noProof="0">
                    <a:ln>
                      <a:noFill/>
                    </a:ln>
                    <a:solidFill>
                      <a:srgbClr val="0078D4"/>
                    </a:solidFill>
                    <a:effectLst/>
                    <a:uLnTx/>
                    <a:uFillTx/>
                    <a:latin typeface="Segoe Sans Text Semibold"/>
                    <a:ea typeface="+mn-ea"/>
                    <a:cs typeface="Segoe UI" pitchFamily="34" charset="0"/>
                  </a:rPr>
                </a:br>
                <a:r>
                  <a:rPr kumimoji="0" lang="en-US" sz="2000" b="0" i="0" u="none" strike="noStrike" kern="1200" cap="none" spc="0" normalizeH="0" baseline="0" noProof="0">
                    <a:ln>
                      <a:noFill/>
                    </a:ln>
                    <a:solidFill>
                      <a:srgbClr val="0078D4"/>
                    </a:solidFill>
                    <a:effectLst/>
                    <a:uLnTx/>
                    <a:uFillTx/>
                    <a:latin typeface="Segoe Sans Text Semibold"/>
                    <a:ea typeface="+mn-ea"/>
                    <a:cs typeface="Segoe UI" pitchFamily="34" charset="0"/>
                  </a:rPr>
                  <a:t>Transformation </a:t>
                </a:r>
                <a:br>
                  <a:rPr kumimoji="0" lang="en-US" sz="2000" b="0" i="0" u="none" strike="noStrike" kern="1200" cap="none" spc="0" normalizeH="0" baseline="0" noProof="0">
                    <a:ln>
                      <a:noFill/>
                    </a:ln>
                    <a:solidFill>
                      <a:srgbClr val="0078D4"/>
                    </a:solidFill>
                    <a:effectLst/>
                    <a:uLnTx/>
                    <a:uFillTx/>
                    <a:latin typeface="Segoe Sans Text Semibold"/>
                    <a:ea typeface="+mn-ea"/>
                    <a:cs typeface="Segoe UI" pitchFamily="34" charset="0"/>
                  </a:rPr>
                </a:br>
                <a:r>
                  <a:rPr kumimoji="0" lang="en-US" sz="2000" b="0" i="0" u="none" strike="noStrike" kern="1200" cap="none" spc="0" normalizeH="0" baseline="0" noProof="0">
                    <a:ln>
                      <a:noFill/>
                    </a:ln>
                    <a:solidFill>
                      <a:srgbClr val="0078D4"/>
                    </a:solidFill>
                    <a:effectLst/>
                    <a:uLnTx/>
                    <a:uFillTx/>
                    <a:latin typeface="Segoe Sans Text Semibold"/>
                    <a:ea typeface="+mn-ea"/>
                    <a:cs typeface="Segoe UI" pitchFamily="34" charset="0"/>
                  </a:rPr>
                  <a:t>Offer</a:t>
                </a:r>
              </a:p>
            </p:txBody>
          </p:sp>
        </p:grpSp>
        <p:sp>
          <p:nvSpPr>
            <p:cNvPr id="43" name="Graphic 5" descr="Icon of a circuit brain">
              <a:extLst>
                <a:ext uri="{FF2B5EF4-FFF2-40B4-BE49-F238E27FC236}">
                  <a16:creationId xmlns:a16="http://schemas.microsoft.com/office/drawing/2014/main" id="{567BADAC-7553-2691-CCBC-5325799F5B48}"/>
                </a:ext>
              </a:extLst>
            </p:cNvPr>
            <p:cNvSpPr>
              <a:spLocks noChangeAspect="1"/>
            </p:cNvSpPr>
            <p:nvPr>
              <p:custDataLst>
                <p:tags r:id="rId1"/>
              </p:custDataLst>
            </p:nvPr>
          </p:nvSpPr>
          <p:spPr>
            <a:xfrm>
              <a:off x="1849526" y="3171640"/>
              <a:ext cx="391758" cy="391826"/>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accent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grpSp>
      <p:cxnSp>
        <p:nvCxnSpPr>
          <p:cNvPr id="46" name="Connector: Elbow 45">
            <a:extLst>
              <a:ext uri="{FF2B5EF4-FFF2-40B4-BE49-F238E27FC236}">
                <a16:creationId xmlns:a16="http://schemas.microsoft.com/office/drawing/2014/main" id="{A70C4D1B-B6A5-57A9-FB7A-C6D7A119BBE3}"/>
              </a:ext>
            </a:extLst>
          </p:cNvPr>
          <p:cNvCxnSpPr>
            <a:cxnSpLocks/>
            <a:stCxn id="44" idx="0"/>
            <a:endCxn id="47" idx="1"/>
          </p:cNvCxnSpPr>
          <p:nvPr/>
        </p:nvCxnSpPr>
        <p:spPr>
          <a:xfrm rot="5400000" flipH="1" flipV="1">
            <a:off x="2737105" y="1472862"/>
            <a:ext cx="633989" cy="1778502"/>
          </a:xfrm>
          <a:prstGeom prst="bentConnector2">
            <a:avLst/>
          </a:prstGeom>
          <a:ln>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B4D02FD0-8186-8B2F-03E8-0773B3D97F93}"/>
              </a:ext>
            </a:extLst>
          </p:cNvPr>
          <p:cNvSpPr/>
          <p:nvPr/>
        </p:nvSpPr>
        <p:spPr bwMode="auto">
          <a:xfrm>
            <a:off x="3943350" y="1534160"/>
            <a:ext cx="7090410" cy="1021915"/>
          </a:xfrm>
          <a:prstGeom prst="roundRect">
            <a:avLst>
              <a:gd name="adj" fmla="val 9101"/>
            </a:avLst>
          </a:prstGeom>
          <a:solidFill>
            <a:srgbClr val="F0F8FF">
              <a:alpha val="97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45713" rIns="91427" bIns="45713" numCol="1" spcCol="0" rtlCol="0" fromWordArt="0" anchor="ctr" anchorCtr="0" forceAA="0" compatLnSpc="1">
            <a:prstTxWarp prst="textNoShape">
              <a:avLst/>
            </a:prstTxWarp>
            <a:noAutofit/>
          </a:bodyPr>
          <a:lstStyle/>
          <a:p>
            <a:pPr lvl="0" defTabSz="932563">
              <a:spcAft>
                <a:spcPts val="100"/>
              </a:spcAft>
              <a:defRPr/>
            </a:pPr>
            <a:r>
              <a:rPr lang="en-US" sz="1200">
                <a:solidFill>
                  <a:srgbClr val="091F2C"/>
                </a:solidFill>
                <a:latin typeface="Segoe Sans Display Semibold"/>
              </a:rPr>
              <a:t>AI Foundation Architect &amp; Factory</a:t>
            </a:r>
            <a:r>
              <a:rPr kumimoji="0" lang="en-US" sz="1200" b="0" i="0" u="none" strike="noStrike" kern="0" cap="none" spc="0" normalizeH="0" baseline="0" noProof="0">
                <a:ln>
                  <a:noFill/>
                </a:ln>
                <a:solidFill>
                  <a:srgbClr val="0078D4"/>
                </a:solidFill>
                <a:effectLst/>
                <a:uLnTx/>
                <a:uFillTx/>
                <a:latin typeface="Segoe Sans Text Semibold"/>
                <a:ea typeface="+mn-ea"/>
                <a:cs typeface="+mn-cs"/>
              </a:rPr>
              <a:t> via CSU: </a:t>
            </a:r>
            <a:r>
              <a:rPr kumimoji="0" lang="en-US" sz="1200" b="0" i="0" u="none" strike="noStrike" kern="0" cap="none" spc="0" normalizeH="0" baseline="0" noProof="0">
                <a:ln>
                  <a:noFill/>
                </a:ln>
                <a:solidFill>
                  <a:srgbClr val="000000"/>
                </a:solidFill>
                <a:effectLst/>
                <a:uLnTx/>
                <a:uFillTx/>
                <a:latin typeface="Segoe Sans Text Semibold"/>
                <a:ea typeface="+mn-ea"/>
                <a:cs typeface="+mn-cs"/>
              </a:rPr>
              <a:t>Post-sales offer</a:t>
            </a:r>
            <a:r>
              <a:rPr kumimoji="0" lang="en-US" sz="1200" b="0" i="0" u="none" strike="noStrike" kern="0" cap="none" spc="0" normalizeH="0" baseline="0" noProof="0">
                <a:ln>
                  <a:noFill/>
                </a:ln>
                <a:solidFill>
                  <a:srgbClr val="0078D4"/>
                </a:solidFill>
                <a:effectLst/>
                <a:uLnTx/>
                <a:uFillTx/>
                <a:latin typeface="Segoe Sans Text Semibold"/>
                <a:ea typeface="+mn-ea"/>
                <a:cs typeface="+mn-cs"/>
              </a:rPr>
              <a:t> </a:t>
            </a:r>
            <a:r>
              <a:rPr kumimoji="0" lang="en-US" sz="1200" b="0" i="0" u="none" strike="noStrike" kern="0" cap="none" spc="0" normalizeH="0" baseline="0" noProof="0">
                <a:ln>
                  <a:noFill/>
                </a:ln>
                <a:solidFill>
                  <a:srgbClr val="000000"/>
                </a:solidFill>
                <a:effectLst/>
                <a:uLnTx/>
                <a:uFillTx/>
                <a:latin typeface="Segoe Sans Text Semibold"/>
                <a:ea typeface="+mn-ea"/>
                <a:cs typeface="+mn-cs"/>
              </a:rPr>
              <a:t>Unified “AI Apps and Agents” Enhanced offer</a:t>
            </a:r>
          </a:p>
          <a:p>
            <a:pPr marL="182245" marR="0" lvl="0" indent="-130175" algn="l" defTabSz="932563"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Text"/>
                <a:ea typeface="+mn-ea"/>
                <a:cs typeface="+mn-cs"/>
              </a:rPr>
              <a:t>Advisory + 2 Accelerators, List price = $165K USD – </a:t>
            </a:r>
            <a:r>
              <a:rPr kumimoji="0" lang="en-US" sz="1050" b="0" i="0" u="none" strike="noStrike" kern="1200" cap="none" spc="0" normalizeH="0" baseline="0" noProof="0">
                <a:ln>
                  <a:noFill/>
                </a:ln>
                <a:solidFill>
                  <a:srgbClr val="000000"/>
                </a:solidFill>
                <a:effectLst/>
                <a:uLnTx/>
                <a:uFillTx/>
                <a:latin typeface="Segoe Sans Text Semibold"/>
                <a:ea typeface="+mn-ea"/>
                <a:cs typeface="+mn-cs"/>
              </a:rPr>
              <a:t>Post-Sales ECIF at 5:1 to cover up to 50% of list price</a:t>
            </a:r>
            <a:endParaRPr kumimoji="0" lang="en-US" sz="1050" b="0" i="0" u="none" strike="noStrike" kern="1200" cap="none" spc="0" normalizeH="0" baseline="0" noProof="0">
              <a:ln>
                <a:noFill/>
              </a:ln>
              <a:solidFill>
                <a:srgbClr val="000000"/>
              </a:solidFill>
              <a:effectLst/>
              <a:uLnTx/>
              <a:uFillTx/>
              <a:latin typeface="Segoe Sans Text Semibold"/>
              <a:ea typeface="+mn-ea"/>
              <a:cs typeface="Segoe Sans Text Semibold"/>
            </a:endParaRPr>
          </a:p>
          <a:p>
            <a:pPr marL="182245" marR="0" lvl="0" indent="-130175"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Sans Text"/>
                <a:ea typeface="+mn-ea"/>
                <a:cs typeface="+mn-cs"/>
              </a:rPr>
              <a:t>Advisory + 3 Accelerators, List price = $225K USD – </a:t>
            </a:r>
            <a:r>
              <a:rPr kumimoji="0" lang="en-US" sz="1050" b="0" i="0" u="none" strike="noStrike" kern="1200" cap="none" spc="0" normalizeH="0" baseline="0" noProof="0">
                <a:ln>
                  <a:noFill/>
                </a:ln>
                <a:solidFill>
                  <a:srgbClr val="000000"/>
                </a:solidFill>
                <a:effectLst/>
                <a:uLnTx/>
                <a:uFillTx/>
                <a:latin typeface="Segoe Sans Text Semibold"/>
                <a:ea typeface="+mn-ea"/>
                <a:cs typeface="+mn-cs"/>
              </a:rPr>
              <a:t>Post-Sales ECIF at 5:1 to cover up to 50% of list price</a:t>
            </a:r>
            <a:endParaRPr kumimoji="0" lang="en-US" sz="1050" b="0" i="0" u="none" strike="noStrike" kern="1200" cap="none" spc="0" normalizeH="0" baseline="0" noProof="0">
              <a:ln>
                <a:noFill/>
              </a:ln>
              <a:solidFill>
                <a:srgbClr val="000000"/>
              </a:solidFill>
              <a:effectLst/>
              <a:uLnTx/>
              <a:uFillTx/>
              <a:latin typeface="Segoe Sans Text Semibold"/>
              <a:ea typeface="+mn-ea"/>
              <a:cs typeface="Segoe Sans Text Semibold"/>
            </a:endParaRPr>
          </a:p>
        </p:txBody>
      </p:sp>
      <p:sp>
        <p:nvSpPr>
          <p:cNvPr id="48" name="Rectangle: Rounded Corners 47">
            <a:extLst>
              <a:ext uri="{FF2B5EF4-FFF2-40B4-BE49-F238E27FC236}">
                <a16:creationId xmlns:a16="http://schemas.microsoft.com/office/drawing/2014/main" id="{D1F503BB-4C8A-5D84-5963-EEBC2D4C7D34}"/>
              </a:ext>
            </a:extLst>
          </p:cNvPr>
          <p:cNvSpPr/>
          <p:nvPr/>
        </p:nvSpPr>
        <p:spPr bwMode="auto">
          <a:xfrm>
            <a:off x="3943350" y="2647461"/>
            <a:ext cx="7090410" cy="819875"/>
          </a:xfrm>
          <a:prstGeom prst="roundRect">
            <a:avLst>
              <a:gd name="adj" fmla="val 13043"/>
            </a:avLst>
          </a:prstGeom>
          <a:solidFill>
            <a:srgbClr val="F0F8FF">
              <a:alpha val="97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45713" rIns="91427" bIns="45713"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0"/>
              </a:spcBef>
              <a:spcAft>
                <a:spcPts val="100"/>
              </a:spcAft>
              <a:buClrTx/>
              <a:buSzTx/>
              <a:buFontTx/>
              <a:buNone/>
              <a:tabLst/>
              <a:defRPr/>
            </a:pPr>
            <a:r>
              <a:rPr kumimoji="0" lang="en-US" sz="1200" b="0" i="0" u="none" strike="noStrike" kern="0" cap="none" spc="0" normalizeH="0" baseline="0" noProof="0">
                <a:ln>
                  <a:noFill/>
                </a:ln>
                <a:solidFill>
                  <a:srgbClr val="0078D4"/>
                </a:solidFill>
                <a:effectLst/>
                <a:uLnTx/>
                <a:uFillTx/>
                <a:latin typeface="Segoe Sans Text Semibold"/>
                <a:ea typeface="+mn-ea"/>
                <a:cs typeface="+mn-cs"/>
              </a:rPr>
              <a:t>AI COE &amp; Solution Envisioning via Partner or ISD: </a:t>
            </a:r>
            <a:r>
              <a:rPr kumimoji="0" lang="en-US" sz="1200" b="0" i="0" u="none" strike="noStrike" kern="0" cap="none" spc="0" normalizeH="0" baseline="0" noProof="0">
                <a:ln>
                  <a:noFill/>
                </a:ln>
                <a:solidFill>
                  <a:srgbClr val="000000"/>
                </a:solidFill>
                <a:effectLst/>
                <a:uLnTx/>
                <a:uFillTx/>
                <a:latin typeface="Segoe Sans Text Semibold"/>
                <a:ea typeface="+mn-ea"/>
                <a:cs typeface="+mn-cs"/>
              </a:rPr>
              <a:t>Pre-sales offer </a:t>
            </a:r>
            <a:endParaRPr kumimoji="0" lang="en-US" sz="1200" b="0" i="0" u="none" strike="noStrike" kern="1200" cap="none" spc="0" normalizeH="0" baseline="0" noProof="0">
              <a:ln>
                <a:noFill/>
              </a:ln>
              <a:solidFill>
                <a:srgbClr val="000000"/>
              </a:solidFill>
              <a:effectLst/>
              <a:uLnTx/>
              <a:uFillTx/>
              <a:latin typeface="Segoe Sans Text Semibold"/>
              <a:ea typeface="+mn-ea"/>
              <a:cs typeface="Segoe UI"/>
            </a:endParaRPr>
          </a:p>
          <a:p>
            <a:pPr marL="0" marR="0" lvl="0" indent="0" algn="l" defTabSz="932563" rtl="0" eaLnBrk="1" fontAlgn="auto" latinLnBrk="0" hangingPunct="1">
              <a:lnSpc>
                <a:spcPct val="100000"/>
              </a:lnSpc>
              <a:spcBef>
                <a:spcPts val="0"/>
              </a:spcBef>
              <a:spcAft>
                <a:spcPts val="10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Segoe UI"/>
              </a:rPr>
              <a:t>ECIF 5:1 up to $50K, needs 3 or more consecutive months of incremental $5K/</a:t>
            </a:r>
            <a:r>
              <a:rPr kumimoji="0" lang="en-US" sz="1050" b="0" i="0" u="none" strike="noStrike" kern="0" cap="none" spc="0" normalizeH="0" baseline="0" noProof="0" err="1">
                <a:ln>
                  <a:noFill/>
                </a:ln>
                <a:solidFill>
                  <a:srgbClr val="000000"/>
                </a:solidFill>
                <a:effectLst/>
                <a:uLnTx/>
                <a:uFillTx/>
                <a:latin typeface="Segoe Sans Text"/>
                <a:ea typeface="+mn-ea"/>
                <a:cs typeface="Segoe UI"/>
              </a:rPr>
              <a:t>mo</a:t>
            </a:r>
            <a:r>
              <a:rPr kumimoji="0" lang="en-US" sz="1050" b="0" i="0" u="none" strike="noStrike" kern="0" cap="none" spc="0" normalizeH="0" baseline="0" noProof="0">
                <a:ln>
                  <a:noFill/>
                </a:ln>
                <a:solidFill>
                  <a:srgbClr val="000000"/>
                </a:solidFill>
                <a:effectLst/>
                <a:uLnTx/>
                <a:uFillTx/>
                <a:latin typeface="Segoe Sans Text"/>
                <a:ea typeface="+mn-ea"/>
                <a:cs typeface="Segoe UI"/>
              </a:rPr>
              <a:t> for AI and Apps workloads.</a:t>
            </a:r>
            <a:endParaRPr kumimoji="0" lang="en-US" sz="1200" b="0" i="0" u="none" strike="noStrike" kern="1200" cap="none" spc="0" normalizeH="0" baseline="0" noProof="0">
              <a:ln>
                <a:noFill/>
              </a:ln>
              <a:solidFill>
                <a:srgbClr val="000000"/>
              </a:solidFill>
              <a:effectLst/>
              <a:uLnTx/>
              <a:uFillTx/>
              <a:latin typeface="Segoe Sans Text Semibold"/>
              <a:ea typeface="+mn-ea"/>
              <a:cs typeface="Segoe UI"/>
            </a:endParaRPr>
          </a:p>
        </p:txBody>
      </p:sp>
      <p:sp>
        <p:nvSpPr>
          <p:cNvPr id="49" name="Rectangle: Rounded Corners 48">
            <a:extLst>
              <a:ext uri="{FF2B5EF4-FFF2-40B4-BE49-F238E27FC236}">
                <a16:creationId xmlns:a16="http://schemas.microsoft.com/office/drawing/2014/main" id="{1B28BF4F-B614-F018-2AD7-A21FC75A1F91}"/>
              </a:ext>
            </a:extLst>
          </p:cNvPr>
          <p:cNvSpPr/>
          <p:nvPr/>
        </p:nvSpPr>
        <p:spPr bwMode="auto">
          <a:xfrm>
            <a:off x="3943350" y="3558724"/>
            <a:ext cx="7090410" cy="819875"/>
          </a:xfrm>
          <a:prstGeom prst="roundRect">
            <a:avLst>
              <a:gd name="adj" fmla="val 13043"/>
            </a:avLst>
          </a:prstGeom>
          <a:solidFill>
            <a:srgbClr val="F0F8FF">
              <a:alpha val="97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45713" rIns="91427" bIns="45713" numCol="1" spcCol="0" rtlCol="0" fromWordArt="0" anchor="ctr" anchorCtr="0" forceAA="0" compatLnSpc="1">
            <a:prstTxWarp prst="textNoShape">
              <a:avLst/>
            </a:prstTxWarp>
            <a:noAutofit/>
          </a:bodyPr>
          <a:lstStyle/>
          <a:p>
            <a:pPr lvl="0" defTabSz="932563">
              <a:spcAft>
                <a:spcPts val="100"/>
              </a:spcAft>
              <a:defRPr/>
            </a:pPr>
            <a:r>
              <a:rPr lang="en-US" sz="1200">
                <a:solidFill>
                  <a:srgbClr val="091F2C"/>
                </a:solidFill>
                <a:latin typeface="Segoe Sans Display Semibold"/>
              </a:rPr>
              <a:t>AI Foundation Architect &amp; Factory</a:t>
            </a:r>
            <a:r>
              <a:rPr kumimoji="0" lang="en-US" sz="1200" b="0" i="0" u="none" strike="noStrike" kern="0" cap="none" spc="0" normalizeH="0" baseline="0" noProof="0">
                <a:ln>
                  <a:noFill/>
                </a:ln>
                <a:solidFill>
                  <a:srgbClr val="0078D4"/>
                </a:solidFill>
                <a:effectLst/>
                <a:uLnTx/>
                <a:uFillTx/>
                <a:latin typeface="Segoe Sans Text Semibold"/>
                <a:ea typeface="+mn-ea"/>
                <a:cs typeface="+mn-cs"/>
              </a:rPr>
              <a:t> via Partner or ISD: </a:t>
            </a:r>
            <a:r>
              <a:rPr kumimoji="0" lang="en-US" sz="1200" b="0" i="0" u="none" strike="noStrike" kern="0" cap="none" spc="0" normalizeH="0" baseline="0" noProof="0">
                <a:ln>
                  <a:noFill/>
                </a:ln>
                <a:solidFill>
                  <a:srgbClr val="000000"/>
                </a:solidFill>
                <a:effectLst/>
                <a:uLnTx/>
                <a:uFillTx/>
                <a:latin typeface="Segoe Sans Text Semibold"/>
                <a:ea typeface="+mn-ea"/>
                <a:cs typeface="+mn-cs"/>
              </a:rPr>
              <a:t>Post-sales offer</a:t>
            </a:r>
            <a:endParaRPr kumimoji="0" lang="en-US" sz="1200" b="0" i="0" u="none" strike="noStrike" kern="0" cap="none" spc="0" normalizeH="0" baseline="0" noProof="0">
              <a:ln>
                <a:noFill/>
              </a:ln>
              <a:solidFill>
                <a:srgbClr val="000000"/>
              </a:solidFill>
              <a:effectLst/>
              <a:uLnTx/>
              <a:uFillTx/>
              <a:latin typeface="Segoe Sans Text Semibold"/>
              <a:ea typeface="+mn-ea"/>
              <a:cs typeface="Segoe Sans Text Semibold"/>
            </a:endParaRPr>
          </a:p>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Segoe Sans Text"/>
                <a:ea typeface="+mn-ea"/>
                <a:cs typeface="Segoe UI"/>
              </a:rPr>
              <a:t>ECIF 5:1 up to $500K, ACO 10:1  exchange up to $125K, needs 3 or more consecutive months of incremental $5K/</a:t>
            </a:r>
            <a:r>
              <a:rPr kumimoji="0" lang="en-US" sz="1050" b="0" i="0" u="none" strike="noStrike" kern="0" cap="none" spc="0" normalizeH="0" baseline="0" noProof="0" err="1">
                <a:ln>
                  <a:noFill/>
                </a:ln>
                <a:solidFill>
                  <a:srgbClr val="000000"/>
                </a:solidFill>
                <a:effectLst/>
                <a:uLnTx/>
                <a:uFillTx/>
                <a:latin typeface="Segoe Sans Text"/>
                <a:ea typeface="+mn-ea"/>
                <a:cs typeface="Segoe UI"/>
              </a:rPr>
              <a:t>mo</a:t>
            </a:r>
            <a:r>
              <a:rPr kumimoji="0" lang="en-US" sz="1050" b="0" i="0" u="none" strike="noStrike" kern="0" cap="none" spc="0" normalizeH="0" baseline="0" noProof="0">
                <a:ln>
                  <a:noFill/>
                </a:ln>
                <a:solidFill>
                  <a:srgbClr val="000000"/>
                </a:solidFill>
                <a:effectLst/>
                <a:uLnTx/>
                <a:uFillTx/>
                <a:latin typeface="Segoe Sans Text"/>
                <a:ea typeface="+mn-ea"/>
                <a:cs typeface="Segoe UI"/>
              </a:rPr>
              <a:t> for AI and Apps workloads.</a:t>
            </a:r>
          </a:p>
        </p:txBody>
      </p:sp>
      <p:sp>
        <p:nvSpPr>
          <p:cNvPr id="50" name="Rectangle: Rounded Corners 49">
            <a:extLst>
              <a:ext uri="{FF2B5EF4-FFF2-40B4-BE49-F238E27FC236}">
                <a16:creationId xmlns:a16="http://schemas.microsoft.com/office/drawing/2014/main" id="{500A3EF6-6BCC-BCB9-8A93-E6E5EC1AEC1D}"/>
              </a:ext>
            </a:extLst>
          </p:cNvPr>
          <p:cNvSpPr/>
          <p:nvPr/>
        </p:nvSpPr>
        <p:spPr bwMode="auto">
          <a:xfrm>
            <a:off x="3943350" y="4469986"/>
            <a:ext cx="7090410" cy="819875"/>
          </a:xfrm>
          <a:prstGeom prst="roundRect">
            <a:avLst>
              <a:gd name="adj" fmla="val 13043"/>
            </a:avLst>
          </a:prstGeom>
          <a:solidFill>
            <a:srgbClr val="F0F8FF">
              <a:alpha val="97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45713" rIns="91427" bIns="45713"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0"/>
              </a:spcBef>
              <a:spcAft>
                <a:spcPts val="100"/>
              </a:spcAft>
              <a:buClrTx/>
              <a:buSzTx/>
              <a:buFontTx/>
              <a:buNone/>
              <a:tabLst/>
              <a:defRPr/>
            </a:pPr>
            <a:r>
              <a:rPr kumimoji="0" lang="en-US" sz="1200" b="0" i="0" u="none" strike="noStrike" kern="0" cap="none" spc="0" normalizeH="0" baseline="0" noProof="0">
                <a:ln>
                  <a:noFill/>
                </a:ln>
                <a:solidFill>
                  <a:srgbClr val="0078D4"/>
                </a:solidFill>
                <a:effectLst/>
                <a:uLnTx/>
                <a:uFillTx/>
                <a:latin typeface="Segoe Sans Text Semibold"/>
                <a:ea typeface="+mn-ea"/>
                <a:cs typeface="+mn-cs"/>
              </a:rPr>
              <a:t>Acceleration &amp;</a:t>
            </a:r>
            <a:r>
              <a:rPr kumimoji="0" lang="en-US" sz="1200" b="0" i="0" u="none" strike="noStrike" kern="0" cap="none" spc="0" normalizeH="0" baseline="0" noProof="0">
                <a:ln>
                  <a:noFill/>
                </a:ln>
                <a:solidFill>
                  <a:srgbClr val="000000"/>
                </a:solidFill>
                <a:effectLst/>
                <a:uLnTx/>
                <a:uFillTx/>
                <a:latin typeface="Segoe Sans Text Semibold"/>
                <a:ea typeface="+mn-ea"/>
                <a:cs typeface="+mn-cs"/>
              </a:rPr>
              <a:t> </a:t>
            </a:r>
            <a:r>
              <a:rPr kumimoji="0" lang="en-US" sz="1200" b="0" i="0" u="none" strike="noStrike" kern="0" cap="none" spc="0" normalizeH="0" baseline="0" noProof="0">
                <a:ln>
                  <a:noFill/>
                </a:ln>
                <a:solidFill>
                  <a:srgbClr val="0078D4"/>
                </a:solidFill>
                <a:effectLst/>
                <a:uLnTx/>
                <a:uFillTx/>
                <a:latin typeface="Segoe Sans Text Semibold"/>
                <a:ea typeface="+mn-ea"/>
                <a:cs typeface="+mn-cs"/>
              </a:rPr>
              <a:t>Skilling </a:t>
            </a:r>
          </a:p>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0000"/>
                </a:solidFill>
                <a:effectLst/>
                <a:uLnTx/>
                <a:uFillTx/>
                <a:latin typeface="Segoe Sans Text Semibold"/>
                <a:ea typeface="+mn-ea"/>
                <a:cs typeface="Segoe UI Light"/>
              </a:rPr>
              <a:t>Cloud Accelerate Factory </a:t>
            </a:r>
            <a:r>
              <a:rPr kumimoji="0" lang="en-US" sz="1050" b="0" i="0" u="none" strike="noStrike" kern="0" cap="none" spc="0" normalizeH="0" baseline="0" noProof="0">
                <a:ln>
                  <a:noFill/>
                </a:ln>
                <a:solidFill>
                  <a:srgbClr val="000000"/>
                </a:solidFill>
                <a:effectLst/>
                <a:uLnTx/>
                <a:uFillTx/>
                <a:latin typeface="Segoe Sans Text"/>
                <a:ea typeface="+mn-ea"/>
                <a:cs typeface="Segoe UI Light"/>
              </a:rPr>
              <a:t>– CSU delivery engines to accelerate delivery of AI Foundation Architect &amp; </a:t>
            </a:r>
            <a:r>
              <a:rPr kumimoji="0" lang="en-US" sz="1050" b="0" i="0" u="none" strike="noStrike" kern="0" cap="none" spc="0" normalizeH="0" baseline="0" noProof="0" err="1">
                <a:ln>
                  <a:noFill/>
                </a:ln>
                <a:solidFill>
                  <a:srgbClr val="000000"/>
                </a:solidFill>
                <a:effectLst/>
                <a:uLnTx/>
                <a:uFillTx/>
                <a:latin typeface="Segoe Sans Text"/>
                <a:ea typeface="+mn-ea"/>
                <a:cs typeface="Segoe UI Light"/>
              </a:rPr>
              <a:t>Factory</a:t>
            </a:r>
            <a:r>
              <a:rPr kumimoji="0" lang="en-US" sz="1050" b="1" i="0" u="none" strike="noStrike" kern="0" cap="none" spc="0" normalizeH="0" baseline="0" noProof="0" err="1">
                <a:ln>
                  <a:noFill/>
                </a:ln>
                <a:solidFill>
                  <a:srgbClr val="000000"/>
                </a:solidFill>
                <a:effectLst/>
                <a:uLnTx/>
                <a:uFillTx/>
                <a:latin typeface="Segoe Sans Text Semibold"/>
                <a:ea typeface="+mn-ea"/>
                <a:cs typeface="Segoe UI Light"/>
              </a:rPr>
              <a:t>Supplemental</a:t>
            </a:r>
            <a:r>
              <a:rPr kumimoji="0" lang="en-US" sz="1050" b="1" i="0" u="none" strike="noStrike" kern="0" cap="none" spc="0" normalizeH="0" baseline="0" noProof="0">
                <a:ln>
                  <a:noFill/>
                </a:ln>
                <a:solidFill>
                  <a:srgbClr val="000000"/>
                </a:solidFill>
                <a:effectLst/>
                <a:uLnTx/>
                <a:uFillTx/>
                <a:latin typeface="Segoe Sans Text Semibold"/>
                <a:ea typeface="+mn-ea"/>
                <a:cs typeface="Segoe UI Light"/>
              </a:rPr>
              <a:t> Skilling </a:t>
            </a:r>
            <a:endParaRPr kumimoji="0" lang="en-US" sz="1050" b="1" i="0" u="none" strike="noStrike" kern="1200" cap="none" spc="0" normalizeH="0" baseline="0" noProof="0">
              <a:ln>
                <a:noFill/>
              </a:ln>
              <a:solidFill>
                <a:srgbClr val="000000"/>
              </a:solidFill>
              <a:effectLst/>
              <a:uLnTx/>
              <a:uFillTx/>
              <a:latin typeface="Segoe Sans Text Semibold"/>
              <a:ea typeface="+mn-ea"/>
              <a:cs typeface="Segoe UI Light"/>
            </a:endParaRPr>
          </a:p>
        </p:txBody>
      </p:sp>
      <p:sp>
        <p:nvSpPr>
          <p:cNvPr id="51" name="Rectangle: Rounded Corners 50">
            <a:extLst>
              <a:ext uri="{FF2B5EF4-FFF2-40B4-BE49-F238E27FC236}">
                <a16:creationId xmlns:a16="http://schemas.microsoft.com/office/drawing/2014/main" id="{8856743B-8024-CF78-2CF1-E9286BF227AC}"/>
              </a:ext>
            </a:extLst>
          </p:cNvPr>
          <p:cNvSpPr/>
          <p:nvPr/>
        </p:nvSpPr>
        <p:spPr bwMode="auto">
          <a:xfrm>
            <a:off x="3943350" y="5381246"/>
            <a:ext cx="7090410" cy="849467"/>
          </a:xfrm>
          <a:prstGeom prst="roundRect">
            <a:avLst>
              <a:gd name="adj" fmla="val 12588"/>
            </a:avLst>
          </a:prstGeom>
          <a:solidFill>
            <a:srgbClr val="F0F8FF">
              <a:alpha val="97000"/>
            </a:srgbClr>
          </a:solidFill>
          <a:ln w="9525" cap="flat" cmpd="sng" algn="ctr">
            <a:noFill/>
            <a:prstDash val="solid"/>
            <a:headEnd type="none" w="med" len="med"/>
            <a:tailEnd type="none" w="med" len="med"/>
          </a:ln>
          <a:effectLst/>
        </p:spPr>
        <p:txBody>
          <a:bodyPr rot="0" spcFirstLastPara="0" vertOverflow="overflow" horzOverflow="overflow" vert="horz" wrap="square" lIns="91440" tIns="45713" rIns="91427" bIns="45713" numCol="1" spcCol="0" rtlCol="0" fromWordArt="0" anchor="ctr" anchorCtr="0" forceAA="0" compatLnSpc="1">
            <a:prstTxWarp prst="textNoShape">
              <a:avLst/>
            </a:prstTxWarp>
            <a:noAutofit/>
          </a:bodyPr>
          <a:lstStyle/>
          <a:p>
            <a:pPr marL="0" marR="0" lvl="0" indent="0" algn="l" defTabSz="932563"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078D4"/>
                </a:solidFill>
                <a:effectLst/>
                <a:uLnTx/>
                <a:uFillTx/>
                <a:latin typeface="Segoe UI Semibold"/>
                <a:ea typeface="+mn-ea"/>
                <a:cs typeface="+mn-cs"/>
              </a:rPr>
              <a:t>Dedicated “white glove” PM support </a:t>
            </a:r>
            <a:r>
              <a:rPr kumimoji="0" lang="en-US" sz="1200" b="0" i="0" u="none" strike="noStrike" kern="0" cap="none" spc="0" normalizeH="0" baseline="0" noProof="0">
                <a:ln>
                  <a:noFill/>
                </a:ln>
                <a:solidFill>
                  <a:srgbClr val="000000"/>
                </a:solidFill>
                <a:effectLst/>
                <a:uLnTx/>
                <a:uFillTx/>
                <a:latin typeface="Segoe Sans Text"/>
                <a:ea typeface="+mn-ea"/>
                <a:cs typeface="Segoe UI Light" panose="020B0502040204020203" pitchFamily="34" charset="0"/>
              </a:rPr>
              <a:t>end-to-end progression of intake to funding support and execution, aided by an easy-to-use Power App Onboarding tool </a:t>
            </a:r>
          </a:p>
        </p:txBody>
      </p:sp>
      <p:cxnSp>
        <p:nvCxnSpPr>
          <p:cNvPr id="52" name="Connector: Elbow 51">
            <a:extLst>
              <a:ext uri="{FF2B5EF4-FFF2-40B4-BE49-F238E27FC236}">
                <a16:creationId xmlns:a16="http://schemas.microsoft.com/office/drawing/2014/main" id="{C6F399D2-952C-814C-B562-641AF46B7FB8}"/>
              </a:ext>
            </a:extLst>
          </p:cNvPr>
          <p:cNvCxnSpPr>
            <a:cxnSpLocks/>
            <a:stCxn id="44" idx="6"/>
            <a:endCxn id="48" idx="1"/>
          </p:cNvCxnSpPr>
          <p:nvPr/>
        </p:nvCxnSpPr>
        <p:spPr>
          <a:xfrm flipV="1">
            <a:off x="3454400" y="3057399"/>
            <a:ext cx="488950" cy="911260"/>
          </a:xfrm>
          <a:prstGeom prst="bentConnector3">
            <a:avLst>
              <a:gd name="adj1" fmla="val 50000"/>
            </a:avLst>
          </a:prstGeom>
          <a:ln>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2C5739EB-AA37-9152-E73E-2EDEAAFB098D}"/>
              </a:ext>
            </a:extLst>
          </p:cNvPr>
          <p:cNvCxnSpPr>
            <a:cxnSpLocks/>
            <a:stCxn id="44" idx="6"/>
            <a:endCxn id="50" idx="1"/>
          </p:cNvCxnSpPr>
          <p:nvPr/>
        </p:nvCxnSpPr>
        <p:spPr>
          <a:xfrm>
            <a:off x="3454400" y="3968659"/>
            <a:ext cx="488950" cy="911265"/>
          </a:xfrm>
          <a:prstGeom prst="bentConnector3">
            <a:avLst>
              <a:gd name="adj1" fmla="val 50000"/>
            </a:avLst>
          </a:prstGeom>
          <a:ln>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C681B939-204B-CFC0-1698-198AB28A576A}"/>
              </a:ext>
            </a:extLst>
          </p:cNvPr>
          <p:cNvCxnSpPr>
            <a:cxnSpLocks/>
            <a:stCxn id="44" idx="4"/>
            <a:endCxn id="51" idx="1"/>
          </p:cNvCxnSpPr>
          <p:nvPr/>
        </p:nvCxnSpPr>
        <p:spPr>
          <a:xfrm rot="16200000" flipH="1">
            <a:off x="2780215" y="4642844"/>
            <a:ext cx="547769" cy="1778502"/>
          </a:xfrm>
          <a:prstGeom prst="bentConnector2">
            <a:avLst/>
          </a:prstGeom>
          <a:ln>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C392A22-C2A6-1C51-01DA-475784465B6E}"/>
              </a:ext>
            </a:extLst>
          </p:cNvPr>
          <p:cNvCxnSpPr>
            <a:cxnSpLocks/>
            <a:stCxn id="44" idx="6"/>
            <a:endCxn id="49" idx="1"/>
          </p:cNvCxnSpPr>
          <p:nvPr/>
        </p:nvCxnSpPr>
        <p:spPr>
          <a:xfrm>
            <a:off x="3454400" y="3968659"/>
            <a:ext cx="488950" cy="3"/>
          </a:xfrm>
          <a:prstGeom prst="straightConnector1">
            <a:avLst/>
          </a:prstGeom>
          <a:ln>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498A23E-338F-E7E5-96AB-366F5BB8F8EF}"/>
              </a:ext>
            </a:extLst>
          </p:cNvPr>
          <p:cNvSpPr/>
          <p:nvPr/>
        </p:nvSpPr>
        <p:spPr bwMode="auto">
          <a:xfrm>
            <a:off x="7378080" y="2491292"/>
            <a:ext cx="220952" cy="220952"/>
          </a:xfrm>
          <a:prstGeom prst="ellipse">
            <a:avLst/>
          </a:prstGeom>
          <a:solidFill>
            <a:srgbClr val="DFF1FF"/>
          </a:solidFill>
          <a:ln w="9525" cap="flat" cmpd="sng" algn="ctr">
            <a:solidFill>
              <a:schemeClr val="tx2"/>
            </a:solidFill>
            <a:prstDash val="solid"/>
          </a:ln>
          <a:effectLst/>
        </p:spPr>
        <p:txBody>
          <a:bodyPr wrap="none" lIns="0" tIns="0" rIns="0" bIns="0"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2A446F"/>
                </a:solidFill>
                <a:effectLst/>
                <a:uLnTx/>
                <a:uFillTx/>
                <a:latin typeface="Segoe Sans Text Semibold"/>
                <a:ea typeface="+mn-ea"/>
                <a:cs typeface="+mn-cs"/>
              </a:rPr>
              <a:t>OR</a:t>
            </a:r>
          </a:p>
        </p:txBody>
      </p:sp>
      <p:sp>
        <p:nvSpPr>
          <p:cNvPr id="57" name="Oval 56">
            <a:extLst>
              <a:ext uri="{FF2B5EF4-FFF2-40B4-BE49-F238E27FC236}">
                <a16:creationId xmlns:a16="http://schemas.microsoft.com/office/drawing/2014/main" id="{975521D9-3D2B-7220-F6CB-C70B159C7E20}"/>
              </a:ext>
            </a:extLst>
          </p:cNvPr>
          <p:cNvSpPr/>
          <p:nvPr/>
        </p:nvSpPr>
        <p:spPr bwMode="auto">
          <a:xfrm>
            <a:off x="7378080" y="3402554"/>
            <a:ext cx="220952" cy="220952"/>
          </a:xfrm>
          <a:prstGeom prst="ellipse">
            <a:avLst/>
          </a:prstGeom>
          <a:solidFill>
            <a:srgbClr val="DFF1FF"/>
          </a:solidFill>
          <a:ln w="9525" cap="flat" cmpd="sng" algn="ctr">
            <a:solidFill>
              <a:schemeClr val="tx2"/>
            </a:solidFill>
            <a:prstDash val="solid"/>
          </a:ln>
          <a:effectLst/>
        </p:spPr>
        <p:txBody>
          <a:bodyPr wrap="none" lIns="0" tIns="0" rIns="0" bIns="45720"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2A446F"/>
                </a:solidFill>
                <a:effectLst/>
                <a:uLnTx/>
                <a:uFillTx/>
                <a:latin typeface="Segoe Sans Text Semibold"/>
                <a:ea typeface="+mn-ea"/>
                <a:cs typeface="+mn-cs"/>
              </a:rPr>
              <a:t>+</a:t>
            </a:r>
            <a:endParaRPr kumimoji="0" lang="en-US" sz="1800" b="0" i="0" u="none" strike="noStrike" kern="0" cap="none" spc="0" normalizeH="0" baseline="0" noProof="0">
              <a:ln>
                <a:noFill/>
              </a:ln>
              <a:solidFill>
                <a:srgbClr val="2A446F"/>
              </a:solidFill>
              <a:effectLst/>
              <a:uLnTx/>
              <a:uFillTx/>
              <a:latin typeface="Segoe Sans Text Semibold"/>
              <a:ea typeface="+mn-ea"/>
              <a:cs typeface="Segoe UI Semibold" panose="020B0502040204020203" pitchFamily="34" charset="0"/>
            </a:endParaRPr>
          </a:p>
        </p:txBody>
      </p:sp>
    </p:spTree>
    <p:extLst>
      <p:ext uri="{BB962C8B-B14F-4D97-AF65-F5344CB8AC3E}">
        <p14:creationId xmlns:p14="http://schemas.microsoft.com/office/powerpoint/2010/main" val="360163821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E43A-AE33-CFC8-2623-27C2C1E2DC5B}"/>
            </a:ext>
          </a:extLst>
        </p:cNvPr>
        <p:cNvGrpSpPr/>
        <p:nvPr/>
      </p:nvGrpSpPr>
      <p:grpSpPr>
        <a:xfrm>
          <a:off x="0" y="0"/>
          <a:ext cx="0" cy="0"/>
          <a:chOff x="0" y="0"/>
          <a:chExt cx="0" cy="0"/>
        </a:xfrm>
      </p:grpSpPr>
      <p:sp>
        <p:nvSpPr>
          <p:cNvPr id="52" name="Title 51">
            <a:extLst>
              <a:ext uri="{FF2B5EF4-FFF2-40B4-BE49-F238E27FC236}">
                <a16:creationId xmlns:a16="http://schemas.microsoft.com/office/drawing/2014/main" id="{A6F65FA4-D8EC-9D86-3D68-28E774AD83FA}"/>
              </a:ext>
            </a:extLst>
          </p:cNvPr>
          <p:cNvSpPr>
            <a:spLocks noGrp="1"/>
          </p:cNvSpPr>
          <p:nvPr>
            <p:ph type="title"/>
          </p:nvPr>
        </p:nvSpPr>
        <p:spPr>
          <a:xfrm>
            <a:off x="585008" y="203713"/>
            <a:ext cx="11018520" cy="553998"/>
          </a:xfrm>
        </p:spPr>
        <p:txBody>
          <a:bodyPr/>
          <a:lstStyle/>
          <a:p>
            <a:r>
              <a:rPr lang="en-US"/>
              <a:t>Cross solution AI Transformation initiative</a:t>
            </a:r>
          </a:p>
        </p:txBody>
      </p:sp>
      <p:sp>
        <p:nvSpPr>
          <p:cNvPr id="68" name="Rectangle: Rounded Corners 67">
            <a:extLst>
              <a:ext uri="{FF2B5EF4-FFF2-40B4-BE49-F238E27FC236}">
                <a16:creationId xmlns:a16="http://schemas.microsoft.com/office/drawing/2014/main" id="{028EA0EB-E4A0-E4F2-C4E8-6E636094F368}"/>
              </a:ext>
            </a:extLst>
          </p:cNvPr>
          <p:cNvSpPr/>
          <p:nvPr/>
        </p:nvSpPr>
        <p:spPr bwMode="auto">
          <a:xfrm>
            <a:off x="377102" y="914647"/>
            <a:ext cx="11762400" cy="1979022"/>
          </a:xfrm>
          <a:prstGeom prst="roundRect">
            <a:avLst>
              <a:gd name="adj" fmla="val 4217"/>
            </a:avLst>
          </a:prstGeom>
          <a:solidFill>
            <a:schemeClr val="bg1">
              <a:alpha val="70000"/>
            </a:schemeClr>
          </a:solidFill>
          <a:ln w="6350">
            <a:gradFill>
              <a:gsLst>
                <a:gs pos="0">
                  <a:schemeClr val="bg1">
                    <a:alpha val="30000"/>
                  </a:schemeClr>
                </a:gs>
                <a:gs pos="100000">
                  <a:schemeClr val="bg1">
                    <a:alpha val="59000"/>
                  </a:schemeClr>
                </a:gs>
              </a:gsLst>
              <a:lin ang="5400000" scaled="1"/>
            </a:gradFill>
            <a:headEnd type="none" w="med" len="med"/>
            <a:tailEnd type="none" w="med" len="med"/>
          </a:ln>
          <a:effectLst>
            <a:outerShdw blurRad="165100" dist="25400" dir="2700000" algn="tl" rotWithShape="0">
              <a:schemeClr val="bg2">
                <a:lumMod val="50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91F2C"/>
              </a:solidFill>
              <a:effectLst/>
              <a:uLnTx/>
              <a:uFillTx/>
              <a:latin typeface="Segoe Sans Display Semibold"/>
              <a:ea typeface="+mn-ea"/>
              <a:cs typeface="Segoe UI" pitchFamily="34" charset="0"/>
            </a:endParaRPr>
          </a:p>
        </p:txBody>
      </p:sp>
      <p:grpSp>
        <p:nvGrpSpPr>
          <p:cNvPr id="81" name="Group 80">
            <a:extLst>
              <a:ext uri="{FF2B5EF4-FFF2-40B4-BE49-F238E27FC236}">
                <a16:creationId xmlns:a16="http://schemas.microsoft.com/office/drawing/2014/main" id="{D7ABC405-6BBE-2146-2D05-AF0CB1FAD00E}"/>
              </a:ext>
            </a:extLst>
          </p:cNvPr>
          <p:cNvGrpSpPr/>
          <p:nvPr/>
        </p:nvGrpSpPr>
        <p:grpSpPr>
          <a:xfrm>
            <a:off x="3630985" y="1309796"/>
            <a:ext cx="2449608" cy="1384190"/>
            <a:chOff x="5228622" y="6949305"/>
            <a:chExt cx="5935662" cy="1979050"/>
          </a:xfrm>
        </p:grpSpPr>
        <p:sp>
          <p:nvSpPr>
            <p:cNvPr id="69" name="Content Placeholder 4">
              <a:extLst>
                <a:ext uri="{FF2B5EF4-FFF2-40B4-BE49-F238E27FC236}">
                  <a16:creationId xmlns:a16="http://schemas.microsoft.com/office/drawing/2014/main" id="{DCC8731D-044A-2EED-D9D8-887F5E5EB5D3}"/>
                </a:ext>
              </a:extLst>
            </p:cNvPr>
            <p:cNvSpPr txBox="1">
              <a:spLocks/>
            </p:cNvSpPr>
            <p:nvPr/>
          </p:nvSpPr>
          <p:spPr>
            <a:xfrm>
              <a:off x="5234587" y="6949305"/>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Programmatic approach</a:t>
              </a:r>
            </a:p>
          </p:txBody>
        </p:sp>
        <p:sp>
          <p:nvSpPr>
            <p:cNvPr id="70" name="Content Placeholder 4">
              <a:extLst>
                <a:ext uri="{FF2B5EF4-FFF2-40B4-BE49-F238E27FC236}">
                  <a16:creationId xmlns:a16="http://schemas.microsoft.com/office/drawing/2014/main" id="{05DFBD8A-2640-97FC-F8B1-4A2D2A2D62CD}"/>
                </a:ext>
              </a:extLst>
            </p:cNvPr>
            <p:cNvSpPr txBox="1">
              <a:spLocks/>
            </p:cNvSpPr>
            <p:nvPr/>
          </p:nvSpPr>
          <p:spPr>
            <a:xfrm>
              <a:off x="5234585" y="7293247"/>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Scalable, with measurable results</a:t>
              </a:r>
            </a:p>
          </p:txBody>
        </p:sp>
        <p:sp>
          <p:nvSpPr>
            <p:cNvPr id="71" name="Content Placeholder 4">
              <a:extLst>
                <a:ext uri="{FF2B5EF4-FFF2-40B4-BE49-F238E27FC236}">
                  <a16:creationId xmlns:a16="http://schemas.microsoft.com/office/drawing/2014/main" id="{C14FBD30-52EE-F89E-99BF-94E909CCC104}"/>
                </a:ext>
              </a:extLst>
            </p:cNvPr>
            <p:cNvSpPr txBox="1">
              <a:spLocks/>
            </p:cNvSpPr>
            <p:nvPr/>
          </p:nvSpPr>
          <p:spPr>
            <a:xfrm>
              <a:off x="5234585" y="7647607"/>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End-to-end, technically mature</a:t>
              </a:r>
            </a:p>
          </p:txBody>
        </p:sp>
        <p:sp>
          <p:nvSpPr>
            <p:cNvPr id="74" name="Content Placeholder 4">
              <a:extLst>
                <a:ext uri="{FF2B5EF4-FFF2-40B4-BE49-F238E27FC236}">
                  <a16:creationId xmlns:a16="http://schemas.microsoft.com/office/drawing/2014/main" id="{481F7E70-77DF-3F31-AE35-EFD216E28CAD}"/>
                </a:ext>
              </a:extLst>
            </p:cNvPr>
            <p:cNvSpPr txBox="1">
              <a:spLocks/>
            </p:cNvSpPr>
            <p:nvPr/>
          </p:nvSpPr>
          <p:spPr>
            <a:xfrm>
              <a:off x="5234585" y="8010284"/>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X-solution, X-org, Aligned</a:t>
              </a:r>
              <a:endParaRPr kumimoji="0" lang="en-US" sz="12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endParaRPr>
            </a:p>
          </p:txBody>
        </p:sp>
        <p:sp>
          <p:nvSpPr>
            <p:cNvPr id="78" name="Content Placeholder 4">
              <a:extLst>
                <a:ext uri="{FF2B5EF4-FFF2-40B4-BE49-F238E27FC236}">
                  <a16:creationId xmlns:a16="http://schemas.microsoft.com/office/drawing/2014/main" id="{187065E2-BB87-AC1B-8F3D-08803567CA07}"/>
                </a:ext>
              </a:extLst>
            </p:cNvPr>
            <p:cNvSpPr txBox="1">
              <a:spLocks/>
            </p:cNvSpPr>
            <p:nvPr/>
          </p:nvSpPr>
          <p:spPr>
            <a:xfrm>
              <a:off x="5228622" y="8355320"/>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Ready to use content</a:t>
              </a:r>
            </a:p>
          </p:txBody>
        </p:sp>
        <p:sp>
          <p:nvSpPr>
            <p:cNvPr id="79" name="Content Placeholder 4">
              <a:extLst>
                <a:ext uri="{FF2B5EF4-FFF2-40B4-BE49-F238E27FC236}">
                  <a16:creationId xmlns:a16="http://schemas.microsoft.com/office/drawing/2014/main" id="{59087BCC-14F6-5C9A-2B05-8F09DC1611B8}"/>
                </a:ext>
              </a:extLst>
            </p:cNvPr>
            <p:cNvSpPr txBox="1">
              <a:spLocks/>
            </p:cNvSpPr>
            <p:nvPr/>
          </p:nvSpPr>
          <p:spPr>
            <a:xfrm>
              <a:off x="5228792" y="8686331"/>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b="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Quick, easy to put in practice</a:t>
              </a:r>
            </a:p>
          </p:txBody>
        </p:sp>
      </p:grpSp>
      <p:sp>
        <p:nvSpPr>
          <p:cNvPr id="80" name="TextBox 79">
            <a:extLst>
              <a:ext uri="{FF2B5EF4-FFF2-40B4-BE49-F238E27FC236}">
                <a16:creationId xmlns:a16="http://schemas.microsoft.com/office/drawing/2014/main" id="{E0863A6A-9868-45B0-FEB2-E461FA84A285}"/>
              </a:ext>
            </a:extLst>
          </p:cNvPr>
          <p:cNvSpPr txBox="1"/>
          <p:nvPr/>
        </p:nvSpPr>
        <p:spPr>
          <a:xfrm>
            <a:off x="5627270" y="1210078"/>
            <a:ext cx="6224364" cy="1785104"/>
          </a:xfrm>
          <a:prstGeom prst="rect">
            <a:avLst/>
          </a:prstGeom>
          <a:noFill/>
        </p:spPr>
        <p:txBody>
          <a:bodyPr wrap="square" rtlCol="0">
            <a:spAutoFit/>
          </a:bodyPr>
          <a:lstStyle/>
          <a:p>
            <a:pPr marR="0" lvl="1" algn="l" defTabSz="914400" rtl="0" eaLnBrk="1" fontAlgn="auto" latinLnBrk="0" hangingPunct="1">
              <a:lnSpc>
                <a:spcPct val="100000"/>
              </a:lnSpc>
              <a:spcBef>
                <a:spcPts val="0"/>
              </a:spcBef>
              <a:spcAft>
                <a:spcPts val="0"/>
              </a:spcAft>
              <a:buClrTx/>
              <a:buSzTx/>
              <a:tabLst/>
              <a:defRPr/>
            </a:pP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Clarity</a:t>
            </a: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in understanding AI Transformation through End-to-end customer journey, </a:t>
            </a:r>
          </a:p>
          <a:p>
            <a:pPr marR="0" lvl="1" algn="l" defTabSz="914400" rtl="0" eaLnBrk="1" fontAlgn="auto" latinLnBrk="0" hangingPunct="1">
              <a:lnSpc>
                <a:spcPct val="100000"/>
              </a:lnSpc>
              <a:spcBef>
                <a:spcPts val="0"/>
              </a:spcBef>
              <a:spcAft>
                <a:spcPts val="0"/>
              </a:spcAft>
              <a:buClrTx/>
              <a:buSzTx/>
              <a:tabLst/>
              <a:defRPr/>
            </a:pP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Enable production level AI in scale </a:t>
            </a:r>
            <a:r>
              <a:rPr kumimoji="0" lang="en-US" sz="110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by enhancing current materials and frameworks</a:t>
            </a:r>
          </a:p>
          <a:p>
            <a:pPr marR="0" lvl="1" algn="l"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Intensify cross-solution, cross-org collaboration and </a:t>
            </a: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knowledge transfer</a:t>
            </a:r>
            <a:endParaRPr kumimoji="0" lang="en-US" sz="110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endParaRPr>
          </a:p>
          <a:p>
            <a:pPr marR="0" lvl="1" algn="l" defTabSz="914400" rtl="0" eaLnBrk="1" fontAlgn="auto" latinLnBrk="0" hangingPunct="1">
              <a:lnSpc>
                <a:spcPct val="100000"/>
              </a:lnSpc>
              <a:spcBef>
                <a:spcPts val="0"/>
              </a:spcBef>
              <a:spcAft>
                <a:spcPts val="0"/>
              </a:spcAft>
              <a:buClrTx/>
              <a:buSzTx/>
              <a:tabLst/>
              <a:defRPr/>
            </a:pP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Scale</a:t>
            </a: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AI Transformation through quick, easy to adopt collateral (new modular deliverables - offerings templates, complete delivery materials, workshops definitions, shadowing)</a:t>
            </a:r>
          </a:p>
          <a:p>
            <a:pPr marR="0" lvl="1" algn="l" defTabSz="914400" rtl="0" eaLnBrk="1" fontAlgn="auto" latinLnBrk="0" hangingPunct="1">
              <a:lnSpc>
                <a:spcPct val="100000"/>
              </a:lnSpc>
              <a:spcBef>
                <a:spcPts val="0"/>
              </a:spcBef>
              <a:spcAft>
                <a:spcPts val="0"/>
              </a:spcAft>
              <a:buClrTx/>
              <a:buSzTx/>
              <a:tabLst/>
              <a:defRPr/>
            </a:pP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Quick deployments </a:t>
            </a: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through MVP gradual enhancements</a:t>
            </a:r>
          </a:p>
          <a:p>
            <a:pPr marR="0" lvl="1" algn="l"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Securing the position of MS as </a:t>
            </a: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trusted advisor</a:t>
            </a:r>
          </a:p>
          <a:p>
            <a:pPr marR="0" lvl="1" algn="l" defTabSz="914400" rtl="0" eaLnBrk="1" fontAlgn="auto" latinLnBrk="0" hangingPunct="1">
              <a:lnSpc>
                <a:spcPct val="100000"/>
              </a:lnSpc>
              <a:spcBef>
                <a:spcPts val="0"/>
              </a:spcBef>
              <a:spcAft>
                <a:spcPts val="0"/>
              </a:spcAft>
              <a:buClrTx/>
              <a:buSzTx/>
              <a:tabLst/>
              <a:defRPr/>
            </a:pP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Identifying </a:t>
            </a:r>
            <a:r>
              <a:rPr kumimoji="0" lang="en-US" sz="11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hidden opportunities </a:t>
            </a:r>
            <a:r>
              <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(production level AI requires solid infra, sec and data baseline)</a:t>
            </a:r>
          </a:p>
          <a:p>
            <a:pPr lvl="1"/>
            <a:r>
              <a:rPr lang="en-US" sz="1100">
                <a:solidFill>
                  <a:srgbClr val="000000"/>
                </a:solidFill>
                <a:latin typeface="Segoe UI Light" panose="020B0502040204020203" pitchFamily="34" charset="0"/>
                <a:cs typeface="Segoe UI Light" panose="020B0502040204020203" pitchFamily="34" charset="0"/>
              </a:rPr>
              <a:t>Follow up, measure and analyze impact</a:t>
            </a:r>
          </a:p>
          <a:p>
            <a:pPr marR="0" lvl="1" algn="l" defTabSz="914400" rtl="0" eaLnBrk="1" fontAlgn="auto" latinLnBrk="0" hangingPunct="1">
              <a:lnSpc>
                <a:spcPct val="100000"/>
              </a:lnSpc>
              <a:spcBef>
                <a:spcPts val="0"/>
              </a:spcBef>
              <a:spcAft>
                <a:spcPts val="0"/>
              </a:spcAft>
              <a:buClrTx/>
              <a:buSzTx/>
              <a:tabLst/>
              <a:defRPr/>
            </a:pPr>
            <a:endParaRPr kumimoji="0" lang="en-US" sz="11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endParaRPr>
          </a:p>
        </p:txBody>
      </p:sp>
      <p:grpSp>
        <p:nvGrpSpPr>
          <p:cNvPr id="82" name="Group 81">
            <a:extLst>
              <a:ext uri="{FF2B5EF4-FFF2-40B4-BE49-F238E27FC236}">
                <a16:creationId xmlns:a16="http://schemas.microsoft.com/office/drawing/2014/main" id="{5218D4FC-77AD-2474-7B4D-6069C8672B45}"/>
              </a:ext>
            </a:extLst>
          </p:cNvPr>
          <p:cNvGrpSpPr/>
          <p:nvPr/>
        </p:nvGrpSpPr>
        <p:grpSpPr>
          <a:xfrm>
            <a:off x="866619" y="1302464"/>
            <a:ext cx="2465041" cy="1384190"/>
            <a:chOff x="5228622" y="6949305"/>
            <a:chExt cx="5973057" cy="1979050"/>
          </a:xfrm>
        </p:grpSpPr>
        <p:sp>
          <p:nvSpPr>
            <p:cNvPr id="83" name="Content Placeholder 4">
              <a:extLst>
                <a:ext uri="{FF2B5EF4-FFF2-40B4-BE49-F238E27FC236}">
                  <a16:creationId xmlns:a16="http://schemas.microsoft.com/office/drawing/2014/main" id="{81043464-100E-6B41-DDE2-34FAEE5E71E6}"/>
                </a:ext>
              </a:extLst>
            </p:cNvPr>
            <p:cNvSpPr txBox="1">
              <a:spLocks/>
            </p:cNvSpPr>
            <p:nvPr/>
          </p:nvSpPr>
          <p:spPr>
            <a:xfrm>
              <a:off x="5234587" y="6949305"/>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AI Transformation is complex, cross SA</a:t>
              </a:r>
            </a:p>
          </p:txBody>
        </p:sp>
        <p:sp>
          <p:nvSpPr>
            <p:cNvPr id="84" name="Content Placeholder 4">
              <a:extLst>
                <a:ext uri="{FF2B5EF4-FFF2-40B4-BE49-F238E27FC236}">
                  <a16:creationId xmlns:a16="http://schemas.microsoft.com/office/drawing/2014/main" id="{E2B2EABE-0513-FE1D-587D-3ED7ED32EEE6}"/>
                </a:ext>
              </a:extLst>
            </p:cNvPr>
            <p:cNvSpPr txBox="1">
              <a:spLocks/>
            </p:cNvSpPr>
            <p:nvPr/>
          </p:nvSpPr>
          <p:spPr>
            <a:xfrm>
              <a:off x="5234585" y="7293247"/>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Hard to scale, go to production </a:t>
              </a:r>
            </a:p>
          </p:txBody>
        </p:sp>
        <p:sp>
          <p:nvSpPr>
            <p:cNvPr id="85" name="Content Placeholder 4">
              <a:extLst>
                <a:ext uri="{FF2B5EF4-FFF2-40B4-BE49-F238E27FC236}">
                  <a16:creationId xmlns:a16="http://schemas.microsoft.com/office/drawing/2014/main" id="{A351782B-2149-75B1-625A-22D62BFB921B}"/>
                </a:ext>
              </a:extLst>
            </p:cNvPr>
            <p:cNvSpPr txBox="1">
              <a:spLocks/>
            </p:cNvSpPr>
            <p:nvPr/>
          </p:nvSpPr>
          <p:spPr>
            <a:xfrm>
              <a:off x="5234585" y="7647607"/>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Focused on silos and </a:t>
              </a:r>
              <a:r>
                <a:rPr kumimoji="0" lang="en-US" sz="1100" i="0" u="none" strike="noStrike" kern="1200" cap="none" spc="0" normalizeH="0" baseline="0" noProof="0" err="1">
                  <a:ln>
                    <a:noFill/>
                  </a:ln>
                  <a:solidFill>
                    <a:schemeClr val="tx2"/>
                  </a:solidFill>
                  <a:effectLst/>
                  <a:uLnTx/>
                  <a:uFillTx/>
                  <a:latin typeface="Segoe UI Light" panose="020B0502040204020203" pitchFamily="34" charset="0"/>
                  <a:cs typeface="Segoe UI Light" panose="020B0502040204020203" pitchFamily="34" charset="0"/>
                </a:rPr>
                <a:t>PoCs</a:t>
              </a:r>
              <a:endPar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endParaRPr>
            </a:p>
          </p:txBody>
        </p:sp>
        <p:sp>
          <p:nvSpPr>
            <p:cNvPr id="86" name="Content Placeholder 4">
              <a:extLst>
                <a:ext uri="{FF2B5EF4-FFF2-40B4-BE49-F238E27FC236}">
                  <a16:creationId xmlns:a16="http://schemas.microsoft.com/office/drawing/2014/main" id="{0D7421DE-876A-2654-D789-58DF2204FB06}"/>
                </a:ext>
              </a:extLst>
            </p:cNvPr>
            <p:cNvSpPr txBox="1">
              <a:spLocks/>
            </p:cNvSpPr>
            <p:nvPr/>
          </p:nvSpPr>
          <p:spPr>
            <a:xfrm>
              <a:off x="5271983" y="8009856"/>
              <a:ext cx="5929696"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CAF, WAF don’t deal with brownfield</a:t>
              </a:r>
              <a:endParaRPr kumimoji="0" lang="en-US" sz="12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endParaRPr>
            </a:p>
          </p:txBody>
        </p:sp>
        <p:sp>
          <p:nvSpPr>
            <p:cNvPr id="87" name="Content Placeholder 4">
              <a:extLst>
                <a:ext uri="{FF2B5EF4-FFF2-40B4-BE49-F238E27FC236}">
                  <a16:creationId xmlns:a16="http://schemas.microsoft.com/office/drawing/2014/main" id="{B022E997-A7C7-D609-EB26-9A8D657B821F}"/>
                </a:ext>
              </a:extLst>
            </p:cNvPr>
            <p:cNvSpPr txBox="1">
              <a:spLocks/>
            </p:cNvSpPr>
            <p:nvPr/>
          </p:nvSpPr>
          <p:spPr>
            <a:xfrm>
              <a:off x="5228622" y="8355320"/>
              <a:ext cx="5929697"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Fractured content</a:t>
              </a:r>
            </a:p>
          </p:txBody>
        </p:sp>
        <p:sp>
          <p:nvSpPr>
            <p:cNvPr id="88" name="Content Placeholder 4">
              <a:extLst>
                <a:ext uri="{FF2B5EF4-FFF2-40B4-BE49-F238E27FC236}">
                  <a16:creationId xmlns:a16="http://schemas.microsoft.com/office/drawing/2014/main" id="{EA6F8880-37FF-15B1-01AA-66DD82D302CF}"/>
                </a:ext>
              </a:extLst>
            </p:cNvPr>
            <p:cNvSpPr txBox="1">
              <a:spLocks/>
            </p:cNvSpPr>
            <p:nvPr/>
          </p:nvSpPr>
          <p:spPr>
            <a:xfrm>
              <a:off x="5228792" y="8686331"/>
              <a:ext cx="5929698" cy="242024"/>
            </a:xfrm>
            <a:prstGeom prst="rect">
              <a:avLst/>
            </a:prstGeom>
          </p:spPr>
          <p:txBody>
            <a:bodyPr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100" i="0" u="none" strike="noStrike" kern="1200" cap="none" spc="0" normalizeH="0" baseline="0" noProof="0">
                  <a:ln>
                    <a:noFill/>
                  </a:ln>
                  <a:solidFill>
                    <a:schemeClr val="tx2"/>
                  </a:solidFill>
                  <a:effectLst/>
                  <a:uLnTx/>
                  <a:uFillTx/>
                  <a:latin typeface="Segoe UI Light" panose="020B0502040204020203" pitchFamily="34" charset="0"/>
                  <a:cs typeface="Segoe UI Light" panose="020B0502040204020203" pitchFamily="34" charset="0"/>
                </a:rPr>
                <a:t>Requires long adoption times</a:t>
              </a:r>
            </a:p>
          </p:txBody>
        </p:sp>
      </p:grpSp>
      <p:sp>
        <p:nvSpPr>
          <p:cNvPr id="89" name="TextBox 88">
            <a:extLst>
              <a:ext uri="{FF2B5EF4-FFF2-40B4-BE49-F238E27FC236}">
                <a16:creationId xmlns:a16="http://schemas.microsoft.com/office/drawing/2014/main" id="{77FCE709-E169-244D-67B3-21A225B54094}"/>
              </a:ext>
            </a:extLst>
          </p:cNvPr>
          <p:cNvSpPr txBox="1"/>
          <p:nvPr/>
        </p:nvSpPr>
        <p:spPr>
          <a:xfrm>
            <a:off x="557980" y="1010913"/>
            <a:ext cx="311500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Why?</a:t>
            </a:r>
          </a:p>
        </p:txBody>
      </p:sp>
      <p:sp>
        <p:nvSpPr>
          <p:cNvPr id="90" name="TextBox 89">
            <a:extLst>
              <a:ext uri="{FF2B5EF4-FFF2-40B4-BE49-F238E27FC236}">
                <a16:creationId xmlns:a16="http://schemas.microsoft.com/office/drawing/2014/main" id="{617E08E1-FE07-7B39-182F-B32BF1DDDCBA}"/>
              </a:ext>
            </a:extLst>
          </p:cNvPr>
          <p:cNvSpPr txBox="1"/>
          <p:nvPr/>
        </p:nvSpPr>
        <p:spPr>
          <a:xfrm>
            <a:off x="3324176" y="1002113"/>
            <a:ext cx="311500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Initiative principles?</a:t>
            </a:r>
          </a:p>
        </p:txBody>
      </p:sp>
      <p:sp>
        <p:nvSpPr>
          <p:cNvPr id="91" name="TextBox 90">
            <a:extLst>
              <a:ext uri="{FF2B5EF4-FFF2-40B4-BE49-F238E27FC236}">
                <a16:creationId xmlns:a16="http://schemas.microsoft.com/office/drawing/2014/main" id="{460F2984-2016-DD82-4DAC-FE2A4818E0C3}"/>
              </a:ext>
            </a:extLst>
          </p:cNvPr>
          <p:cNvSpPr txBox="1"/>
          <p:nvPr/>
        </p:nvSpPr>
        <p:spPr>
          <a:xfrm>
            <a:off x="5846309" y="960574"/>
            <a:ext cx="3122138" cy="26820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     How?</a:t>
            </a:r>
          </a:p>
        </p:txBody>
      </p:sp>
      <p:sp>
        <p:nvSpPr>
          <p:cNvPr id="62" name="Oval 61">
            <a:extLst>
              <a:ext uri="{FF2B5EF4-FFF2-40B4-BE49-F238E27FC236}">
                <a16:creationId xmlns:a16="http://schemas.microsoft.com/office/drawing/2014/main" id="{446F35CD-D127-5D15-B16B-A87B3A1D2681}"/>
              </a:ext>
            </a:extLst>
          </p:cNvPr>
          <p:cNvSpPr/>
          <p:nvPr/>
        </p:nvSpPr>
        <p:spPr bwMode="auto">
          <a:xfrm>
            <a:off x="7590389" y="4509605"/>
            <a:ext cx="79910" cy="75770"/>
          </a:xfrm>
          <a:prstGeom prst="ellipse">
            <a:avLst/>
          </a:prstGeom>
          <a:solidFill>
            <a:schemeClr val="bg1"/>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sp>
        <p:nvSpPr>
          <p:cNvPr id="63" name="Oval 62">
            <a:extLst>
              <a:ext uri="{FF2B5EF4-FFF2-40B4-BE49-F238E27FC236}">
                <a16:creationId xmlns:a16="http://schemas.microsoft.com/office/drawing/2014/main" id="{81F3293B-B25B-ECBF-AE00-3E1DBA1447F3}"/>
              </a:ext>
            </a:extLst>
          </p:cNvPr>
          <p:cNvSpPr/>
          <p:nvPr/>
        </p:nvSpPr>
        <p:spPr bwMode="auto">
          <a:xfrm>
            <a:off x="8436111" y="4509605"/>
            <a:ext cx="79910" cy="75770"/>
          </a:xfrm>
          <a:prstGeom prst="ellipse">
            <a:avLst/>
          </a:prstGeom>
          <a:solidFill>
            <a:schemeClr val="bg1"/>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Sans Display"/>
              <a:ea typeface="Segoe UI" pitchFamily="34" charset="0"/>
              <a:cs typeface="Segoe UI" pitchFamily="34" charset="0"/>
            </a:endParaRPr>
          </a:p>
        </p:txBody>
      </p:sp>
      <p:pic>
        <p:nvPicPr>
          <p:cNvPr id="65" name="Picture 64">
            <a:extLst>
              <a:ext uri="{FF2B5EF4-FFF2-40B4-BE49-F238E27FC236}">
                <a16:creationId xmlns:a16="http://schemas.microsoft.com/office/drawing/2014/main" id="{BF16BD3A-C5EB-3A3B-2BF5-85C1AC17BF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95068" y="3016815"/>
            <a:ext cx="10601863" cy="3761558"/>
          </a:xfrm>
          <a:prstGeom prst="rect">
            <a:avLst/>
          </a:prstGeom>
        </p:spPr>
      </p:pic>
    </p:spTree>
    <p:extLst>
      <p:ext uri="{BB962C8B-B14F-4D97-AF65-F5344CB8AC3E}">
        <p14:creationId xmlns:p14="http://schemas.microsoft.com/office/powerpoint/2010/main" val="3240175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7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PLORISLIBHASH" val="1.162_Gw5MglSz7PJSyNud9DQVVHjAfMA="/>
  <p:tag name="APLORISLIBID" val="L32bb02e7-3368-437c-bc09-651bb95b1f94.1.ruQQzw=="/>
</p:tagLst>
</file>

<file path=ppt/theme/theme1.xml><?xml version="1.0" encoding="utf-8"?>
<a:theme xmlns:a="http://schemas.openxmlformats.org/drawingml/2006/main" name="MSFT Cloud_Industry Slide Template-16x9">
  <a:themeElements>
    <a:clrScheme name="Custom 1">
      <a:dk1>
        <a:srgbClr val="091F2C"/>
      </a:dk1>
      <a:lt1>
        <a:srgbClr val="FFFFFF"/>
      </a:lt1>
      <a:dk2>
        <a:srgbClr val="000000"/>
      </a:dk2>
      <a:lt2>
        <a:srgbClr val="FFF8F5"/>
      </a:lt2>
      <a:accent1>
        <a:srgbClr val="702573"/>
      </a:accent1>
      <a:accent2>
        <a:srgbClr val="C03BC4"/>
      </a:accent2>
      <a:accent3>
        <a:srgbClr val="0078D4"/>
      </a:accent3>
      <a:accent4>
        <a:srgbClr val="8DC8E8"/>
      </a:accent4>
      <a:accent5>
        <a:srgbClr val="225B62"/>
      </a:accent5>
      <a:accent6>
        <a:srgbClr val="D4EC8E"/>
      </a:accent6>
      <a:hlink>
        <a:srgbClr val="C03BC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tx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Cloud_Industry Slide Template-16x9_v06.potx" id="{22F967BE-1BE3-4E33-9E43-34A6A01C1D2B}" vid="{96DD2E20-957E-4F0C-81DD-10783C0407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2D6928B673D14487CA15EC88DA3B99" ma:contentTypeVersion="6" ma:contentTypeDescription="Create a new document." ma:contentTypeScope="" ma:versionID="b3aafdf4bc7fee567cb463eb2b9e6c51">
  <xsd:schema xmlns:xsd="http://www.w3.org/2001/XMLSchema" xmlns:xs="http://www.w3.org/2001/XMLSchema" xmlns:p="http://schemas.microsoft.com/office/2006/metadata/properties" xmlns:ns1="http://schemas.microsoft.com/sharepoint/v3" xmlns:ns2="e05c6208-1918-465a-a0ac-3e1df925cb17" targetNamespace="http://schemas.microsoft.com/office/2006/metadata/properties" ma:root="true" ma:fieldsID="b6f7d5f401d5884da35f22aae48e5579" ns1:_="" ns2:_="">
    <xsd:import namespace="http://schemas.microsoft.com/sharepoint/v3"/>
    <xsd:import namespace="e05c6208-1918-465a-a0ac-3e1df925cb17"/>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05c6208-1918-465a-a0ac-3e1df925cb17"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9FA937D-8105-4739-8BD5-849E88B3B533}">
  <ds:schemaRefs>
    <ds:schemaRef ds:uri="e05c6208-1918-465a-a0ac-3e1df925cb1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7362D94-7FB8-44C7-83A2-D15405152A75}">
  <ds:schemaRefs>
    <ds:schemaRef ds:uri="http://schemas.microsoft.com/sharepoint/v3/contenttype/forms"/>
  </ds:schemaRefs>
</ds:datastoreItem>
</file>

<file path=customXml/itemProps3.xml><?xml version="1.0" encoding="utf-8"?>
<ds:datastoreItem xmlns:ds="http://schemas.openxmlformats.org/officeDocument/2006/customXml" ds:itemID="{D78D43A8-6210-44C3-8F23-E6AC2D545605}">
  <ds:schemaRefs>
    <ds:schemaRef ds:uri="http://schemas.microsoft.com/office/2006/metadata/properties"/>
    <ds:schemaRef ds:uri="http://www.w3.org/XML/1998/namespace"/>
    <ds:schemaRef ds:uri="http://purl.org/dc/dcmitype/"/>
    <ds:schemaRef ds:uri="http://schemas.microsoft.com/sharepoint/v3"/>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e05c6208-1918-465a-a0ac-3e1df925cb17"/>
    <ds:schemaRef ds:uri="http://purl.org/dc/te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2557</Words>
  <Application>Microsoft Office PowerPoint</Application>
  <PresentationFormat>Widescreen</PresentationFormat>
  <Paragraphs>221</Paragraphs>
  <Slides>14</Slides>
  <Notes>13</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14</vt:i4>
      </vt:variant>
    </vt:vector>
  </HeadingPairs>
  <TitlesOfParts>
    <vt:vector size="31" baseType="lpstr">
      <vt:lpstr>Aptos</vt:lpstr>
      <vt:lpstr>Arial</vt:lpstr>
      <vt:lpstr>Calibri</vt:lpstr>
      <vt:lpstr>Consolas</vt:lpstr>
      <vt:lpstr>Roboto Mono Medium</vt:lpstr>
      <vt:lpstr>Segoe Sans Display</vt:lpstr>
      <vt:lpstr>Segoe Sans Display Semibold</vt:lpstr>
      <vt:lpstr>Segoe Sans Text</vt:lpstr>
      <vt:lpstr>Segoe Sans Text Semibold</vt:lpstr>
      <vt:lpstr>Segoe Sans Text Semilight</vt:lpstr>
      <vt:lpstr>Segoe UI</vt:lpstr>
      <vt:lpstr>Segoe UI Black</vt:lpstr>
      <vt:lpstr>Segoe UI Light</vt:lpstr>
      <vt:lpstr>Segoe UI Semibold</vt:lpstr>
      <vt:lpstr>Symbol</vt:lpstr>
      <vt:lpstr>Wingdings</vt:lpstr>
      <vt:lpstr>MSFT Cloud_Industry Slide Template-16x9</vt:lpstr>
      <vt:lpstr>AI Transformation Initiative</vt:lpstr>
      <vt:lpstr>Welcome to the AI Transformation offer!</vt:lpstr>
      <vt:lpstr>What’s in it for our Partners</vt:lpstr>
      <vt:lpstr>PowerPoint Presentation</vt:lpstr>
      <vt:lpstr>The Program at a Glance</vt:lpstr>
      <vt:lpstr>Customer Value Proposition of AI Transformation offer </vt:lpstr>
      <vt:lpstr>The Market Imperative</vt:lpstr>
      <vt:lpstr>What we see …</vt:lpstr>
      <vt:lpstr>What we’re hearing from our customers</vt:lpstr>
      <vt:lpstr>Customer Situation</vt:lpstr>
      <vt:lpstr>Production AI</vt:lpstr>
      <vt:lpstr>Delivery Options for Partners journey</vt:lpstr>
      <vt:lpstr>Azure Accelerate | AI Transformation offer </vt:lpstr>
      <vt:lpstr>Cross solution AI Transformation initiative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Roman Russev</dc:creator>
  <cp:lastModifiedBy>Melody Yin</cp:lastModifiedBy>
  <cp:revision>2</cp:revision>
  <dcterms:created xsi:type="dcterms:W3CDTF">2025-10-21T10:20:37Z</dcterms:created>
  <dcterms:modified xsi:type="dcterms:W3CDTF">2026-02-27T16:11:39Z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0x010100222D6928B673D14487CA15EC88DA3B99</vt:lpwstr>
  </property>
</Properties>
</file>